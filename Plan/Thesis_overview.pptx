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0" r:id="rId2"/>
    <p:sldId id="279" r:id="rId3"/>
    <p:sldId id="289" r:id="rId4"/>
    <p:sldId id="281" r:id="rId5"/>
    <p:sldId id="282" r:id="rId6"/>
    <p:sldId id="284" r:id="rId7"/>
    <p:sldId id="283" r:id="rId8"/>
    <p:sldId id="285" r:id="rId9"/>
    <p:sldId id="290" r:id="rId10"/>
    <p:sldId id="291" r:id="rId11"/>
    <p:sldId id="292" r:id="rId12"/>
    <p:sldId id="293" r:id="rId13"/>
    <p:sldId id="286" r:id="rId14"/>
    <p:sldId id="287" r:id="rId15"/>
    <p:sldId id="288" r:id="rId16"/>
    <p:sldId id="262" r:id="rId17"/>
    <p:sldId id="261" r:id="rId18"/>
  </p:sldIdLst>
  <p:sldSz cx="9144000" cy="6858000" type="screen4x3"/>
  <p:notesSz cx="6858000" cy="9144000"/>
  <p:defaultTex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55" autoAdjust="0"/>
    <p:restoredTop sz="93254" autoAdjust="0"/>
  </p:normalViewPr>
  <p:slideViewPr>
    <p:cSldViewPr>
      <p:cViewPr>
        <p:scale>
          <a:sx n="66" d="100"/>
          <a:sy n="66" d="100"/>
        </p:scale>
        <p:origin x="-1734" y="-15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92F1A56F-388E-4C39-85FA-A36890357634}" type="datetimeFigureOut">
              <a:rPr lang="en-US"/>
              <a:pPr>
                <a:defRPr/>
              </a:pPr>
              <a:t>1/19/2015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AFDE474E-5F05-4ABC-974E-B954067A8F6F}" type="slidenum">
              <a:rPr lang="en-US"/>
              <a:pPr>
                <a:defRPr/>
              </a:pPr>
              <a:t>‹#›</a:t>
            </a:fld>
            <a:endParaRPr lang="en-US" dirty="0"/>
          </a:p>
        </p:txBody>
      </p:sp>
    </p:spTree>
    <p:extLst>
      <p:ext uri="{BB962C8B-B14F-4D97-AF65-F5344CB8AC3E}">
        <p14:creationId xmlns:p14="http://schemas.microsoft.com/office/powerpoint/2010/main" val="36627986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it-IT" smtClean="0"/>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AC382387-3E42-4AEB-8A24-6F31FDE26860}" type="slidenum">
              <a:rPr lang="en-US" altLang="it-IT" smtClean="0"/>
              <a:pPr eaLnBrk="1" hangingPunct="1">
                <a:spcBef>
                  <a:spcPct val="0"/>
                </a:spcBef>
              </a:pPr>
              <a:t>1</a:t>
            </a:fld>
            <a:endParaRPr lang="en-US" altLang="it-IT"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it-IT" smtClean="0"/>
              <a:t>Investigate the feasibility of using unobtrusive technologies (smartphones, sensor network technology) in order to provide useful and modular patient training and monitoring methodologies that allow to capture physiological information (i.e., heart activity, oxygen saturation, breathing sounds), physical activity, patient data, and environmental context.</a:t>
            </a:r>
          </a:p>
          <a:p>
            <a:endParaRPr lang="en-US" altLang="it-IT" smtClean="0"/>
          </a:p>
          <a:p>
            <a:r>
              <a:rPr lang="en-US" altLang="it-IT" smtClean="0"/>
              <a:t>Signal processing and machine learning methods will be investigated to develop reliable algorithms to derive COPD relevant indicators and trends including patient characteristics, physical state, activity and behavior patterns. The information extracted will be mapped to clinically meaningful metrics of the overall physiologic and functional status of COPD patients. The development of daily routine analysis and automatic segmentation based on physiological information will be used to obtain objective patient's behavioral assessment and new markers of patient's improvements under laboratory (pulmonary rehabilitation) and (if possible) free living conditions. The algorithms will be the basis for risk classification of patients for developing an exacerbation and continuous home coaching and training.</a:t>
            </a:r>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30DE0E56-2AC5-4903-B3BC-D814D2533F19}" type="slidenum">
              <a:rPr lang="en-US" altLang="it-IT" smtClean="0"/>
              <a:pPr eaLnBrk="1" hangingPunct="1">
                <a:spcBef>
                  <a:spcPct val="0"/>
                </a:spcBef>
              </a:pPr>
              <a:t>2</a:t>
            </a:fld>
            <a:endParaRPr lang="en-US" altLang="it-IT"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CF581E97-51E8-45B3-8333-2FD0D273456F}" type="slidenum">
              <a:rPr lang="en-US" altLang="it-IT"/>
              <a:pPr/>
              <a:t>3</a:t>
            </a:fld>
            <a:endParaRPr lang="en-US" altLang="it-IT"/>
          </a:p>
        </p:txBody>
      </p:sp>
      <p:sp>
        <p:nvSpPr>
          <p:cNvPr id="18433" name="Rectangle 1"/>
          <p:cNvSpPr txBox="1">
            <a:spLocks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4" name="Rectangle 2"/>
          <p:cNvSpPr txBox="1">
            <a:spLocks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5</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6</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7</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8</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13</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7"/>
          <p:cNvSpPr>
            <a:spLocks noGrp="1" noChangeArrowheads="1"/>
          </p:cNvSpPr>
          <p:nvPr>
            <p:ph type="sldNum"/>
          </p:nvPr>
        </p:nvSpPr>
        <p:spPr>
          <a:ln/>
        </p:spPr>
        <p:txBody>
          <a:bodyPr/>
          <a:lstStyle/>
          <a:p>
            <a:fld id="{091369A6-9897-4F9D-B0CC-9B53B9D7AAF7}" type="slidenum">
              <a:rPr lang="en-US" altLang="it-IT"/>
              <a:pPr/>
              <a:t>14</a:t>
            </a:fld>
            <a:endParaRPr lang="en-US" altLang="it-IT"/>
          </a:p>
        </p:txBody>
      </p:sp>
      <p:sp>
        <p:nvSpPr>
          <p:cNvPr id="20481" name="Rectangle 1"/>
          <p:cNvSpPr txBox="1">
            <a:spLocks noGrp="1" noRot="1" noChangeAspect="1" noChangeArrowheads="1"/>
          </p:cNvSpPr>
          <p:nvPr>
            <p:ph type="sldImg"/>
          </p:nvPr>
        </p:nvSpPr>
        <p:spPr bwMode="auto">
          <a:xfrm>
            <a:off x="1143000" y="695325"/>
            <a:ext cx="4570413" cy="3427413"/>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512" y="4343230"/>
            <a:ext cx="5486976" cy="4115139"/>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ltLang="it-IT"/>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sp>
        <p:nvSpPr>
          <p:cNvPr id="6" name="Rechteck 10"/>
          <p:cNvSpPr>
            <a:spLocks/>
          </p:cNvSpPr>
          <p:nvPr userDrawn="1">
            <p:custDataLst>
              <p:tags r:id="rId1"/>
            </p:custDataLst>
          </p:nvPr>
        </p:nvSpPr>
        <p:spPr bwMode="auto">
          <a:xfrm>
            <a:off x="233363" y="233363"/>
            <a:ext cx="8685212" cy="5637212"/>
          </a:xfrm>
          <a:custGeom>
            <a:avLst/>
            <a:gdLst>
              <a:gd name="T0" fmla="*/ 0 w 8684843"/>
              <a:gd name="T1" fmla="*/ 5643488 h 5636316"/>
              <a:gd name="T2" fmla="*/ 0 w 8684843"/>
              <a:gd name="T3" fmla="*/ 0 h 5636316"/>
              <a:gd name="T4" fmla="*/ 8687773 w 8684843"/>
              <a:gd name="T5" fmla="*/ 0 h 5636316"/>
              <a:gd name="T6" fmla="*/ 8687773 w 8684843"/>
              <a:gd name="T7" fmla="*/ 4418210 h 5636316"/>
              <a:gd name="T8" fmla="*/ 7089193 w 8684843"/>
              <a:gd name="T9" fmla="*/ 5643488 h 5636316"/>
              <a:gd name="T10" fmla="*/ 0 w 8684843"/>
              <a:gd name="T11" fmla="*/ 5643488 h 5636316"/>
              <a:gd name="T12" fmla="*/ 0 w 8684843"/>
              <a:gd name="T13" fmla="*/ 0 h 563631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684843" h="5636316">
                <a:moveTo>
                  <a:pt x="0" y="5636316"/>
                </a:moveTo>
                <a:lnTo>
                  <a:pt x="0" y="0"/>
                </a:lnTo>
                <a:lnTo>
                  <a:pt x="8684821" y="0"/>
                </a:lnTo>
                <a:lnTo>
                  <a:pt x="8684821" y="4412595"/>
                </a:lnTo>
                <a:cubicBezTo>
                  <a:pt x="8684821" y="4412595"/>
                  <a:pt x="8710016" y="5571530"/>
                  <a:pt x="7086785" y="5636316"/>
                </a:cubicBezTo>
                <a:lnTo>
                  <a:pt x="0" y="5636316"/>
                </a:lnTo>
                <a:lnTo>
                  <a:pt x="0" y="0"/>
                </a:lnTo>
                <a:lnTo>
                  <a:pt x="0" y="5636316"/>
                </a:lnTo>
                <a:close/>
              </a:path>
            </a:pathLst>
          </a:custGeom>
          <a:gradFill rotWithShape="1">
            <a:gsLst>
              <a:gs pos="0">
                <a:srgbClr val="0089C4"/>
              </a:gs>
              <a:gs pos="17999">
                <a:srgbClr val="0089C4"/>
              </a:gs>
              <a:gs pos="100000">
                <a:srgbClr val="629FD5"/>
              </a:gs>
            </a:gsLst>
            <a:lin ang="2100000" scaled="1"/>
          </a:gradFill>
          <a:ln>
            <a:noFill/>
          </a:ln>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Lst>
        </p:spPr>
        <p:txBody>
          <a:bodyPr/>
          <a:lstStyle/>
          <a:p>
            <a:endParaRPr lang="en-US"/>
          </a:p>
        </p:txBody>
      </p:sp>
      <p:pic>
        <p:nvPicPr>
          <p:cNvPr id="7" name="Picture 6"/>
          <p:cNvPicPr>
            <a:picLocks/>
          </p:cNvPicPr>
          <p:nvPr userDrawn="1">
            <p:custDataLst>
              <p:tags r:id="rId2"/>
            </p:custDataLst>
          </p:nvPr>
        </p:nvPicPr>
        <p:blipFill>
          <a:blip r:embed="rId4"/>
          <a:stretch>
            <a:fillRect/>
          </a:stretch>
        </p:blipFill>
        <p:spPr>
          <a:xfrm>
            <a:off x="7110413" y="6329363"/>
            <a:ext cx="1601787" cy="295275"/>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Rectangle 7"/>
          <p:cNvSpPr/>
          <p:nvPr userDrawn="1"/>
        </p:nvSpPr>
        <p:spPr>
          <a:xfrm>
            <a:off x="107950" y="6237288"/>
            <a:ext cx="5759450" cy="5762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a:p>
        </p:txBody>
      </p:sp>
      <p:sp>
        <p:nvSpPr>
          <p:cNvPr id="17"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bg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4" name="Text Placeholder 3"/>
          <p:cNvSpPr>
            <a:spLocks noGrp="1"/>
          </p:cNvSpPr>
          <p:nvPr>
            <p:ph type="body" sz="quarter" idx="11"/>
          </p:nvPr>
        </p:nvSpPr>
        <p:spPr>
          <a:xfrm>
            <a:off x="828000" y="4608000"/>
            <a:ext cx="4320000" cy="252000"/>
          </a:xfrm>
          <a:prstGeom prst="rect">
            <a:avLst/>
          </a:prstGeom>
        </p:spPr>
        <p:txBody>
          <a:bodyPr lIns="0" tIns="0" rIns="0" bIns="0"/>
          <a:lstStyle>
            <a:lvl1pPr marL="0" indent="0">
              <a:spcBef>
                <a:spcPts val="0"/>
              </a:spcBef>
              <a:buFontTx/>
              <a:buNone/>
              <a:defRPr sz="1800" b="1">
                <a:solidFill>
                  <a:schemeClr val="bg1"/>
                </a:solidFill>
              </a:defRPr>
            </a:lvl1pPr>
          </a:lstStyle>
          <a:p>
            <a:pPr lvl="0"/>
            <a:r>
              <a:rPr lang="en-US" smtClean="0"/>
              <a:t>Click to edit Master text styles</a:t>
            </a:r>
          </a:p>
        </p:txBody>
      </p:sp>
      <p:sp>
        <p:nvSpPr>
          <p:cNvPr id="16" name="Text Placeholder 3"/>
          <p:cNvSpPr>
            <a:spLocks noGrp="1"/>
          </p:cNvSpPr>
          <p:nvPr>
            <p:ph type="body" sz="quarter" idx="12"/>
          </p:nvPr>
        </p:nvSpPr>
        <p:spPr>
          <a:xfrm>
            <a:off x="828000" y="4878000"/>
            <a:ext cx="4320000" cy="252000"/>
          </a:xfrm>
          <a:prstGeom prst="rect">
            <a:avLst/>
          </a:prstGeom>
        </p:spPr>
        <p:txBody>
          <a:bodyPr lIns="0" tIns="0" rIns="0" bIns="0"/>
          <a:lstStyle>
            <a:lvl1pPr marL="0" indent="0">
              <a:spcBef>
                <a:spcPts val="0"/>
              </a:spcBef>
              <a:buFontTx/>
              <a:buNone/>
              <a:defRPr sz="1600" b="0">
                <a:solidFill>
                  <a:schemeClr val="bg1"/>
                </a:solidFill>
              </a:defRPr>
            </a:lvl1pPr>
          </a:lstStyle>
          <a:p>
            <a:pPr lvl="0"/>
            <a:r>
              <a:rPr lang="en-US" smtClean="0"/>
              <a:t>Click to edit Master text styles</a:t>
            </a:r>
          </a:p>
        </p:txBody>
      </p:sp>
      <p:sp>
        <p:nvSpPr>
          <p:cNvPr id="18" name="Text Placeholder 3"/>
          <p:cNvSpPr>
            <a:spLocks noGrp="1"/>
          </p:cNvSpPr>
          <p:nvPr>
            <p:ph type="body" sz="quarter" idx="13"/>
          </p:nvPr>
        </p:nvSpPr>
        <p:spPr>
          <a:xfrm>
            <a:off x="828000" y="5148000"/>
            <a:ext cx="4320000" cy="252000"/>
          </a:xfrm>
          <a:prstGeom prst="rect">
            <a:avLst/>
          </a:prstGeom>
        </p:spPr>
        <p:txBody>
          <a:bodyPr lIns="0" tIns="0" rIns="0" bIns="0"/>
          <a:lstStyle>
            <a:lvl1pPr marL="0" marR="0" indent="0" algn="l" defTabSz="914400" rtl="0" eaLnBrk="1" fontAlgn="auto" latinLnBrk="0" hangingPunct="1">
              <a:lnSpc>
                <a:spcPct val="100000"/>
              </a:lnSpc>
              <a:spcBef>
                <a:spcPts val="0"/>
              </a:spcBef>
              <a:spcAft>
                <a:spcPts val="0"/>
              </a:spcAft>
              <a:buClrTx/>
              <a:buSzTx/>
              <a:buFontTx/>
              <a:buNone/>
              <a:tabLst/>
              <a:defRPr sz="1600" b="0">
                <a:solidFill>
                  <a:schemeClr val="bg1"/>
                </a:solidFill>
              </a:defRPr>
            </a:lvl1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494601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ndard text">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3"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4"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5" name="Textplatzhalter 4"/>
          <p:cNvSpPr>
            <a:spLocks noGrp="1"/>
          </p:cNvSpPr>
          <p:nvPr>
            <p:ph type="body" sz="quarter" idx="13"/>
          </p:nvPr>
        </p:nvSpPr>
        <p:spPr>
          <a:xfrm>
            <a:off x="828673" y="2124000"/>
            <a:ext cx="7488000" cy="3960000"/>
          </a:xfrm>
          <a:prstGeom prst="rect">
            <a:avLst/>
          </a:prstGeom>
        </p:spPr>
        <p:txBody>
          <a:bodyPr lIns="0" tIns="0" rIns="0" bIns="0" spcCol="432000"/>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28600">
              <a:spcBef>
                <a:spcPts val="0"/>
              </a:spcBef>
              <a:buFont typeface="Calibri" panose="020F0502020204030204" pitchFamily="34" charset="0"/>
              <a:buChar char="─"/>
              <a:defRPr sz="1800"/>
            </a:lvl5pPr>
            <a:lvl6pPr marL="1296000" indent="-228600">
              <a:spcBef>
                <a:spcPts val="0"/>
              </a:spcBef>
              <a:buFont typeface="Calibri" panose="020F0502020204030204" pitchFamily="34" charset="0"/>
              <a:buChar char="─"/>
              <a:defRPr sz="1800"/>
            </a:lvl6pPr>
            <a:lvl7pPr marL="1512000" indent="-216000">
              <a:spcBef>
                <a:spcPts val="0"/>
              </a:spcBef>
              <a:buFont typeface="Calibri" panose="020F0502020204030204" pitchFamily="34" charset="0"/>
              <a:buChar char="─"/>
              <a:defRPr sz="1800"/>
            </a:lvl7pPr>
            <a:lvl8pPr marL="1728000" indent="-216000">
              <a:spcBef>
                <a:spcPts val="0"/>
              </a:spcBef>
              <a:buFont typeface="Calibri" panose="020F0502020204030204" pitchFamily="34" charset="0"/>
              <a:buChar char="─"/>
              <a:defRPr sz="1800"/>
            </a:lvl8pPr>
            <a:lvl9pPr marL="1944000" indent="-216000">
              <a:spcBef>
                <a:spcPts val="0"/>
              </a:spcBef>
              <a:buFont typeface="Calibri" panose="020F0502020204030204" pitchFamily="34" charset="0"/>
              <a:buChar cha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840666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Vertic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1" y="-1"/>
            <a:ext cx="3487293" cy="6858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13" name="Textplatzhalter 12"/>
          <p:cNvSpPr>
            <a:spLocks noGrp="1"/>
          </p:cNvSpPr>
          <p:nvPr>
            <p:ph type="body" sz="quarter" idx="11"/>
          </p:nvPr>
        </p:nvSpPr>
        <p:spPr>
          <a:xfrm>
            <a:off x="3996000" y="828000"/>
            <a:ext cx="4320000" cy="540006"/>
          </a:xfrm>
          <a:prstGeom prst="rect">
            <a:avLst/>
          </a:prstGeom>
        </p:spPr>
        <p:txBody>
          <a:bodyPr lIns="0" tIns="0" rIns="0" bIns="0"/>
          <a:lstStyle>
            <a:lvl1pPr marL="0" indent="0">
              <a:spcBef>
                <a:spcPts val="0"/>
              </a:spcBef>
              <a:buFontTx/>
              <a:buNone/>
              <a:defRPr/>
            </a:lvl1pPr>
          </a:lstStyle>
          <a:p>
            <a:pPr lvl="0"/>
            <a:r>
              <a:rPr lang="en-US" smtClean="0"/>
              <a:t>Click to edit Master text styles</a:t>
            </a:r>
          </a:p>
        </p:txBody>
      </p:sp>
      <p:sp>
        <p:nvSpPr>
          <p:cNvPr id="3" name="Textplatzhalter 2"/>
          <p:cNvSpPr>
            <a:spLocks noGrp="1"/>
          </p:cNvSpPr>
          <p:nvPr>
            <p:ph type="body" sz="quarter" idx="12"/>
          </p:nvPr>
        </p:nvSpPr>
        <p:spPr>
          <a:xfrm>
            <a:off x="3996000" y="1368000"/>
            <a:ext cx="4320000" cy="414054"/>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4" name="Textplatzhalter 3"/>
          <p:cNvSpPr>
            <a:spLocks noGrp="1"/>
          </p:cNvSpPr>
          <p:nvPr>
            <p:ph type="body" sz="quarter" idx="13"/>
          </p:nvPr>
        </p:nvSpPr>
        <p:spPr>
          <a:xfrm>
            <a:off x="3996000" y="2123999"/>
            <a:ext cx="4320000" cy="3960000"/>
          </a:xfrm>
          <a:prstGeom prst="rect">
            <a:avLst/>
          </a:prstGeom>
        </p:spPr>
        <p:txBody>
          <a:bodyPr/>
          <a:lstStyle>
            <a:lvl1pPr marL="216000" indent="-216000">
              <a:spcBef>
                <a:spcPts val="0"/>
              </a:spcBef>
              <a:defRPr sz="1800"/>
            </a:lvl1pPr>
            <a:lvl2pPr marL="432000" indent="-216000">
              <a:spcBef>
                <a:spcPts val="0"/>
              </a:spcBef>
              <a:defRPr sz="1800"/>
            </a:lvl2pPr>
            <a:lvl3pPr marL="648000" indent="-216000">
              <a:spcBef>
                <a:spcPts val="0"/>
              </a:spcBef>
              <a:buFont typeface="Wingdings" panose="05000000000000000000" pitchFamily="2" charset="2"/>
              <a:buChar char="§"/>
              <a:defRPr sz="1800"/>
            </a:lvl3pPr>
            <a:lvl4pPr marL="864000" indent="-216000">
              <a:spcBef>
                <a:spcPts val="0"/>
              </a:spcBef>
              <a:buFont typeface="Arial" panose="020B0604020202020204" pitchFamily="34" charset="0"/>
              <a:buChar char="•"/>
              <a:defRPr sz="1800"/>
            </a:lvl4pPr>
            <a:lvl5pPr marL="1080000" indent="-216000">
              <a:spcBef>
                <a:spcPts val="0"/>
              </a:spcBef>
              <a:buFont typeface="Calibri" panose="020F0502020204030204" pitchFamily="34" charset="0"/>
              <a:buChar char="─"/>
              <a:defRPr sz="1800"/>
            </a:lvl5pPr>
            <a:lvl6pPr marL="1296000" indent="-216000">
              <a:spcBef>
                <a:spcPts val="0"/>
              </a:spcBef>
              <a:buFont typeface="Calibri" panose="020F0502020204030204" pitchFamily="34" charset="0"/>
              <a:buChar cha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329040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orizontal image">
    <p:spTree>
      <p:nvGrpSpPr>
        <p:cNvPr id="1" name=""/>
        <p:cNvGrpSpPr/>
        <p:nvPr/>
      </p:nvGrpSpPr>
      <p:grpSpPr>
        <a:xfrm>
          <a:off x="0" y="0"/>
          <a:ext cx="0" cy="0"/>
          <a:chOff x="0" y="0"/>
          <a:chExt cx="0" cy="0"/>
        </a:xfrm>
      </p:grpSpPr>
      <p:pic>
        <p:nvPicPr>
          <p:cNvPr id="6" name="Picture 5"/>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8" name="Inhaltsplatzhalter 6"/>
          <p:cNvSpPr>
            <a:spLocks noGrp="1"/>
          </p:cNvSpPr>
          <p:nvPr>
            <p:ph sz="half" idx="2"/>
          </p:nvPr>
        </p:nvSpPr>
        <p:spPr>
          <a:xfrm>
            <a:off x="0" y="2123999"/>
            <a:ext cx="5655945" cy="3960000"/>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solidFill>
                  <a:schemeClr val="tx1"/>
                </a:solidFill>
              </a:defRPr>
            </a:lvl1pPr>
          </a:lstStyle>
          <a:p>
            <a:pPr lvl="0"/>
            <a:r>
              <a:rPr lang="en-US" smtClean="0"/>
              <a:t>Click to edit Master text styles</a:t>
            </a:r>
          </a:p>
        </p:txBody>
      </p:sp>
      <p:sp>
        <p:nvSpPr>
          <p:cNvPr id="7"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2"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9" name="Textplatzhalter 2"/>
          <p:cNvSpPr>
            <a:spLocks noGrp="1"/>
          </p:cNvSpPr>
          <p:nvPr>
            <p:ph type="body" sz="quarter" idx="14"/>
          </p:nvPr>
        </p:nvSpPr>
        <p:spPr>
          <a:xfrm>
            <a:off x="5904000" y="2124000"/>
            <a:ext cx="2412000" cy="3960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3342674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column images">
    <p:spTree>
      <p:nvGrpSpPr>
        <p:cNvPr id="1" name=""/>
        <p:cNvGrpSpPr/>
        <p:nvPr/>
      </p:nvGrpSpPr>
      <p:grpSpPr>
        <a:xfrm>
          <a:off x="0" y="0"/>
          <a:ext cx="0" cy="0"/>
          <a:chOff x="0" y="0"/>
          <a:chExt cx="0" cy="0"/>
        </a:xfrm>
      </p:grpSpPr>
      <p:pic>
        <p:nvPicPr>
          <p:cNvPr id="8" name="Picture 7"/>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10" name="Inhaltsplatzhalter 13"/>
          <p:cNvSpPr>
            <a:spLocks noGrp="1"/>
          </p:cNvSpPr>
          <p:nvPr>
            <p:ph sz="quarter" idx="2"/>
          </p:nvPr>
        </p:nvSpPr>
        <p:spPr>
          <a:xfrm>
            <a:off x="478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2" name="Inhaltsplatzhalter 14"/>
          <p:cNvSpPr>
            <a:spLocks noGrp="1"/>
          </p:cNvSpPr>
          <p:nvPr>
            <p:ph sz="quarter" idx="1"/>
          </p:nvPr>
        </p:nvSpPr>
        <p:spPr>
          <a:xfrm>
            <a:off x="828003" y="2123999"/>
            <a:ext cx="3527997" cy="262799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wrap="square" lIns="0" tIns="0" rIns="0" bIns="0"/>
          <a:lstStyle>
            <a:lvl1pPr marL="0" indent="0">
              <a:buFontTx/>
              <a:buNone/>
              <a:defRPr sz="2200"/>
            </a:lvl1pPr>
          </a:lstStyle>
          <a:p>
            <a:pPr lvl="0"/>
            <a:r>
              <a:rPr lang="en-US" smtClean="0"/>
              <a:t>Click to edit Master text styles</a:t>
            </a:r>
          </a:p>
        </p:txBody>
      </p:sp>
      <p:sp>
        <p:nvSpPr>
          <p:cNvPr id="14" name="Text Placeholder 2"/>
          <p:cNvSpPr>
            <a:spLocks noGrp="1"/>
          </p:cNvSpPr>
          <p:nvPr>
            <p:ph type="body" sz="quarter" idx="10"/>
          </p:nvPr>
        </p:nvSpPr>
        <p:spPr>
          <a:xfrm>
            <a:off x="828000" y="828000"/>
            <a:ext cx="7488000" cy="512768"/>
          </a:xfrm>
          <a:prstGeom prst="rect">
            <a:avLst/>
          </a:prstGeom>
        </p:spPr>
        <p:txBody>
          <a:bodyPr lIns="0" tIns="0" rIns="0" bIns="0"/>
          <a:lstStyle>
            <a:lvl1pPr marL="0" indent="0" algn="l">
              <a:spcBef>
                <a:spcPts val="0"/>
              </a:spcBef>
              <a:buFontTx/>
              <a:buNone/>
              <a:defRPr baseline="0">
                <a:solidFill>
                  <a:schemeClr val="tx1"/>
                </a:solidFill>
              </a:defRPr>
            </a:lvl1pPr>
          </a:lstStyle>
          <a:p>
            <a:pPr lvl="0"/>
            <a:r>
              <a:rPr lang="en-US" smtClean="0"/>
              <a:t>Click to edit Master text styles</a:t>
            </a:r>
          </a:p>
        </p:txBody>
      </p:sp>
      <p:sp>
        <p:nvSpPr>
          <p:cNvPr id="15" name="Textplatzhalter 3"/>
          <p:cNvSpPr>
            <a:spLocks noGrp="1"/>
          </p:cNvSpPr>
          <p:nvPr>
            <p:ph type="body" sz="quarter" idx="12"/>
          </p:nvPr>
        </p:nvSpPr>
        <p:spPr>
          <a:xfrm>
            <a:off x="828000" y="1368000"/>
            <a:ext cx="7488000" cy="374400"/>
          </a:xfrm>
          <a:prstGeom prst="rect">
            <a:avLst/>
          </a:prstGeom>
        </p:spPr>
        <p:txBody>
          <a:bodyPr lIns="0" tIns="0" rIns="0" bIns="0"/>
          <a:lstStyle>
            <a:lvl1pPr marL="0" indent="0">
              <a:spcBef>
                <a:spcPts val="0"/>
              </a:spcBef>
              <a:buFontTx/>
              <a:buNone/>
              <a:defRPr sz="2200"/>
            </a:lvl1pPr>
          </a:lstStyle>
          <a:p>
            <a:pPr lvl="0"/>
            <a:r>
              <a:rPr lang="en-US" smtClean="0"/>
              <a:t>Click to edit Master text styles</a:t>
            </a:r>
          </a:p>
        </p:txBody>
      </p:sp>
      <p:sp>
        <p:nvSpPr>
          <p:cNvPr id="3" name="Textplatzhalter 2"/>
          <p:cNvSpPr>
            <a:spLocks noGrp="1"/>
          </p:cNvSpPr>
          <p:nvPr>
            <p:ph type="body" sz="quarter" idx="13"/>
          </p:nvPr>
        </p:nvSpPr>
        <p:spPr>
          <a:xfrm>
            <a:off x="828674"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
        <p:nvSpPr>
          <p:cNvPr id="9" name="Textplatzhalter 2"/>
          <p:cNvSpPr>
            <a:spLocks noGrp="1"/>
          </p:cNvSpPr>
          <p:nvPr>
            <p:ph type="body" sz="quarter" idx="14"/>
          </p:nvPr>
        </p:nvSpPr>
        <p:spPr>
          <a:xfrm>
            <a:off x="4788000" y="5004000"/>
            <a:ext cx="3528000" cy="1116000"/>
          </a:xfrm>
          <a:prstGeom prst="rect">
            <a:avLst/>
          </a:prstGeom>
        </p:spPr>
        <p:txBody>
          <a:bodyPr lIns="0" tIns="0" rIns="0" bIns="0"/>
          <a:lstStyle>
            <a:lvl1pPr marL="180000" indent="-180000">
              <a:spcBef>
                <a:spcPts val="0"/>
              </a:spcBef>
              <a:defRPr sz="1600" baseline="0"/>
            </a:lvl1pPr>
            <a:lvl2pPr marL="360000" indent="-180000">
              <a:spcBef>
                <a:spcPts val="0"/>
              </a:spcBef>
              <a:defRPr sz="1600"/>
            </a:lvl2pPr>
            <a:lvl3pPr marL="540000" indent="-180000">
              <a:spcBef>
                <a:spcPts val="0"/>
              </a:spcBef>
              <a:buFont typeface="Wingdings" panose="05000000000000000000" pitchFamily="2" charset="2"/>
              <a:buChar char="§"/>
              <a:defRPr sz="1600"/>
            </a:lvl3pPr>
            <a:lvl4pPr marL="720000" indent="-180000" algn="l" defTabSz="914400" rtl="0" eaLnBrk="1" latinLnBrk="0" hangingPunct="1">
              <a:spcBef>
                <a:spcPts val="0"/>
              </a:spcBef>
              <a:buFont typeface="Arial" panose="020B0604020202020204" pitchFamily="34" charset="0"/>
              <a:buChar char="•"/>
              <a:defRPr lang="de-DE" sz="1600" kern="1200" dirty="0" smtClean="0">
                <a:solidFill>
                  <a:schemeClr val="tx1"/>
                </a:solidFill>
                <a:latin typeface="+mn-lt"/>
                <a:ea typeface="+mn-ea"/>
                <a:cs typeface="+mn-cs"/>
              </a:defRPr>
            </a:lvl4pPr>
            <a:lvl5pPr marL="900000" indent="-180000">
              <a:spcBef>
                <a:spcPts val="0"/>
              </a:spcBef>
              <a:buFont typeface="Calibri" panose="020F0502020204030204" pitchFamily="34" charset="0"/>
              <a:buChar char="─"/>
              <a:defRPr sz="1600"/>
            </a:lvl5pPr>
            <a:lvl6pPr marL="360000" indent="-180000">
              <a:spcBef>
                <a:spcPts val="0"/>
              </a:spcBef>
              <a:buFont typeface="Calibri" panose="020F0502020204030204" pitchFamily="34" charset="0"/>
              <a:buChar char="─"/>
              <a:defRPr sz="1600"/>
            </a:lvl6pPr>
            <a:lvl7pPr marL="360000" indent="-180000">
              <a:spcBef>
                <a:spcPts val="0"/>
              </a:spcBef>
              <a:buFont typeface="Calibri" panose="020F0502020204030204" pitchFamily="34" charset="0"/>
              <a:buChar char="─"/>
              <a:defRPr sz="1600"/>
            </a:lvl7pPr>
            <a:lvl8pPr marL="360000" indent="-180000">
              <a:spcBef>
                <a:spcPts val="0"/>
              </a:spcBef>
              <a:buFont typeface="Calibri" panose="020F0502020204030204" pitchFamily="34" charset="0"/>
              <a:buChar char="─"/>
              <a:defRPr sz="1600"/>
            </a:lvl8pPr>
            <a:lvl9pPr marL="360000" indent="-180000">
              <a:spcBef>
                <a:spcPts val="0"/>
              </a:spcBef>
              <a:buFont typeface="Calibri" panose="020F0502020204030204" pitchFamily="34" charset="0"/>
              <a:buChar cha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dirty="0" smtClean="0"/>
          </a:p>
        </p:txBody>
      </p:sp>
    </p:spTree>
    <p:extLst>
      <p:ext uri="{BB962C8B-B14F-4D97-AF65-F5344CB8AC3E}">
        <p14:creationId xmlns:p14="http://schemas.microsoft.com/office/powerpoint/2010/main" val="4231921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white">
    <p:spTree>
      <p:nvGrpSpPr>
        <p:cNvPr id="1" name=""/>
        <p:cNvGrpSpPr/>
        <p:nvPr/>
      </p:nvGrpSpPr>
      <p:grpSpPr>
        <a:xfrm>
          <a:off x="0" y="0"/>
          <a:ext cx="0" cy="0"/>
          <a:chOff x="0" y="0"/>
          <a:chExt cx="0" cy="0"/>
        </a:xfrm>
      </p:grpSpPr>
      <p:pic>
        <p:nvPicPr>
          <p:cNvPr id="5" name="Picture 4"/>
          <p:cNvPicPr>
            <a:picLocks/>
          </p:cNvPicPr>
          <p:nvPr userDrawn="1">
            <p:custDataLst>
              <p:tags r:id="rId1"/>
            </p:custDataLst>
          </p:nvPr>
        </p:nvPicPr>
        <p:blipFill>
          <a:blip r:embed="rId3"/>
          <a:stretch>
            <a:fillRect/>
          </a:stretch>
        </p:blipFill>
        <p:spPr>
          <a:xfrm>
            <a:off x="7632700" y="6426200"/>
            <a:ext cx="1079500" cy="198438"/>
          </a:xfrm>
          <a:prstGeom prst="rect">
            <a:avLst/>
          </a:prstGeom>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pic>
      <p:sp>
        <p:nvSpPr>
          <p:cNvPr id="4" name="Text Placeholder 3"/>
          <p:cNvSpPr>
            <a:spLocks noGrp="1"/>
          </p:cNvSpPr>
          <p:nvPr>
            <p:ph type="body" sz="quarter" idx="10"/>
          </p:nvPr>
        </p:nvSpPr>
        <p:spPr>
          <a:xfrm>
            <a:off x="828674" y="2052000"/>
            <a:ext cx="7488000" cy="1620000"/>
          </a:xfrm>
          <a:prstGeom prst="rect">
            <a:avLst/>
          </a:prstGeom>
        </p:spPr>
        <p:txBody>
          <a:bodyPr lIns="0" tIns="0" rIns="0" bIns="0"/>
          <a:lstStyle>
            <a:lvl1pPr marL="0" indent="0" algn="l">
              <a:spcBef>
                <a:spcPts val="0"/>
              </a:spcBef>
              <a:buFontTx/>
              <a:buNone/>
              <a:defRPr sz="4800">
                <a:solidFill>
                  <a:schemeClr val="tx1"/>
                </a:solidFill>
              </a:defRPr>
            </a:lvl1pPr>
            <a:lvl2pPr>
              <a:defRPr sz="4800"/>
            </a:lvl2pPr>
            <a:lvl3pPr>
              <a:defRPr sz="4800"/>
            </a:lvl3pPr>
            <a:lvl4pPr>
              <a:defRPr sz="4800"/>
            </a:lvl4pPr>
            <a:lvl5pPr>
              <a:defRPr sz="4800"/>
            </a:lvl5pPr>
          </a:lstStyle>
          <a:p>
            <a:pPr lvl="0"/>
            <a:r>
              <a:rPr lang="en-US" smtClean="0"/>
              <a:t>Click to edit Master text styles</a:t>
            </a:r>
          </a:p>
        </p:txBody>
      </p:sp>
      <p:sp>
        <p:nvSpPr>
          <p:cNvPr id="6" name="Text Placeholder 5"/>
          <p:cNvSpPr>
            <a:spLocks noGrp="1"/>
          </p:cNvSpPr>
          <p:nvPr>
            <p:ph type="body" sz="quarter" idx="11"/>
          </p:nvPr>
        </p:nvSpPr>
        <p:spPr>
          <a:xfrm>
            <a:off x="828675" y="1368000"/>
            <a:ext cx="7488238" cy="404816"/>
          </a:xfrm>
          <a:prstGeom prst="rect">
            <a:avLst/>
          </a:prstGeom>
        </p:spPr>
        <p:txBody>
          <a:bodyPr lIns="0" tIns="0" rIns="0" bIns="0"/>
          <a:lstStyle>
            <a:lvl1pPr marL="0" indent="0">
              <a:spcBef>
                <a:spcPts val="0"/>
              </a:spcBef>
              <a:buFontTx/>
              <a:buNone/>
              <a:defRPr sz="2000">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184845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2" name="Freeform 3"/>
          <p:cNvSpPr>
            <a:spLocks/>
          </p:cNvSpPr>
          <p:nvPr userDrawn="1">
            <p:custDataLst>
              <p:tags r:id="rId1"/>
            </p:custDataLst>
          </p:nvPr>
        </p:nvSpPr>
        <p:spPr bwMode="auto">
          <a:xfrm>
            <a:off x="0" y="0"/>
            <a:ext cx="9144000" cy="6858000"/>
          </a:xfrm>
          <a:custGeom>
            <a:avLst/>
            <a:gdLst>
              <a:gd name="T0" fmla="*/ 0 w 9144001"/>
              <a:gd name="T1" fmla="*/ 0 h 6858001"/>
              <a:gd name="T2" fmla="*/ 9143992 w 9144001"/>
              <a:gd name="T3" fmla="*/ 0 h 6858001"/>
              <a:gd name="T4" fmla="*/ 9143992 w 9144001"/>
              <a:gd name="T5" fmla="*/ 6857992 h 6858001"/>
              <a:gd name="T6" fmla="*/ 9143992 w 9144001"/>
              <a:gd name="T7" fmla="*/ 6857992 h 6858001"/>
              <a:gd name="T8" fmla="*/ 0 w 9144001"/>
              <a:gd name="T9" fmla="*/ 6857992 h 6858001"/>
              <a:gd name="T10" fmla="*/ 0 w 9144001"/>
              <a:gd name="T11" fmla="*/ 0 h 6858001"/>
              <a:gd name="T12" fmla="*/ 0 60000 65536"/>
              <a:gd name="T13" fmla="*/ 0 60000 65536"/>
              <a:gd name="T14" fmla="*/ 0 60000 65536"/>
              <a:gd name="T15" fmla="*/ 0 60000 65536"/>
              <a:gd name="T16" fmla="*/ 0 60000 65536"/>
              <a:gd name="T17" fmla="*/ 0 60000 65536"/>
              <a:gd name="T18" fmla="*/ 0 w 9144001"/>
              <a:gd name="T19" fmla="*/ 0 h 6858001"/>
              <a:gd name="T20" fmla="*/ 9144001 w 9144001"/>
              <a:gd name="T21" fmla="*/ 6858001 h 6858001"/>
            </a:gdLst>
            <a:ahLst/>
            <a:cxnLst>
              <a:cxn ang="T12">
                <a:pos x="T0" y="T1"/>
              </a:cxn>
              <a:cxn ang="T13">
                <a:pos x="T2" y="T3"/>
              </a:cxn>
              <a:cxn ang="T14">
                <a:pos x="T4" y="T5"/>
              </a:cxn>
              <a:cxn ang="T15">
                <a:pos x="T6" y="T7"/>
              </a:cxn>
              <a:cxn ang="T16">
                <a:pos x="T8" y="T9"/>
              </a:cxn>
              <a:cxn ang="T17">
                <a:pos x="T10" y="T11"/>
              </a:cxn>
            </a:cxnLst>
            <a:rect l="T18" t="T19" r="T20" b="T21"/>
            <a:pathLst>
              <a:path w="9144001" h="6858001">
                <a:moveTo>
                  <a:pt x="0" y="0"/>
                </a:moveTo>
                <a:lnTo>
                  <a:pt x="9144000" y="0"/>
                </a:lnTo>
                <a:lnTo>
                  <a:pt x="9144000" y="6858000"/>
                </a:lnTo>
                <a:lnTo>
                  <a:pt x="0" y="6858000"/>
                </a:lnTo>
                <a:lnTo>
                  <a:pt x="0" y="0"/>
                </a:lnTo>
                <a:close/>
              </a:path>
            </a:pathLst>
          </a:custGeom>
          <a:solidFill>
            <a:schemeClr val="bg1"/>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pic>
        <p:nvPicPr>
          <p:cNvPr id="3" name="Picture 6"/>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41763" y="2627313"/>
            <a:ext cx="1260475"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6351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6481" y="273629"/>
            <a:ext cx="8226720" cy="1143480"/>
          </a:xfrm>
          <a:prstGeom prst="rect">
            <a:avLst/>
          </a:prstGeom>
        </p:spPr>
        <p:txBody>
          <a:bodyPr lIns="82945" tIns="41473" rIns="82945" bIns="41473"/>
          <a:lstStyle/>
          <a:p>
            <a:r>
              <a:rPr lang="en-US" smtClean="0"/>
              <a:t>Click to edit Master title style</a:t>
            </a:r>
            <a:endParaRPr lang="it-IT"/>
          </a:p>
        </p:txBody>
      </p:sp>
      <p:sp>
        <p:nvSpPr>
          <p:cNvPr id="3" name="Content Placeholder 2"/>
          <p:cNvSpPr>
            <a:spLocks noGrp="1"/>
          </p:cNvSpPr>
          <p:nvPr>
            <p:ph idx="1"/>
          </p:nvPr>
        </p:nvSpPr>
        <p:spPr>
          <a:xfrm>
            <a:off x="456481" y="1604328"/>
            <a:ext cx="8226720" cy="3976258"/>
          </a:xfrm>
          <a:prstGeom prst="rect">
            <a:avLst/>
          </a:prstGeom>
        </p:spPr>
        <p:txBody>
          <a:bodyPr lIns="82945" tIns="41473" rIns="82945" bIns="41473"/>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t-IT"/>
          </a:p>
        </p:txBody>
      </p:sp>
      <p:sp>
        <p:nvSpPr>
          <p:cNvPr id="4" name="Date Placeholder 3"/>
          <p:cNvSpPr>
            <a:spLocks noGrp="1"/>
          </p:cNvSpPr>
          <p:nvPr>
            <p:ph type="dt" idx="10"/>
          </p:nvPr>
        </p:nvSpPr>
        <p:spPr>
          <a:xfrm>
            <a:off x="456481" y="6247376"/>
            <a:ext cx="2128320" cy="470930"/>
          </a:xfrm>
          <a:prstGeom prst="rect">
            <a:avLst/>
          </a:prstGeom>
        </p:spPr>
        <p:txBody>
          <a:bodyPr lIns="82945" tIns="41473" rIns="82945" bIns="41473"/>
          <a:lstStyle>
            <a:lvl1pPr>
              <a:defRPr/>
            </a:lvl1pPr>
          </a:lstStyle>
          <a:p>
            <a:endParaRPr lang="en-US" altLang="it-IT"/>
          </a:p>
        </p:txBody>
      </p:sp>
      <p:sp>
        <p:nvSpPr>
          <p:cNvPr id="5" name="Footer Placeholder 4"/>
          <p:cNvSpPr>
            <a:spLocks noGrp="1"/>
          </p:cNvSpPr>
          <p:nvPr>
            <p:ph type="ftr" idx="11"/>
          </p:nvPr>
        </p:nvSpPr>
        <p:spPr>
          <a:xfrm>
            <a:off x="3127680" y="6247376"/>
            <a:ext cx="2897280" cy="470930"/>
          </a:xfrm>
          <a:prstGeom prst="rect">
            <a:avLst/>
          </a:prstGeom>
        </p:spPr>
        <p:txBody>
          <a:bodyPr lIns="82945" tIns="41473" rIns="82945" bIns="41473"/>
          <a:lstStyle>
            <a:lvl1pPr>
              <a:defRPr/>
            </a:lvl1pPr>
          </a:lstStyle>
          <a:p>
            <a:endParaRPr lang="en-US" altLang="it-IT"/>
          </a:p>
        </p:txBody>
      </p:sp>
      <p:sp>
        <p:nvSpPr>
          <p:cNvPr id="6" name="Slide Number Placeholder 5"/>
          <p:cNvSpPr>
            <a:spLocks noGrp="1"/>
          </p:cNvSpPr>
          <p:nvPr>
            <p:ph type="sldNum" idx="12"/>
          </p:nvPr>
        </p:nvSpPr>
        <p:spPr>
          <a:xfrm>
            <a:off x="6556321" y="6247376"/>
            <a:ext cx="2128320" cy="470930"/>
          </a:xfrm>
          <a:prstGeom prst="rect">
            <a:avLst/>
          </a:prstGeom>
        </p:spPr>
        <p:txBody>
          <a:bodyPr lIns="82945" tIns="41473" rIns="82945" bIns="41473"/>
          <a:lstStyle>
            <a:lvl1pPr>
              <a:defRPr/>
            </a:lvl1pPr>
          </a:lstStyle>
          <a:p>
            <a:fld id="{E1844D8F-A47E-4BDD-8D90-1A4ACB5CD981}" type="slidenum">
              <a:rPr lang="en-US" altLang="it-IT"/>
              <a:pPr/>
              <a:t>‹#›</a:t>
            </a:fld>
            <a:endParaRPr lang="en-US" altLang="it-IT"/>
          </a:p>
        </p:txBody>
      </p:sp>
    </p:spTree>
    <p:extLst>
      <p:ext uri="{BB962C8B-B14F-4D97-AF65-F5344CB8AC3E}">
        <p14:creationId xmlns:p14="http://schemas.microsoft.com/office/powerpoint/2010/main" val="2354755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a:spLocks/>
          </p:cNvSpPr>
          <p:nvPr>
            <p:custDataLst>
              <p:tags r:id="rId10"/>
            </p:custDataLst>
          </p:nvPr>
        </p:nvSpPr>
        <p:spPr>
          <a:xfrm>
            <a:off x="828675" y="6502400"/>
            <a:ext cx="4535488" cy="13970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r>
              <a:rPr lang="en-US" sz="900" dirty="0">
                <a:solidFill>
                  <a:srgbClr val="000000"/>
                </a:solidFill>
                <a:latin typeface="Calibri"/>
                <a:cs typeface="+mn-cs"/>
              </a:rPr>
              <a:t>November 01, 2013      _Sector      Confidential</a:t>
            </a:r>
          </a:p>
        </p:txBody>
      </p:sp>
      <p:sp>
        <p:nvSpPr>
          <p:cNvPr id="3" name="TextBox 6"/>
          <p:cNvSpPr txBox="1">
            <a:spLocks/>
          </p:cNvSpPr>
          <p:nvPr>
            <p:custDataLst>
              <p:tags r:id="rId11"/>
            </p:custDataLst>
          </p:nvPr>
        </p:nvSpPr>
        <p:spPr>
          <a:xfrm>
            <a:off x="234950" y="6464300"/>
            <a:ext cx="508000" cy="184150"/>
          </a:xfrm>
          <a:prstGeom prst="rect">
            <a:avLst/>
          </a:prstGeom>
          <a:noFill/>
          <a:ln w="0">
            <a:noFill/>
          </a:ln>
          <a:effectLst/>
          <a:extLst>
            <a:ext uri="{91240B29-F687-4F45-9708-019B960494DF}">
              <a14:hiddenLine xmlns:a14="http://schemas.microsoft.com/office/drawing/2010/main" w="0">
                <a:solidFill>
                  <a:schemeClr val="tx1"/>
                </a:solidFill>
              </a14:hiddenLine>
            </a:ext>
            <a:ext uri="{AF507438-7753-43E0-B8FC-AC1667EBCBE1}">
              <a14:hiddenEffects xmlns:a14="http://schemas.microsoft.com/office/drawing/2010/main">
                <a:effectLst>
                  <a:outerShdw blurRad="63500" rotWithShape="0">
                    <a:scrgbClr r="0" g="0" b="0"/>
                  </a:outerShdw>
                </a:effectLst>
              </a14:hiddenEffects>
            </a:ext>
            <a:ext uri="{53640926-AAD7-44D8-BBD7-CCE9431645EC}">
              <a14:shadowObscured xmlns:a14="http://schemas.microsoft.com/office/drawing/2010/main"/>
            </a:ext>
          </a:extLst>
        </p:spPr>
        <p:txBody>
          <a:bodyPr lIns="0" tIns="0" rIns="0" bIns="0"/>
          <a:lstStyle/>
          <a:p>
            <a:pPr fontAlgn="auto">
              <a:spcBef>
                <a:spcPts val="0"/>
              </a:spcBef>
              <a:spcAft>
                <a:spcPts val="0"/>
              </a:spcAft>
              <a:defRPr/>
            </a:pPr>
            <a:fld id="{7B32DDD5-3E93-4470-B41D-A15CB9C9A3DB}" type="slidenum">
              <a:rPr lang="de-DE" sz="1200">
                <a:latin typeface="+mn-lt"/>
                <a:cs typeface="+mn-cs"/>
              </a:rPr>
              <a:pPr fontAlgn="auto">
                <a:spcBef>
                  <a:spcPts val="0"/>
                </a:spcBef>
                <a:spcAft>
                  <a:spcPts val="0"/>
                </a:spcAft>
                <a:defRPr/>
              </a:pPr>
              <a:t>‹#›</a:t>
            </a:fld>
            <a:endParaRPr lang="en-US" sz="1200" dirty="0">
              <a:latin typeface="Calibri"/>
              <a:cs typeface="+mn-cs"/>
            </a:endParaRPr>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8.gif"/><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12.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8" Type="http://schemas.openxmlformats.org/officeDocument/2006/relationships/image" Target="../media/image110.png"/><Relationship Id="rId13" Type="http://schemas.openxmlformats.org/officeDocument/2006/relationships/image" Target="../media/image160.png"/><Relationship Id="rId7" Type="http://schemas.openxmlformats.org/officeDocument/2006/relationships/image" Target="../media/image100.png"/><Relationship Id="rId1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90.png"/><Relationship Id="rId11" Type="http://schemas.openxmlformats.org/officeDocument/2006/relationships/image" Target="../media/image140.png"/><Relationship Id="rId5" Type="http://schemas.openxmlformats.org/officeDocument/2006/relationships/image" Target="../media/image80.png"/><Relationship Id="rId15" Type="http://schemas.openxmlformats.org/officeDocument/2006/relationships/image" Target="../media/image17.jpeg"/><Relationship Id="rId10" Type="http://schemas.openxmlformats.org/officeDocument/2006/relationships/image" Target="../media/image13.png"/><Relationship Id="rId9" Type="http://schemas.openxmlformats.org/officeDocument/2006/relationships/image" Target="../media/image120.png"/><Relationship Id="rId1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jpe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vmlDrawing" Target="../drawings/vmlDrawing1.vml"/><Relationship Id="rId5" Type="http://schemas.openxmlformats.org/officeDocument/2006/relationships/image" Target="../media/image26.emf"/><Relationship Id="rId4" Type="http://schemas.openxmlformats.org/officeDocument/2006/relationships/package" Target="../embeddings/Microsoft_Excel_Worksheet1.xlsx"/></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platzhalter 1"/>
          <p:cNvSpPr>
            <a:spLocks noGrp="1"/>
          </p:cNvSpPr>
          <p:nvPr>
            <p:ph type="body" sz="quarter" idx="10"/>
          </p:nvPr>
        </p:nvSpPr>
        <p:spPr bwMode="auto">
          <a:xfrm>
            <a:off x="828675" y="1143000"/>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buClr>
                <a:srgbClr val="000000"/>
              </a:buClr>
              <a:buSzPct val="100000"/>
              <a:defRPr/>
            </a:pPr>
            <a:r>
              <a:rPr lang="en-US" b="1" dirty="0" smtClean="0">
                <a:solidFill>
                  <a:srgbClr val="FFFFFF"/>
                </a:solidFill>
                <a:effectLst>
                  <a:outerShdw blurRad="38100" dist="38100" dir="2700000" algn="tl">
                    <a:srgbClr val="000000"/>
                  </a:outerShdw>
                </a:effectLst>
              </a:rPr>
              <a:t>Thesis overview</a:t>
            </a:r>
            <a:endParaRPr lang="en-US" sz="3200" b="1" dirty="0">
              <a:solidFill>
                <a:srgbClr val="FFFFFF"/>
              </a:solidFill>
              <a:effectLst>
                <a:outerShdw blurRad="38100" dist="38100" dir="2700000" algn="tl">
                  <a:srgbClr val="000000"/>
                </a:outerShdw>
              </a:effectLst>
            </a:endParaRPr>
          </a:p>
        </p:txBody>
      </p:sp>
      <p:sp>
        <p:nvSpPr>
          <p:cNvPr id="9219" name="Textplatzhalter 2"/>
          <p:cNvSpPr>
            <a:spLocks noGrp="1"/>
          </p:cNvSpPr>
          <p:nvPr>
            <p:ph type="body" sz="quarter" idx="11"/>
          </p:nvPr>
        </p:nvSpPr>
        <p:spPr bwMode="auto">
          <a:xfrm>
            <a:off x="828675" y="4608513"/>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dirty="0" smtClean="0"/>
              <a:t>Gabriele Spina</a:t>
            </a:r>
          </a:p>
        </p:txBody>
      </p:sp>
      <p:sp>
        <p:nvSpPr>
          <p:cNvPr id="9220" name="Textplatzhalter 3"/>
          <p:cNvSpPr>
            <a:spLocks noGrp="1"/>
          </p:cNvSpPr>
          <p:nvPr>
            <p:ph type="body" sz="quarter" idx="12"/>
          </p:nvPr>
        </p:nvSpPr>
        <p:spPr bwMode="auto">
          <a:xfrm>
            <a:off x="828675" y="4878388"/>
            <a:ext cx="4319588" cy="250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r>
              <a:rPr lang="en-US" altLang="en-US" dirty="0" smtClean="0"/>
              <a:t>Ph.D. student, TU/e – Philips</a:t>
            </a:r>
          </a:p>
          <a:p>
            <a:pPr eaLnBrk="1" hangingPunct="1">
              <a:spcBef>
                <a:spcPct val="0"/>
              </a:spcBef>
            </a:pPr>
            <a:r>
              <a:rPr lang="en-US" altLang="en-US" dirty="0" smtClean="0"/>
              <a:t>Bert den Brinker, Philips</a:t>
            </a:r>
          </a:p>
        </p:txBody>
      </p:sp>
      <p:sp>
        <p:nvSpPr>
          <p:cNvPr id="9221" name="Textplatzhalter 4"/>
          <p:cNvSpPr>
            <a:spLocks noGrp="1"/>
          </p:cNvSpPr>
          <p:nvPr>
            <p:ph type="body" sz="quarter" idx="13"/>
          </p:nvPr>
        </p:nvSpPr>
        <p:spPr bwMode="auto">
          <a:xfrm>
            <a:off x="838200" y="5562600"/>
            <a:ext cx="4319588" cy="252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fontAlgn="base">
              <a:spcBef>
                <a:spcPct val="0"/>
              </a:spcBef>
              <a:spcAft>
                <a:spcPct val="0"/>
              </a:spcAft>
            </a:pPr>
            <a:r>
              <a:rPr lang="en-US" altLang="en-US" dirty="0" smtClean="0"/>
              <a:t>19 January 2015</a:t>
            </a:r>
          </a:p>
        </p:txBody>
      </p:sp>
      <p:pic>
        <p:nvPicPr>
          <p:cNvPr id="9222"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7400" y="6210300"/>
            <a:ext cx="990600" cy="4953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platzhalter 3_"/>
          <p:cNvSpPr txBox="1">
            <a:spLocks/>
          </p:cNvSpPr>
          <p:nvPr/>
        </p:nvSpPr>
        <p:spPr bwMode="auto">
          <a:xfrm>
            <a:off x="5867400" y="4778375"/>
            <a:ext cx="4319588" cy="250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0" fontAlgn="base" hangingPunct="0">
              <a:spcBef>
                <a:spcPts val="0"/>
              </a:spcBef>
              <a:spcAft>
                <a:spcPct val="0"/>
              </a:spcAft>
              <a:buFontTx/>
              <a:buNone/>
              <a:defRPr sz="1600" b="0" kern="1200">
                <a:solidFill>
                  <a:schemeClr val="bg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spcBef>
                <a:spcPct val="0"/>
              </a:spcBef>
            </a:pPr>
            <a:r>
              <a:rPr lang="en-US" altLang="en-US" dirty="0" smtClean="0"/>
              <a:t>g.spina@tue.nl</a:t>
            </a:r>
          </a:p>
          <a:p>
            <a:pPr eaLnBrk="1" hangingPunct="1">
              <a:spcBef>
                <a:spcPct val="0"/>
              </a:spcBef>
            </a:pPr>
            <a:r>
              <a:rPr lang="en-US" altLang="en-US" dirty="0" smtClean="0"/>
              <a:t>gabriele.spina@philips.com</a:t>
            </a:r>
          </a:p>
        </p:txBody>
      </p:sp>
    </p:spTree>
    <p:extLst>
      <p:ext uri="{BB962C8B-B14F-4D97-AF65-F5344CB8AC3E}">
        <p14:creationId xmlns:p14="http://schemas.microsoft.com/office/powerpoint/2010/main" val="31163152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Placeholder 1"/>
          <p:cNvSpPr>
            <a:spLocks noGrp="1"/>
          </p:cNvSpPr>
          <p:nvPr>
            <p:ph type="body" sz="quarter" idx="10"/>
          </p:nvPr>
        </p:nvSpPr>
        <p:spPr bwMode="auto">
          <a:xfrm>
            <a:off x="828675" y="828675"/>
            <a:ext cx="7486650" cy="5127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dirty="0" smtClean="0"/>
              <a:t>Ph.D. </a:t>
            </a:r>
            <a:r>
              <a:rPr lang="en-US" altLang="it-IT" dirty="0" smtClean="0"/>
              <a:t>in Electrical Engineering overview </a:t>
            </a:r>
            <a:endParaRPr lang="en-US" altLang="it-IT" dirty="0" smtClean="0"/>
          </a:p>
        </p:txBody>
      </p:sp>
      <p:sp>
        <p:nvSpPr>
          <p:cNvPr id="10243" name="Text Placeholder 2"/>
          <p:cNvSpPr>
            <a:spLocks noGrp="1"/>
          </p:cNvSpPr>
          <p:nvPr>
            <p:ph type="body" sz="quarter" idx="12"/>
          </p:nvPr>
        </p:nvSpPr>
        <p:spPr bwMode="auto">
          <a:xfrm>
            <a:off x="828675" y="1368425"/>
            <a:ext cx="7486650" cy="3746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a:spcBef>
                <a:spcPct val="0"/>
              </a:spcBef>
            </a:pPr>
            <a:r>
              <a:rPr lang="en-US" altLang="it-IT" b="1" i="1" dirty="0" smtClean="0"/>
              <a:t>Patient monitoring strategies in Chronic Obstructive Pulmonary Disease (COPD) patients</a:t>
            </a:r>
            <a:endParaRPr lang="en-US" altLang="it-IT" dirty="0" smtClean="0"/>
          </a:p>
        </p:txBody>
      </p:sp>
      <p:sp>
        <p:nvSpPr>
          <p:cNvPr id="4" name="Text Placeholder 3"/>
          <p:cNvSpPr>
            <a:spLocks noGrp="1"/>
          </p:cNvSpPr>
          <p:nvPr>
            <p:ph type="body" sz="quarter" idx="13"/>
          </p:nvPr>
        </p:nvSpPr>
        <p:spPr>
          <a:xfrm>
            <a:off x="828675" y="2657475"/>
            <a:ext cx="7488238" cy="1076325"/>
          </a:xfrm>
        </p:spPr>
        <p:txBody>
          <a:bodyPr/>
          <a:lstStyle/>
          <a:p>
            <a:pPr marL="0" indent="0" algn="ctr">
              <a:buFont typeface="Arial" charset="0"/>
              <a:buNone/>
              <a:defRPr/>
            </a:pPr>
            <a:r>
              <a:rPr lang="en-US" dirty="0" smtClean="0"/>
              <a:t>Unobtrusive </a:t>
            </a:r>
            <a:r>
              <a:rPr lang="en-US" dirty="0" smtClean="0">
                <a:solidFill>
                  <a:schemeClr val="accent5"/>
                </a:solidFill>
              </a:rPr>
              <a:t>technologies</a:t>
            </a:r>
            <a:r>
              <a:rPr lang="en-US" dirty="0" smtClean="0"/>
              <a:t>, signal </a:t>
            </a:r>
            <a:r>
              <a:rPr lang="en-US" dirty="0"/>
              <a:t>processing and machine learning </a:t>
            </a:r>
            <a:r>
              <a:rPr lang="en-US" dirty="0" smtClean="0">
                <a:solidFill>
                  <a:schemeClr val="accent5"/>
                </a:solidFill>
              </a:rPr>
              <a:t>algorithms</a:t>
            </a:r>
            <a:r>
              <a:rPr lang="en-US" dirty="0" smtClean="0"/>
              <a:t> for modular </a:t>
            </a:r>
            <a:r>
              <a:rPr lang="en-US" dirty="0" smtClean="0">
                <a:solidFill>
                  <a:schemeClr val="accent5"/>
                </a:solidFill>
              </a:rPr>
              <a:t>patient training </a:t>
            </a:r>
            <a:r>
              <a:rPr lang="en-US" dirty="0" smtClean="0"/>
              <a:t>and </a:t>
            </a:r>
            <a:r>
              <a:rPr lang="en-US" dirty="0" smtClean="0">
                <a:solidFill>
                  <a:schemeClr val="accent5"/>
                </a:solidFill>
              </a:rPr>
              <a:t>monitoring</a:t>
            </a:r>
            <a:r>
              <a:rPr lang="en-US" dirty="0" smtClean="0"/>
              <a:t> systems</a:t>
            </a:r>
          </a:p>
        </p:txBody>
      </p:sp>
    </p:spTree>
    <p:extLst>
      <p:ext uri="{BB962C8B-B14F-4D97-AF65-F5344CB8AC3E}">
        <p14:creationId xmlns:p14="http://schemas.microsoft.com/office/powerpoint/2010/main" val="349638872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PhD project</a:t>
            </a:r>
          </a:p>
        </p:txBody>
      </p:sp>
      <p:sp>
        <p:nvSpPr>
          <p:cNvPr id="6146" name="Rectangle 2"/>
          <p:cNvSpPr>
            <a:spLocks noGrp="1" noChangeArrowheads="1"/>
          </p:cNvSpPr>
          <p:nvPr>
            <p:ph type="body" idx="4294967295"/>
          </p:nvPr>
        </p:nvSpPr>
        <p:spPr>
          <a:xfrm>
            <a:off x="456481" y="1604328"/>
            <a:ext cx="8228160" cy="4454388"/>
          </a:xfrm>
          <a:prstGeom prst="rect">
            <a:avLst/>
          </a:prstGeom>
          <a:ln/>
        </p:spPr>
        <p:txBody>
          <a:bodyPr lIns="82945" tIns="41473" rIns="82945" bIns="41473"/>
          <a:lstStyle/>
          <a:p>
            <a:pPr marL="391686"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ICare4COPD</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Start: January 2011 </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End: December 2013 (December 2014 extended)</a:t>
            </a:r>
          </a:p>
          <a:p>
            <a:pPr marL="783372" lvl="1" indent="-293764">
              <a:buSzPct val="45000"/>
              <a:buNone/>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endParaRPr lang="en-US" altLang="it-IT" dirty="0"/>
          </a:p>
          <a:p>
            <a:pPr marL="391686"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Partners</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TU/e</a:t>
            </a:r>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smtClean="0"/>
              <a:t>Philips</a:t>
            </a:r>
            <a:endParaRPr lang="en-US" altLang="it-IT" dirty="0"/>
          </a:p>
          <a:p>
            <a:pPr marL="783372" lvl="1" indent="-293764">
              <a:buSzPct val="45000"/>
              <a:buFont typeface="Wingdings" charset="2"/>
              <a:buChar cha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dirty="0"/>
              <a:t>CIRO+</a:t>
            </a:r>
          </a:p>
        </p:txBody>
      </p:sp>
      <p:grpSp>
        <p:nvGrpSpPr>
          <p:cNvPr id="6147" name="Group 3"/>
          <p:cNvGrpSpPr>
            <a:grpSpLocks/>
          </p:cNvGrpSpPr>
          <p:nvPr/>
        </p:nvGrpSpPr>
        <p:grpSpPr bwMode="auto">
          <a:xfrm>
            <a:off x="4062240" y="1088754"/>
            <a:ext cx="1912320" cy="1340781"/>
            <a:chOff x="2821" y="756"/>
            <a:chExt cx="1328" cy="931"/>
          </a:xfrm>
        </p:grpSpPr>
        <p:grpSp>
          <p:nvGrpSpPr>
            <p:cNvPr id="6148" name="Group 4"/>
            <p:cNvGrpSpPr>
              <a:grpSpLocks/>
            </p:cNvGrpSpPr>
            <p:nvPr/>
          </p:nvGrpSpPr>
          <p:grpSpPr bwMode="auto">
            <a:xfrm>
              <a:off x="3042" y="756"/>
              <a:ext cx="736" cy="931"/>
              <a:chOff x="3042" y="756"/>
              <a:chExt cx="736" cy="931"/>
            </a:xfrm>
          </p:grpSpPr>
          <p:sp>
            <p:nvSpPr>
              <p:cNvPr id="6149" name="AutoShape 5"/>
              <p:cNvSpPr>
                <a:spLocks noChangeArrowheads="1"/>
              </p:cNvSpPr>
              <p:nvPr/>
            </p:nvSpPr>
            <p:spPr bwMode="auto">
              <a:xfrm>
                <a:off x="3042" y="1140"/>
                <a:ext cx="341" cy="548"/>
              </a:xfrm>
              <a:prstGeom prst="roundRect">
                <a:avLst>
                  <a:gd name="adj" fmla="val 16667"/>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0" name="Oval 6"/>
              <p:cNvSpPr>
                <a:spLocks noChangeArrowheads="1"/>
              </p:cNvSpPr>
              <p:nvPr/>
            </p:nvSpPr>
            <p:spPr bwMode="auto">
              <a:xfrm>
                <a:off x="3042" y="1000"/>
                <a:ext cx="341" cy="461"/>
              </a:xfrm>
              <a:prstGeom prst="ellipse">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1" name="AutoShape 7"/>
              <p:cNvSpPr>
                <a:spLocks noChangeArrowheads="1"/>
              </p:cNvSpPr>
              <p:nvPr/>
            </p:nvSpPr>
            <p:spPr bwMode="auto">
              <a:xfrm>
                <a:off x="3437" y="1140"/>
                <a:ext cx="341" cy="548"/>
              </a:xfrm>
              <a:prstGeom prst="roundRect">
                <a:avLst>
                  <a:gd name="adj" fmla="val 16667"/>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2" name="Oval 8"/>
              <p:cNvSpPr>
                <a:spLocks noChangeArrowheads="1"/>
              </p:cNvSpPr>
              <p:nvPr/>
            </p:nvSpPr>
            <p:spPr bwMode="auto">
              <a:xfrm>
                <a:off x="3437" y="1000"/>
                <a:ext cx="341" cy="461"/>
              </a:xfrm>
              <a:prstGeom prst="ellipse">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3" name="Rectangle 9"/>
              <p:cNvSpPr>
                <a:spLocks noChangeArrowheads="1"/>
              </p:cNvSpPr>
              <p:nvPr/>
            </p:nvSpPr>
            <p:spPr bwMode="auto">
              <a:xfrm>
                <a:off x="3361" y="756"/>
                <a:ext cx="90" cy="252"/>
              </a:xfrm>
              <a:prstGeom prst="rect">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4" name="AutoShape 10"/>
              <p:cNvSpPr>
                <a:spLocks noChangeArrowheads="1"/>
              </p:cNvSpPr>
              <p:nvPr/>
            </p:nvSpPr>
            <p:spPr bwMode="auto">
              <a:xfrm rot="16200000">
                <a:off x="3273" y="879"/>
                <a:ext cx="278" cy="356"/>
              </a:xfrm>
              <a:prstGeom prst="chevron">
                <a:avLst>
                  <a:gd name="adj" fmla="val 50000"/>
                </a:avLst>
              </a:prstGeom>
              <a:solidFill>
                <a:srgbClr val="B6DD6F"/>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grpSp>
        <p:sp>
          <p:nvSpPr>
            <p:cNvPr id="6155" name="Text Box 11"/>
            <p:cNvSpPr txBox="1">
              <a:spLocks noChangeArrowheads="1"/>
            </p:cNvSpPr>
            <p:nvPr/>
          </p:nvSpPr>
          <p:spPr bwMode="auto">
            <a:xfrm>
              <a:off x="2951" y="1329"/>
              <a:ext cx="1198"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723900" algn="l"/>
                  <a:tab pos="1447800" algn="l"/>
                </a:tabLst>
                <a:defRPr>
                  <a:solidFill>
                    <a:srgbClr val="000000"/>
                  </a:solidFill>
                  <a:latin typeface="Arial" charset="0"/>
                  <a:cs typeface="Arial Unicode MS" charset="0"/>
                </a:defRPr>
              </a:lvl1pPr>
              <a:lvl2pPr>
                <a:tabLst>
                  <a:tab pos="723900" algn="l"/>
                  <a:tab pos="1447800" algn="l"/>
                </a:tabLst>
                <a:defRPr>
                  <a:solidFill>
                    <a:srgbClr val="000000"/>
                  </a:solidFill>
                  <a:latin typeface="Arial" charset="0"/>
                  <a:cs typeface="Arial Unicode MS" charset="0"/>
                </a:defRPr>
              </a:lvl2pPr>
              <a:lvl3pPr>
                <a:tabLst>
                  <a:tab pos="723900" algn="l"/>
                  <a:tab pos="1447800" algn="l"/>
                </a:tabLst>
                <a:defRPr>
                  <a:solidFill>
                    <a:srgbClr val="000000"/>
                  </a:solidFill>
                  <a:latin typeface="Arial" charset="0"/>
                  <a:cs typeface="Arial Unicode MS" charset="0"/>
                </a:defRPr>
              </a:lvl3pPr>
              <a:lvl4pPr>
                <a:tabLst>
                  <a:tab pos="723900" algn="l"/>
                  <a:tab pos="1447800" algn="l"/>
                </a:tabLst>
                <a:defRPr>
                  <a:solidFill>
                    <a:srgbClr val="000000"/>
                  </a:solidFill>
                  <a:latin typeface="Arial" charset="0"/>
                  <a:cs typeface="Arial Unicode MS" charset="0"/>
                </a:defRPr>
              </a:lvl4pPr>
              <a:lvl5pPr>
                <a:tabLst>
                  <a:tab pos="723900" algn="l"/>
                  <a:tab pos="1447800" algn="l"/>
                </a:tabLst>
                <a:defRPr>
                  <a:solidFill>
                    <a:srgbClr val="000000"/>
                  </a:solidFill>
                  <a:latin typeface="Arial" charset="0"/>
                  <a:cs typeface="Arial Unicode MS" charset="0"/>
                </a:defRPr>
              </a:lvl5pPr>
              <a:lvl6pPr marL="25146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6pPr>
              <a:lvl7pPr marL="29718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7pPr>
              <a:lvl8pPr marL="34290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8pPr>
              <a:lvl9pPr marL="3886200" indent="-228600" defTabSz="449263" fontAlgn="base" hangingPunct="0">
                <a:lnSpc>
                  <a:spcPct val="93000"/>
                </a:lnSpc>
                <a:spcBef>
                  <a:spcPct val="0"/>
                </a:spcBef>
                <a:spcAft>
                  <a:spcPct val="0"/>
                </a:spcAft>
                <a:buClr>
                  <a:srgbClr val="000000"/>
                </a:buClr>
                <a:buSzPct val="100000"/>
                <a:buFont typeface="Times New Roman" pitchFamily="16" charset="0"/>
                <a:tabLst>
                  <a:tab pos="723900" algn="l"/>
                  <a:tab pos="1447800" algn="l"/>
                </a:tabLst>
                <a:defRPr>
                  <a:solidFill>
                    <a:srgbClr val="000000"/>
                  </a:solidFill>
                  <a:latin typeface="Arial" charset="0"/>
                  <a:cs typeface="Arial Unicode MS" charset="0"/>
                </a:defRPr>
              </a:lvl9pPr>
            </a:lstStyle>
            <a:p>
              <a:pPr>
                <a:lnSpc>
                  <a:spcPct val="100000"/>
                </a:lnSpc>
                <a:buClrTx/>
                <a:buFontTx/>
                <a:buNone/>
              </a:pPr>
              <a:r>
                <a:rPr lang="en-US" altLang="it-IT" b="1">
                  <a:latin typeface="Tahoma" pitchFamily="32" charset="0"/>
                </a:rPr>
                <a:t>iCare4COPD</a:t>
              </a:r>
            </a:p>
          </p:txBody>
        </p:sp>
        <p:sp>
          <p:nvSpPr>
            <p:cNvPr id="6156" name="Freeform 12"/>
            <p:cNvSpPr>
              <a:spLocks noChangeArrowheads="1"/>
            </p:cNvSpPr>
            <p:nvPr/>
          </p:nvSpPr>
          <p:spPr bwMode="auto">
            <a:xfrm>
              <a:off x="2964" y="1329"/>
              <a:ext cx="119" cy="81"/>
            </a:xfrm>
            <a:custGeom>
              <a:avLst/>
              <a:gdLst>
                <a:gd name="T0" fmla="*/ 100028 w 200055"/>
                <a:gd name="T1" fmla="*/ 29849 h 119396"/>
                <a:gd name="T2" fmla="*/ 100028 w 200055"/>
                <a:gd name="T3" fmla="*/ 119396 h 119396"/>
                <a:gd name="T4" fmla="*/ 100028 w 200055"/>
                <a:gd name="T5" fmla="*/ 29849 h 119396"/>
                <a:gd name="T6" fmla="*/ 33343 w 200055"/>
                <a:gd name="T7" fmla="*/ 29849 h 119396"/>
                <a:gd name="T8" fmla="*/ 166713 w 200055"/>
                <a:gd name="T9" fmla="*/ 79597 h 119396"/>
              </a:gdLst>
              <a:ahLst/>
              <a:cxnLst>
                <a:cxn ang="0">
                  <a:pos x="T0" y="T1"/>
                </a:cxn>
                <a:cxn ang="0">
                  <a:pos x="T2" y="T3"/>
                </a:cxn>
                <a:cxn ang="0">
                  <a:pos x="T4" y="T5"/>
                </a:cxn>
              </a:cxnLst>
              <a:rect l="T6" t="T7" r="T8" b="T9"/>
              <a:pathLst>
                <a:path w="200055" h="119396">
                  <a:moveTo>
                    <a:pt x="100028" y="29849"/>
                  </a:moveTo>
                  <a:cubicBezTo>
                    <a:pt x="141706" y="-39799"/>
                    <a:pt x="304250" y="29849"/>
                    <a:pt x="100028" y="119396"/>
                  </a:cubicBezTo>
                  <a:cubicBezTo>
                    <a:pt x="-104195" y="29849"/>
                    <a:pt x="58349" y="-39799"/>
                    <a:pt x="100028" y="29849"/>
                  </a:cubicBezTo>
                  <a:close/>
                </a:path>
              </a:pathLst>
            </a:custGeom>
            <a:solidFill>
              <a:srgbClr val="FF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sp>
          <p:nvSpPr>
            <p:cNvPr id="6157" name="AutoShape 13"/>
            <p:cNvSpPr>
              <a:spLocks noChangeArrowheads="1"/>
            </p:cNvSpPr>
            <p:nvPr/>
          </p:nvSpPr>
          <p:spPr bwMode="auto">
            <a:xfrm>
              <a:off x="2821" y="1061"/>
              <a:ext cx="1192" cy="182"/>
            </a:xfrm>
            <a:prstGeom prst="triangle">
              <a:avLst>
                <a:gd name="adj" fmla="val 50000"/>
              </a:avLst>
            </a:prstGeom>
            <a:solidFill>
              <a:srgbClr val="FF0000"/>
            </a:soli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it-IT"/>
            </a:p>
          </p:txBody>
        </p:sp>
      </p:grpSp>
      <p:pic>
        <p:nvPicPr>
          <p:cNvPr id="6158"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1761" y="3918652"/>
            <a:ext cx="1306080" cy="653829"/>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59"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9040" y="4572481"/>
            <a:ext cx="1866240" cy="55157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61" name="Picture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0280" y="5181600"/>
            <a:ext cx="1170720" cy="51989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163" name="Picture 1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7760" y="6306423"/>
            <a:ext cx="1866240" cy="55157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526489311"/>
      </p:ext>
    </p:extLst>
  </p:cSld>
  <p:clrMapOvr>
    <a:masterClrMapping/>
  </p:clrMapOvr>
  <p:transition spd="med"/>
  <p:timing>
    <p:tnLst>
      <p:par>
        <p:cTn id="1" dur="indefinite"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altLang="it-IT" sz="4000" dirty="0" smtClean="0"/>
              <a:t>Introduction</a:t>
            </a:r>
            <a:endParaRPr lang="en-US" altLang="it-IT" sz="4000" dirty="0"/>
          </a:p>
        </p:txBody>
      </p:sp>
      <p:sp>
        <p:nvSpPr>
          <p:cNvPr id="36" name="Text Placeholder 2"/>
          <p:cNvSpPr txBox="1">
            <a:spLocks/>
          </p:cNvSpPr>
          <p:nvPr/>
        </p:nvSpPr>
        <p:spPr bwMode="auto">
          <a:xfrm>
            <a:off x="828675" y="1606550"/>
            <a:ext cx="7486650" cy="3746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2945" tIns="41473" rIns="82945" bIns="41473" numCol="1" anchor="t" anchorCtr="0" compatLnSpc="1">
            <a:prstTxWarp prst="textNoShape">
              <a:avLst/>
            </a:prstTxWarp>
          </a:bodyPr>
          <a:lstStyle>
            <a:defPPr>
              <a:defRPr lang="de-D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a:lstStyle>
          <a:p>
            <a:pPr algn="ctr"/>
            <a:r>
              <a:rPr lang="en-US" altLang="it-IT" smtClean="0"/>
              <a:t>Paradigm shift towards the home environment</a:t>
            </a:r>
          </a:p>
        </p:txBody>
      </p:sp>
      <p:sp>
        <p:nvSpPr>
          <p:cNvPr id="37" name="Text Placeholder 2_"/>
          <p:cNvSpPr txBox="1">
            <a:spLocks/>
          </p:cNvSpPr>
          <p:nvPr/>
        </p:nvSpPr>
        <p:spPr bwMode="auto">
          <a:xfrm>
            <a:off x="457200" y="3892550"/>
            <a:ext cx="80772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a:r>
              <a:rPr lang="en-US" altLang="it-IT" sz="2200" dirty="0"/>
              <a:t>Essential to develop new technologies and service concepts that permit monitoring and management of patients at home (remotely)</a:t>
            </a:r>
          </a:p>
        </p:txBody>
      </p:sp>
      <p:pic>
        <p:nvPicPr>
          <p:cNvPr id="38" name="Picture 7" descr="http://elderlawblogtn.com/wp-content/uploads/2013/08/HOSPITA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039938"/>
            <a:ext cx="1531938"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9" descr="https://www.moneysmart.gov.au/media/399935/buying-a-hom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9213" y="2039938"/>
            <a:ext cx="23622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Right Arrow 39"/>
          <p:cNvSpPr/>
          <p:nvPr/>
        </p:nvSpPr>
        <p:spPr>
          <a:xfrm>
            <a:off x="3962400" y="2154238"/>
            <a:ext cx="1074738" cy="590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41" name="Picture 11" descr="http://www.netanimations.net/old_man_walking_with__a_hc.gif"/>
          <p:cNvPicPr>
            <a:picLocks noChangeAspect="1" noChangeArrowheads="1" noCrop="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17975" y="2803525"/>
            <a:ext cx="606425" cy="92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74170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a:t>CRNTC+: A smartphone-based sensor processing framework for prototyping personal healthcare </a:t>
            </a:r>
            <a:r>
              <a:rPr lang="en-US" sz="1600" b="1" dirty="0" smtClean="0"/>
              <a:t>applications.</a:t>
            </a:r>
            <a:r>
              <a:rPr lang="en-US" sz="1600" dirty="0" smtClean="0"/>
              <a:t> </a:t>
            </a:r>
            <a:r>
              <a:rPr lang="it-IT" sz="1600" dirty="0" smtClean="0"/>
              <a:t>Iinternational </a:t>
            </a:r>
            <a:r>
              <a:rPr lang="it-IT" sz="1600" dirty="0"/>
              <a:t>joint conference on </a:t>
            </a:r>
            <a:r>
              <a:rPr lang="en-US" sz="1600" dirty="0"/>
              <a:t>Pervasive Computing Technologies for Healthcare</a:t>
            </a:r>
            <a:r>
              <a:rPr lang="it-IT" sz="1600" dirty="0" smtClean="0"/>
              <a:t>, 2013.</a:t>
            </a:r>
            <a:endParaRPr lang="en-US" altLang="it-IT" sz="1600" dirty="0"/>
          </a:p>
        </p:txBody>
      </p:sp>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3637852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a:t>Smartphone monitoring and training approaches</a:t>
            </a:r>
            <a:endParaRPr lang="en-US" altLang="it-IT" sz="4000" dirty="0"/>
          </a:p>
        </p:txBody>
      </p:sp>
      <p:sp>
        <p:nvSpPr>
          <p:cNvPr id="37" name="Text Placeholder 2_"/>
          <p:cNvSpPr txBox="1">
            <a:spLocks/>
          </p:cNvSpPr>
          <p:nvPr/>
        </p:nvSpPr>
        <p:spPr bwMode="auto">
          <a:xfrm>
            <a:off x="304800" y="5645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err="1" smtClean="0"/>
              <a:t>COPDTrainer</a:t>
            </a:r>
            <a:r>
              <a:rPr lang="it-IT" sz="1600" b="1" dirty="0" smtClean="0"/>
              <a:t>: </a:t>
            </a:r>
            <a:r>
              <a:rPr lang="en-US" sz="1600" b="1" dirty="0" err="1"/>
              <a:t>COPDTrainer</a:t>
            </a:r>
            <a:r>
              <a:rPr lang="en-US" sz="1600" b="1" dirty="0"/>
              <a:t>: a smartphone-based </a:t>
            </a:r>
            <a:r>
              <a:rPr lang="en-US" sz="1600" b="1" dirty="0" smtClean="0"/>
              <a:t>motion rehabilitation </a:t>
            </a:r>
            <a:r>
              <a:rPr lang="en-US" sz="1600" b="1" dirty="0"/>
              <a:t>training system with real-time acoustic </a:t>
            </a:r>
            <a:r>
              <a:rPr lang="en-US" sz="1600" b="1" dirty="0" smtClean="0"/>
              <a:t>feedback.</a:t>
            </a:r>
            <a:r>
              <a:rPr lang="en-US" sz="1600" dirty="0" smtClean="0"/>
              <a:t> </a:t>
            </a:r>
            <a:r>
              <a:rPr lang="it-IT" sz="1600" dirty="0" smtClean="0"/>
              <a:t>ACM </a:t>
            </a:r>
            <a:r>
              <a:rPr lang="it-IT" sz="1600" dirty="0"/>
              <a:t>international joint conference on Pervasive and ubiquitous </a:t>
            </a:r>
            <a:r>
              <a:rPr lang="it-IT" sz="1600" dirty="0" smtClean="0"/>
              <a:t>computing, 2013</a:t>
            </a:r>
            <a:endParaRPr lang="en-US" altLang="it-IT" sz="1600" dirty="0"/>
          </a:p>
        </p:txBody>
      </p:sp>
      <p:grpSp>
        <p:nvGrpSpPr>
          <p:cNvPr id="2" name="Group 1"/>
          <p:cNvGrpSpPr/>
          <p:nvPr/>
        </p:nvGrpSpPr>
        <p:grpSpPr>
          <a:xfrm>
            <a:off x="2590801" y="4181476"/>
            <a:ext cx="3886199" cy="1304924"/>
            <a:chOff x="2514600" y="3505200"/>
            <a:chExt cx="4362905" cy="1457324"/>
          </a:xfrm>
        </p:grpSpPr>
        <p:pic>
          <p:nvPicPr>
            <p:cNvPr id="266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6630" y="3509967"/>
              <a:ext cx="915761" cy="1452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6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7230" y="3509967"/>
              <a:ext cx="2200275"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14600" y="3505200"/>
              <a:ext cx="1100137" cy="1438276"/>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3" name="Text Placeholder 2_"/>
          <p:cNvSpPr txBox="1">
            <a:spLocks/>
          </p:cNvSpPr>
          <p:nvPr/>
        </p:nvSpPr>
        <p:spPr bwMode="auto">
          <a:xfrm>
            <a:off x="304800" y="3292474"/>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a:t>CRNTC+: A smartphone-based sensor processing framework for prototyping personal healthcare </a:t>
            </a:r>
            <a:r>
              <a:rPr lang="en-US" sz="1600" b="1" dirty="0" smtClean="0"/>
              <a:t>applications.</a:t>
            </a:r>
            <a:r>
              <a:rPr lang="en-US" sz="1600" dirty="0" smtClean="0"/>
              <a:t> </a:t>
            </a:r>
            <a:r>
              <a:rPr lang="it-IT" sz="1600" dirty="0" smtClean="0"/>
              <a:t>Iinternational </a:t>
            </a:r>
            <a:r>
              <a:rPr lang="it-IT" sz="1600" dirty="0"/>
              <a:t>joint conference on </a:t>
            </a:r>
            <a:r>
              <a:rPr lang="en-US" sz="1600" dirty="0"/>
              <a:t>Pervasive Computing Technologies for Healthcare</a:t>
            </a:r>
            <a:r>
              <a:rPr lang="it-IT" sz="1600" dirty="0" smtClean="0"/>
              <a:t>, 2013.</a:t>
            </a:r>
            <a:endParaRPr lang="en-US" altLang="it-IT" sz="1600" dirty="0"/>
          </a:p>
        </p:txBody>
      </p:sp>
      <p:pic>
        <p:nvPicPr>
          <p:cNvPr id="18"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212048" y="1752600"/>
            <a:ext cx="2731552" cy="137422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6121636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err="1" smtClean="0"/>
              <a:t>Mesquita</a:t>
            </a:r>
            <a:r>
              <a:rPr lang="en-US" sz="1600" dirty="0" smtClean="0"/>
              <a:t>, Spina et al. </a:t>
            </a:r>
            <a:r>
              <a:rPr lang="en-US" sz="1600" b="1" dirty="0"/>
              <a:t>Physical activity patterns and clusters in 1001 patients with chronic obstructive pulmonary disease.</a:t>
            </a:r>
            <a:r>
              <a:rPr lang="en-US" sz="1600" dirty="0" smtClean="0"/>
              <a:t> </a:t>
            </a:r>
            <a:r>
              <a:rPr lang="it-IT" sz="1600" dirty="0" smtClean="0"/>
              <a:t>Submitted to Thorax, (submitted).</a:t>
            </a:r>
            <a:endParaRPr lang="en-US" altLang="it-IT" sz="16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23980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insights in COPD</a:t>
            </a:r>
            <a:endParaRPr lang="en-US" altLang="it-IT" sz="4000" dirty="0"/>
          </a:p>
        </p:txBody>
      </p:sp>
      <p:sp>
        <p:nvSpPr>
          <p:cNvPr id="37" name="Text Placeholder 2_"/>
          <p:cNvSpPr txBox="1">
            <a:spLocks/>
          </p:cNvSpPr>
          <p:nvPr/>
        </p:nvSpPr>
        <p:spPr bwMode="auto">
          <a:xfrm>
            <a:off x="304800" y="6011636"/>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a:t>Identifying Physical Activity Profiles in </a:t>
            </a:r>
            <a:r>
              <a:rPr lang="en-US" sz="1600" b="1" dirty="0" smtClean="0"/>
              <a:t>COPD Patients </a:t>
            </a:r>
            <a:r>
              <a:rPr lang="en-US" sz="1600" b="1" dirty="0"/>
              <a:t>Using Topic Models.</a:t>
            </a:r>
            <a:r>
              <a:rPr lang="en-US" sz="1600" dirty="0" smtClean="0"/>
              <a:t> </a:t>
            </a:r>
            <a:r>
              <a:rPr lang="en-US" sz="1600" dirty="0"/>
              <a:t>IEEE JOURNAL OF BIOMEDICAL AND HEALTH INFORMATICS</a:t>
            </a:r>
            <a:r>
              <a:rPr lang="it-IT" sz="1600" dirty="0" smtClean="0"/>
              <a:t>, 2015 (submitted)</a:t>
            </a:r>
            <a:endParaRPr lang="en-US" altLang="it-IT" sz="16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err="1" smtClean="0"/>
              <a:t>Mesquita</a:t>
            </a:r>
            <a:r>
              <a:rPr lang="en-US" sz="1600" dirty="0" smtClean="0"/>
              <a:t>, Spina et al. </a:t>
            </a:r>
            <a:r>
              <a:rPr lang="en-US" sz="1600" b="1" dirty="0"/>
              <a:t>Physical activity patterns and clusters in 1001 patients with chronic obstructive pulmonary disease.</a:t>
            </a:r>
            <a:r>
              <a:rPr lang="en-US" sz="1600" dirty="0" smtClean="0"/>
              <a:t> </a:t>
            </a:r>
            <a:r>
              <a:rPr lang="it-IT" sz="1600" dirty="0" smtClean="0"/>
              <a:t>Submitted to Thorax, (submitted).</a:t>
            </a:r>
            <a:endParaRPr lang="en-US" altLang="it-IT" sz="1600" dirty="0"/>
          </a:p>
        </p:txBody>
      </p:sp>
      <p:pic>
        <p:nvPicPr>
          <p:cNvPr id="27651" name="Picture 3" descr="D:\Condiviso\TUe\COPDBodyMedia\COPDBodyMedia_paper\Draft\Thorax\Figures\Figure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04657" y="1039131"/>
            <a:ext cx="2979737" cy="2235200"/>
          </a:xfrm>
          <a:prstGeom prst="rect">
            <a:avLst/>
          </a:prstGeom>
          <a:noFill/>
          <a:extLst>
            <a:ext uri="{909E8E84-426E-40DD-AFC4-6F175D3DCCD1}">
              <a14:hiddenFill xmlns:a14="http://schemas.microsoft.com/office/drawing/2010/main">
                <a:solidFill>
                  <a:srgbClr val="FFFFFF"/>
                </a:solidFill>
              </a14:hiddenFill>
            </a:ext>
          </a:extLst>
        </p:spPr>
      </p:pic>
      <p:pic>
        <p:nvPicPr>
          <p:cNvPr id="27653" name="Picture 5" descr="D:\Condiviso\TUe\COPDBodyMedia\COPDBodyMedia_paper\Draft\Thorax\Figures\Figure6_resized.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6951" y="1085951"/>
            <a:ext cx="2953522" cy="2215140"/>
          </a:xfrm>
          <a:prstGeom prst="rect">
            <a:avLst/>
          </a:prstGeom>
          <a:noFill/>
          <a:extLst>
            <a:ext uri="{909E8E84-426E-40DD-AFC4-6F175D3DCCD1}">
              <a14:hiddenFill xmlns:a14="http://schemas.microsoft.com/office/drawing/2010/main">
                <a:solidFill>
                  <a:srgbClr val="FFFFFF"/>
                </a:solidFill>
              </a14:hiddenFill>
            </a:ext>
          </a:extLst>
        </p:spPr>
      </p:pic>
      <p:pic>
        <p:nvPicPr>
          <p:cNvPr id="2765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V="1">
            <a:off x="1807481" y="3988656"/>
            <a:ext cx="5776913" cy="19549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0690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Group 42"/>
          <p:cNvGrpSpPr>
            <a:grpSpLocks noChangeAspect="1"/>
          </p:cNvGrpSpPr>
          <p:nvPr/>
        </p:nvGrpSpPr>
        <p:grpSpPr>
          <a:xfrm>
            <a:off x="76200" y="1425362"/>
            <a:ext cx="3433752" cy="3603838"/>
            <a:chOff x="1981200" y="71015"/>
            <a:chExt cx="5450400" cy="5720377"/>
          </a:xfrm>
        </p:grpSpPr>
        <p:pic>
          <p:nvPicPr>
            <p:cNvPr id="44" name="Picture 43"/>
            <p:cNvPicPr/>
            <p:nvPr/>
          </p:nvPicPr>
          <p:blipFill>
            <a:blip r:embed="rId2"/>
            <a:stretch>
              <a:fillRect/>
            </a:stretch>
          </p:blipFill>
          <p:spPr>
            <a:xfrm>
              <a:off x="1981200" y="71015"/>
              <a:ext cx="5333400" cy="3998520"/>
            </a:xfrm>
            <a:prstGeom prst="rect">
              <a:avLst/>
            </a:prstGeom>
          </p:spPr>
        </p:pic>
        <p:pic>
          <p:nvPicPr>
            <p:cNvPr id="45" name="Picture 44"/>
            <p:cNvPicPr/>
            <p:nvPr/>
          </p:nvPicPr>
          <p:blipFill>
            <a:blip r:embed="rId2"/>
            <a:stretch>
              <a:fillRect/>
            </a:stretch>
          </p:blipFill>
          <p:spPr>
            <a:xfrm>
              <a:off x="1981200" y="76200"/>
              <a:ext cx="5333400" cy="3998520"/>
            </a:xfrm>
            <a:prstGeom prst="rect">
              <a:avLst/>
            </a:prstGeom>
          </p:spPr>
        </p:pic>
        <p:sp>
          <p:nvSpPr>
            <p:cNvPr id="46" name="CustomShape 6"/>
            <p:cNvSpPr/>
            <p:nvPr/>
          </p:nvSpPr>
          <p:spPr>
            <a:xfrm>
              <a:off x="2096040" y="4074998"/>
              <a:ext cx="406780" cy="419292"/>
            </a:xfrm>
            <a:prstGeom prst="roundRect">
              <a:avLst>
                <a:gd name="adj" fmla="val 3600"/>
              </a:avLst>
            </a:prstGeom>
            <a:ln w="36000">
              <a:solidFill>
                <a:srgbClr val="2323DC"/>
              </a:solidFill>
              <a:round/>
            </a:ln>
          </p:spPr>
        </p:sp>
        <p:sp>
          <p:nvSpPr>
            <p:cNvPr id="47" name="Line 7"/>
            <p:cNvSpPr/>
            <p:nvPr/>
          </p:nvSpPr>
          <p:spPr>
            <a:xfrm flipH="1">
              <a:off x="2502818" y="3276600"/>
              <a:ext cx="1208365" cy="807109"/>
            </a:xfrm>
            <a:prstGeom prst="line">
              <a:avLst/>
            </a:prstGeom>
            <a:ln w="36000">
              <a:solidFill>
                <a:srgbClr val="2300DC"/>
              </a:solidFill>
              <a:round/>
            </a:ln>
          </p:spPr>
        </p:sp>
        <p:sp>
          <p:nvSpPr>
            <p:cNvPr id="48" name="Line 8"/>
            <p:cNvSpPr/>
            <p:nvPr/>
          </p:nvSpPr>
          <p:spPr>
            <a:xfrm flipH="1">
              <a:off x="2106897" y="3276600"/>
              <a:ext cx="1604286" cy="798399"/>
            </a:xfrm>
            <a:prstGeom prst="line">
              <a:avLst/>
            </a:prstGeom>
            <a:ln w="36000">
              <a:solidFill>
                <a:srgbClr val="2300DC"/>
              </a:solidFill>
              <a:round/>
            </a:ln>
          </p:spPr>
        </p:sp>
        <p:sp>
          <p:nvSpPr>
            <p:cNvPr id="49" name="Line 9"/>
            <p:cNvSpPr/>
            <p:nvPr/>
          </p:nvSpPr>
          <p:spPr>
            <a:xfrm flipH="1">
              <a:off x="2502818" y="3276600"/>
              <a:ext cx="1208367" cy="1217690"/>
            </a:xfrm>
            <a:prstGeom prst="line">
              <a:avLst/>
            </a:prstGeom>
            <a:ln w="36000">
              <a:solidFill>
                <a:srgbClr val="2300DC"/>
              </a:solidFill>
              <a:round/>
            </a:ln>
          </p:spPr>
        </p:sp>
        <p:sp>
          <p:nvSpPr>
            <p:cNvPr id="50" name="Line 19"/>
            <p:cNvSpPr/>
            <p:nvPr/>
          </p:nvSpPr>
          <p:spPr>
            <a:xfrm flipH="1">
              <a:off x="2096038" y="3276600"/>
              <a:ext cx="1615148" cy="1217691"/>
            </a:xfrm>
            <a:prstGeom prst="line">
              <a:avLst/>
            </a:prstGeom>
            <a:ln>
              <a:solidFill>
                <a:srgbClr val="2300DC"/>
              </a:solidFill>
              <a:custDash>
                <a:ds d="508000" sp="508000"/>
                <a:ds d="508000" sp="508000"/>
              </a:custDash>
            </a:ln>
          </p:spPr>
        </p:sp>
        <p:sp>
          <p:nvSpPr>
            <p:cNvPr id="51" name="CustomShape 20"/>
            <p:cNvSpPr/>
            <p:nvPr/>
          </p:nvSpPr>
          <p:spPr>
            <a:xfrm>
              <a:off x="7024819" y="4083708"/>
              <a:ext cx="406780" cy="419292"/>
            </a:xfrm>
            <a:prstGeom prst="roundRect">
              <a:avLst>
                <a:gd name="adj" fmla="val 3600"/>
              </a:avLst>
            </a:prstGeom>
            <a:ln w="36000">
              <a:solidFill>
                <a:srgbClr val="FF420E"/>
              </a:solidFill>
              <a:round/>
            </a:ln>
          </p:spPr>
        </p:sp>
        <p:sp>
          <p:nvSpPr>
            <p:cNvPr id="52" name="Line 21"/>
            <p:cNvSpPr/>
            <p:nvPr/>
          </p:nvSpPr>
          <p:spPr>
            <a:xfrm>
              <a:off x="3962400" y="990600"/>
              <a:ext cx="3469199" cy="3101818"/>
            </a:xfrm>
            <a:prstGeom prst="line">
              <a:avLst/>
            </a:prstGeom>
            <a:ln w="36000">
              <a:solidFill>
                <a:srgbClr val="FF420E"/>
              </a:solidFill>
              <a:round/>
            </a:ln>
          </p:spPr>
        </p:sp>
        <p:sp>
          <p:nvSpPr>
            <p:cNvPr id="53" name="Line 22"/>
            <p:cNvSpPr/>
            <p:nvPr/>
          </p:nvSpPr>
          <p:spPr>
            <a:xfrm>
              <a:off x="3962400" y="990600"/>
              <a:ext cx="3062419" cy="3093108"/>
            </a:xfrm>
            <a:prstGeom prst="line">
              <a:avLst/>
            </a:prstGeom>
            <a:ln w="36000">
              <a:solidFill>
                <a:srgbClr val="FF420E"/>
              </a:solidFill>
              <a:round/>
            </a:ln>
          </p:spPr>
        </p:sp>
        <p:sp>
          <p:nvSpPr>
            <p:cNvPr id="54" name="Line 23"/>
            <p:cNvSpPr/>
            <p:nvPr/>
          </p:nvSpPr>
          <p:spPr>
            <a:xfrm>
              <a:off x="3962400" y="990600"/>
              <a:ext cx="3469200" cy="3512400"/>
            </a:xfrm>
            <a:prstGeom prst="line">
              <a:avLst/>
            </a:prstGeom>
            <a:ln>
              <a:solidFill>
                <a:srgbClr val="FF420E"/>
              </a:solidFill>
              <a:prstDash val="dash"/>
            </a:ln>
          </p:spPr>
        </p:sp>
        <p:sp>
          <p:nvSpPr>
            <p:cNvPr id="55" name="Line 24"/>
            <p:cNvSpPr/>
            <p:nvPr/>
          </p:nvSpPr>
          <p:spPr>
            <a:xfrm>
              <a:off x="3962400" y="990600"/>
              <a:ext cx="3062420" cy="3512400"/>
            </a:xfrm>
            <a:prstGeom prst="line">
              <a:avLst/>
            </a:prstGeom>
            <a:ln w="36000">
              <a:solidFill>
                <a:srgbClr val="FF420E"/>
              </a:solidFill>
              <a:round/>
            </a:ln>
          </p:spPr>
        </p:sp>
        <p:sp>
          <p:nvSpPr>
            <p:cNvPr id="56" name="Line 14"/>
            <p:cNvSpPr/>
            <p:nvPr/>
          </p:nvSpPr>
          <p:spPr>
            <a:xfrm>
              <a:off x="3962400" y="1759801"/>
              <a:ext cx="2534200" cy="2323907"/>
            </a:xfrm>
            <a:prstGeom prst="line">
              <a:avLst/>
            </a:prstGeom>
            <a:ln w="36000">
              <a:solidFill>
                <a:srgbClr val="E6FF00"/>
              </a:solidFill>
              <a:round/>
            </a:ln>
          </p:spPr>
        </p:sp>
        <p:sp>
          <p:nvSpPr>
            <p:cNvPr id="57" name="Line 15"/>
            <p:cNvSpPr/>
            <p:nvPr/>
          </p:nvSpPr>
          <p:spPr>
            <a:xfrm>
              <a:off x="3962400" y="1759801"/>
              <a:ext cx="2931141" cy="2743199"/>
            </a:xfrm>
            <a:prstGeom prst="line">
              <a:avLst/>
            </a:prstGeom>
            <a:ln>
              <a:solidFill>
                <a:srgbClr val="E6FF00"/>
              </a:solidFill>
              <a:prstDash val="dash"/>
            </a:ln>
          </p:spPr>
        </p:sp>
        <p:sp>
          <p:nvSpPr>
            <p:cNvPr id="58" name="Line 16"/>
            <p:cNvSpPr/>
            <p:nvPr/>
          </p:nvSpPr>
          <p:spPr>
            <a:xfrm>
              <a:off x="3962400" y="1759801"/>
              <a:ext cx="2534200" cy="2743199"/>
            </a:xfrm>
            <a:prstGeom prst="line">
              <a:avLst/>
            </a:prstGeom>
            <a:ln w="36000">
              <a:solidFill>
                <a:srgbClr val="E6FF00"/>
              </a:solidFill>
              <a:round/>
            </a:ln>
          </p:spPr>
        </p:sp>
        <p:sp>
          <p:nvSpPr>
            <p:cNvPr id="59" name="Line 13"/>
            <p:cNvSpPr/>
            <p:nvPr/>
          </p:nvSpPr>
          <p:spPr>
            <a:xfrm>
              <a:off x="3962400" y="1759801"/>
              <a:ext cx="2940980" cy="2332792"/>
            </a:xfrm>
            <a:prstGeom prst="line">
              <a:avLst/>
            </a:prstGeom>
            <a:ln w="36000">
              <a:solidFill>
                <a:srgbClr val="E6FF00"/>
              </a:solidFill>
              <a:round/>
            </a:ln>
          </p:spPr>
        </p:sp>
        <p:sp>
          <p:nvSpPr>
            <p:cNvPr id="60" name="CustomShape 12"/>
            <p:cNvSpPr/>
            <p:nvPr/>
          </p:nvSpPr>
          <p:spPr>
            <a:xfrm>
              <a:off x="6496600" y="4083708"/>
              <a:ext cx="406780" cy="419292"/>
            </a:xfrm>
            <a:prstGeom prst="roundRect">
              <a:avLst>
                <a:gd name="adj" fmla="val 3600"/>
              </a:avLst>
            </a:prstGeom>
            <a:ln w="36000">
              <a:solidFill>
                <a:srgbClr val="E6FF00"/>
              </a:solidFill>
              <a:round/>
            </a:ln>
          </p:spPr>
        </p:sp>
        <p:grpSp>
          <p:nvGrpSpPr>
            <p:cNvPr id="61" name="Group 60"/>
            <p:cNvGrpSpPr/>
            <p:nvPr/>
          </p:nvGrpSpPr>
          <p:grpSpPr>
            <a:xfrm>
              <a:off x="2554800" y="2507009"/>
              <a:ext cx="3872043" cy="1988719"/>
              <a:chOff x="609600" y="2423609"/>
              <a:chExt cx="3872043" cy="1988719"/>
            </a:xfrm>
          </p:grpSpPr>
          <p:sp>
            <p:nvSpPr>
              <p:cNvPr id="67" name="Line 10"/>
              <p:cNvSpPr/>
              <p:nvPr/>
            </p:nvSpPr>
            <p:spPr>
              <a:xfrm>
                <a:off x="1864801" y="2433058"/>
                <a:ext cx="2616842" cy="1977832"/>
              </a:xfrm>
              <a:prstGeom prst="line">
                <a:avLst/>
              </a:prstGeom>
              <a:ln>
                <a:solidFill>
                  <a:srgbClr val="00CCCC"/>
                </a:solidFill>
                <a:custDash>
                  <a:ds d="508000" sp="508000"/>
                  <a:ds d="508000" sp="508000"/>
                </a:custDash>
              </a:ln>
            </p:spPr>
          </p:sp>
          <p:sp>
            <p:nvSpPr>
              <p:cNvPr id="68" name="Line 11"/>
              <p:cNvSpPr/>
              <p:nvPr/>
            </p:nvSpPr>
            <p:spPr>
              <a:xfrm flipH="1">
                <a:off x="609601" y="2433058"/>
                <a:ext cx="1255199" cy="1977832"/>
              </a:xfrm>
              <a:prstGeom prst="line">
                <a:avLst/>
              </a:prstGeom>
              <a:ln>
                <a:solidFill>
                  <a:srgbClr val="00CCCC"/>
                </a:solidFill>
                <a:custDash>
                  <a:ds d="508000" sp="508000"/>
                  <a:ds d="508000" sp="508000"/>
                </a:custDash>
              </a:ln>
            </p:spPr>
          </p:sp>
          <p:sp>
            <p:nvSpPr>
              <p:cNvPr id="69" name="CustomShape 17"/>
              <p:cNvSpPr/>
              <p:nvPr/>
            </p:nvSpPr>
            <p:spPr>
              <a:xfrm>
                <a:off x="609601" y="3991598"/>
                <a:ext cx="3872041" cy="419292"/>
              </a:xfrm>
              <a:prstGeom prst="roundRect">
                <a:avLst>
                  <a:gd name="adj" fmla="val 3600"/>
                </a:avLst>
              </a:prstGeom>
              <a:ln w="36000">
                <a:solidFill>
                  <a:srgbClr val="00CCCC"/>
                </a:solidFill>
                <a:round/>
              </a:ln>
            </p:spPr>
          </p:sp>
          <p:sp>
            <p:nvSpPr>
              <p:cNvPr id="70" name="Line 18"/>
              <p:cNvSpPr/>
              <p:nvPr/>
            </p:nvSpPr>
            <p:spPr>
              <a:xfrm>
                <a:off x="1864801" y="2433058"/>
                <a:ext cx="2616842" cy="1567250"/>
              </a:xfrm>
              <a:prstGeom prst="line">
                <a:avLst/>
              </a:prstGeom>
              <a:ln w="36000">
                <a:solidFill>
                  <a:srgbClr val="00CCCC"/>
                </a:solidFill>
                <a:round/>
              </a:ln>
            </p:spPr>
          </p:sp>
          <p:sp>
            <p:nvSpPr>
              <p:cNvPr id="71" name="Line 5"/>
              <p:cNvSpPr/>
              <p:nvPr/>
            </p:nvSpPr>
            <p:spPr>
              <a:xfrm flipH="1">
                <a:off x="609600" y="2423609"/>
                <a:ext cx="1255200" cy="1576699"/>
              </a:xfrm>
              <a:prstGeom prst="line">
                <a:avLst/>
              </a:prstGeom>
              <a:ln w="36000">
                <a:solidFill>
                  <a:srgbClr val="00CCCC"/>
                </a:solidFill>
                <a:round/>
              </a:ln>
            </p:spPr>
          </p:sp>
          <mc:AlternateContent xmlns:mc="http://schemas.openxmlformats.org/markup-compatibility/2006" xmlns:a14="http://schemas.microsoft.com/office/drawing/2010/main">
            <mc:Choice Requires="a14">
              <p:sp>
                <p:nvSpPr>
                  <p:cNvPr id="72" name="TextBox 71"/>
                  <p:cNvSpPr txBox="1"/>
                  <p:nvPr/>
                </p:nvSpPr>
                <p:spPr>
                  <a:xfrm>
                    <a:off x="609601" y="4038600"/>
                    <a:ext cx="3872042" cy="373728"/>
                  </a:xfrm>
                  <a:prstGeom prst="rect">
                    <a:avLst/>
                  </a:prstGeom>
                  <a:noFill/>
                </p:spPr>
                <p:txBody>
                  <a:bodyPr wrap="square" rtlCol="0">
                    <a:spAutoFit/>
                  </a:bodyPr>
                  <a:lstStyle/>
                  <a:p>
                    <a:pPr algn="ctr"/>
                    <a14:m>
                      <m:oMath xmlns:m="http://schemas.openxmlformats.org/officeDocument/2006/math">
                        <m:r>
                          <a:rPr lang="en-US" sz="1100" b="0" i="1" smtClean="0">
                            <a:latin typeface="Cambria Math"/>
                          </a:rPr>
                          <m:t>𝐼𝐶</m:t>
                        </m:r>
                        <m:r>
                          <a:rPr lang="en-US" sz="1100" b="0" i="1" smtClean="0">
                            <a:latin typeface="Cambria Math"/>
                          </a:rPr>
                          <m:t>, </m:t>
                        </m:r>
                        <m:r>
                          <a:rPr lang="en-US" sz="1100" i="1" smtClean="0">
                            <a:latin typeface="Cambria Math"/>
                          </a:rPr>
                          <m:t>𝑑</m:t>
                        </m:r>
                      </m:oMath>
                    </a14:m>
                    <a:r>
                      <a:rPr lang="en-US" sz="1100" dirty="0" smtClean="0"/>
                      <a:t>,</a:t>
                    </a:r>
                    <a:r>
                      <a:rPr lang="en-US" sz="1100" dirty="0">
                        <a:ea typeface="Cambria Math"/>
                      </a:rPr>
                      <a:t> </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𝑆𝑇</m:t>
                            </m:r>
                          </m:sub>
                          <m:sup/>
                        </m:sSubSup>
                      </m:oMath>
                    </a14:m>
                    <a:r>
                      <a:rPr lang="en-US" sz="1100" dirty="0" smtClean="0"/>
                      <a:t>,</a:t>
                    </a:r>
                    <a14:m>
                      <m:oMath xmlns:m="http://schemas.openxmlformats.org/officeDocument/2006/math">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𝐺𝑆𝑅</m:t>
                            </m:r>
                          </m:sub>
                          <m:sup/>
                        </m:sSubSup>
                        <m:r>
                          <a:rPr lang="en-US" sz="1100" b="0" i="1" smtClean="0">
                            <a:latin typeface="Cambria Math"/>
                            <a:ea typeface="Cambria Math"/>
                          </a:rPr>
                          <m:t>,</m:t>
                        </m:r>
                        <m:sSubSup>
                          <m:sSubSupPr>
                            <m:ctrlPr>
                              <a:rPr lang="en-US" sz="1100" i="1">
                                <a:latin typeface="Cambria Math"/>
                                <a:ea typeface="Cambria Math"/>
                              </a:rPr>
                            </m:ctrlPr>
                          </m:sSubSupPr>
                          <m:e>
                            <m:r>
                              <a:rPr lang="en-US" sz="1100" i="1">
                                <a:latin typeface="Cambria Math"/>
                                <a:ea typeface="Cambria Math"/>
                              </a:rPr>
                              <m:t>𝜇</m:t>
                            </m:r>
                          </m:e>
                          <m:sub>
                            <m:r>
                              <a:rPr lang="en-US" sz="1100" b="0" i="1" smtClean="0">
                                <a:latin typeface="Cambria Math"/>
                                <a:ea typeface="Cambria Math"/>
                              </a:rPr>
                              <m:t>𝑉𝑀</m:t>
                            </m:r>
                          </m:sub>
                          <m:sup/>
                        </m:sSubSup>
                        <m:sSubSup>
                          <m:sSubSupPr>
                            <m:ctrlPr>
                              <a:rPr lang="en-US" sz="1100" i="1">
                                <a:latin typeface="Cambria Math"/>
                                <a:ea typeface="Cambria Math"/>
                              </a:rPr>
                            </m:ctrlPr>
                          </m:sSubSupPr>
                          <m:e>
                            <m:r>
                              <a:rPr lang="en-US" sz="1100" b="0" i="1" smtClean="0">
                                <a:latin typeface="Cambria Math"/>
                                <a:ea typeface="Cambria Math"/>
                              </a:rPr>
                              <m:t>, </m:t>
                            </m:r>
                            <m:r>
                              <a:rPr lang="en-US" sz="1100" i="1">
                                <a:latin typeface="Cambria Math"/>
                                <a:ea typeface="Cambria Math"/>
                              </a:rPr>
                              <m:t>𝜇</m:t>
                            </m:r>
                          </m:e>
                          <m:sub>
                            <m:r>
                              <a:rPr lang="en-US" sz="1100" b="0" i="1" smtClean="0">
                                <a:latin typeface="Cambria Math"/>
                                <a:ea typeface="Cambria Math"/>
                              </a:rPr>
                              <m:t>𝑆𝐶</m:t>
                            </m:r>
                          </m:sub>
                          <m:sup/>
                        </m:sSubSup>
                      </m:oMath>
                    </a14:m>
                    <a:endParaRPr lang="en-US" sz="1100" dirty="0"/>
                  </a:p>
                </p:txBody>
              </p:sp>
            </mc:Choice>
            <mc:Fallback xmlns="">
              <p:sp>
                <p:nvSpPr>
                  <p:cNvPr id="72" name="TextBox 71"/>
                  <p:cNvSpPr txBox="1">
                    <a:spLocks noRot="1" noChangeAspect="1" noMove="1" noResize="1" noEditPoints="1" noAdjustHandles="1" noChangeArrowheads="1" noChangeShapeType="1" noTextEdit="1"/>
                  </p:cNvSpPr>
                  <p:nvPr/>
                </p:nvSpPr>
                <p:spPr>
                  <a:xfrm>
                    <a:off x="609601" y="4038600"/>
                    <a:ext cx="3872042" cy="373728"/>
                  </a:xfrm>
                  <a:prstGeom prst="rect">
                    <a:avLst/>
                  </a:prstGeom>
                  <a:blipFill rotWithShape="1">
                    <a:blip r:embed="rId3"/>
                    <a:stretch>
                      <a:fillRect b="-28205"/>
                    </a:stretch>
                  </a:blipFill>
                </p:spPr>
                <p:txBody>
                  <a:bodyPr/>
                  <a:lstStyle/>
                  <a:p>
                    <a:r>
                      <a:rPr lang="en-US">
                        <a:noFill/>
                      </a:rPr>
                      <a:t> </a:t>
                    </a:r>
                  </a:p>
                </p:txBody>
              </p:sp>
            </mc:Fallback>
          </mc:AlternateContent>
        </p:grpSp>
        <p:sp>
          <p:nvSpPr>
            <p:cNvPr id="62" name="Rectangle 61"/>
            <p:cNvSpPr/>
            <p:nvPr/>
          </p:nvSpPr>
          <p:spPr>
            <a:xfrm>
              <a:off x="3462121" y="4762500"/>
              <a:ext cx="2057400" cy="381000"/>
            </a:xfrm>
            <a:prstGeom prst="rect">
              <a:avLst/>
            </a:prstGeom>
            <a:no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smtClean="0">
                  <a:solidFill>
                    <a:srgbClr val="000000"/>
                  </a:solidFill>
                </a:rPr>
                <a:t>Feature selection</a:t>
              </a:r>
              <a:endParaRPr lang="en-US" sz="1000" dirty="0">
                <a:solidFill>
                  <a:srgbClr val="000000"/>
                </a:solidFill>
              </a:endParaRPr>
            </a:p>
          </p:txBody>
        </p:sp>
        <p:sp>
          <p:nvSpPr>
            <p:cNvPr id="63" name="CustomShape 17"/>
            <p:cNvSpPr/>
            <p:nvPr/>
          </p:nvSpPr>
          <p:spPr>
            <a:xfrm>
              <a:off x="3462122" y="5372100"/>
              <a:ext cx="2057400" cy="419292"/>
            </a:xfrm>
            <a:prstGeom prst="roundRect">
              <a:avLst>
                <a:gd name="adj" fmla="val 3600"/>
              </a:avLst>
            </a:prstGeom>
            <a:ln w="36000">
              <a:solidFill>
                <a:srgbClr val="00CCCC"/>
              </a:solidFill>
              <a:round/>
            </a:ln>
          </p:spPr>
        </p:sp>
        <mc:AlternateContent xmlns:mc="http://schemas.openxmlformats.org/markup-compatibility/2006" xmlns:a14="http://schemas.microsoft.com/office/drawing/2010/main">
          <mc:Choice Requires="a14">
            <p:sp>
              <p:nvSpPr>
                <p:cNvPr id="64" name="TextBox 63"/>
                <p:cNvSpPr txBox="1"/>
                <p:nvPr/>
              </p:nvSpPr>
              <p:spPr>
                <a:xfrm>
                  <a:off x="3462121" y="5420741"/>
                  <a:ext cx="2057400" cy="351744"/>
                </a:xfrm>
                <a:prstGeom prst="rect">
                  <a:avLst/>
                </a:prstGeom>
                <a:noFill/>
              </p:spPr>
              <p:txBody>
                <a:bodyPr wrap="square" rtlCol="0">
                  <a:spAutoFit/>
                </a:bodyPr>
                <a:lstStyle/>
                <a:p>
                  <a:pPr algn="ctr"/>
                  <a14:m>
                    <m:oMath xmlns:m="http://schemas.openxmlformats.org/officeDocument/2006/math">
                      <m:r>
                        <a:rPr lang="en-US" sz="1000" b="0" i="1" smtClean="0">
                          <a:latin typeface="Cambria Math"/>
                        </a:rPr>
                        <m:t>𝐼𝐶</m:t>
                      </m:r>
                      <m:r>
                        <a:rPr lang="en-US" sz="1000" b="0" i="1" smtClean="0">
                          <a:latin typeface="Cambria Math"/>
                        </a:rPr>
                        <m:t>,</m:t>
                      </m:r>
                    </m:oMath>
                  </a14:m>
                  <a:r>
                    <a:rPr lang="en-US" sz="1000" dirty="0">
                      <a:ea typeface="Cambria Math"/>
                    </a:rPr>
                    <a:t> </a:t>
                  </a:r>
                  <a14:m>
                    <m:oMath xmlns:m="http://schemas.openxmlformats.org/officeDocument/2006/math">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1</m:t>
                          </m:r>
                        </m:sub>
                        <m:sup/>
                      </m:sSubSup>
                    </m:oMath>
                  </a14:m>
                  <a:r>
                    <a:rPr lang="en-US" sz="1000" dirty="0" smtClean="0"/>
                    <a:t>,</a:t>
                  </a:r>
                  <a14:m>
                    <m:oMath xmlns:m="http://schemas.openxmlformats.org/officeDocument/2006/math">
                      <m:sSubSup>
                        <m:sSubSupPr>
                          <m:ctrlPr>
                            <a:rPr lang="en-US" sz="1000" i="1" smtClean="0">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2</m:t>
                          </m:r>
                        </m:sub>
                        <m:sup/>
                      </m:sSubSup>
                      <m:r>
                        <a:rPr lang="en-US" sz="1000" b="0" i="1" smtClean="0">
                          <a:latin typeface="Cambria Math"/>
                          <a:ea typeface="Cambria Math"/>
                        </a:rPr>
                        <m:t>,</m:t>
                      </m:r>
                      <m:sSubSup>
                        <m:sSubSupPr>
                          <m:ctrlPr>
                            <a:rPr lang="en-US" sz="1000" i="1">
                              <a:latin typeface="Cambria Math"/>
                              <a:ea typeface="Cambria Math"/>
                            </a:rPr>
                          </m:ctrlPr>
                        </m:sSubSupPr>
                        <m:e>
                          <m:r>
                            <a:rPr lang="en-US" sz="1000" b="0" i="1" smtClean="0">
                              <a:latin typeface="Cambria Math"/>
                              <a:ea typeface="Cambria Math"/>
                            </a:rPr>
                            <m:t>𝑓</m:t>
                          </m:r>
                        </m:e>
                        <m:sub>
                          <m:r>
                            <a:rPr lang="en-US" sz="1000" b="0" i="1" smtClean="0">
                              <a:latin typeface="Cambria Math"/>
                              <a:ea typeface="Cambria Math"/>
                            </a:rPr>
                            <m:t>3</m:t>
                          </m:r>
                        </m:sub>
                        <m:sup/>
                      </m:sSubSup>
                    </m:oMath>
                  </a14:m>
                  <a:endParaRPr lang="en-US" sz="1000" dirty="0"/>
                </a:p>
              </p:txBody>
            </p:sp>
          </mc:Choice>
          <mc:Fallback xmlns="">
            <p:sp>
              <p:nvSpPr>
                <p:cNvPr id="64" name="TextBox 63"/>
                <p:cNvSpPr txBox="1">
                  <a:spLocks noRot="1" noChangeAspect="1" noMove="1" noResize="1" noEditPoints="1" noAdjustHandles="1" noChangeArrowheads="1" noChangeShapeType="1" noTextEdit="1"/>
                </p:cNvSpPr>
                <p:nvPr/>
              </p:nvSpPr>
              <p:spPr>
                <a:xfrm>
                  <a:off x="3462121" y="5420741"/>
                  <a:ext cx="2057400" cy="351744"/>
                </a:xfrm>
                <a:prstGeom prst="rect">
                  <a:avLst/>
                </a:prstGeom>
                <a:blipFill rotWithShape="1">
                  <a:blip r:embed="rId4"/>
                  <a:stretch>
                    <a:fillRect b="-27778"/>
                  </a:stretch>
                </a:blipFill>
              </p:spPr>
              <p:txBody>
                <a:bodyPr/>
                <a:lstStyle/>
                <a:p>
                  <a:r>
                    <a:rPr lang="en-US">
                      <a:noFill/>
                    </a:rPr>
                    <a:t> </a:t>
                  </a:r>
                </a:p>
              </p:txBody>
            </p:sp>
          </mc:Fallback>
        </mc:AlternateContent>
        <p:cxnSp>
          <p:nvCxnSpPr>
            <p:cNvPr id="65" name="Straight Arrow Connector 64"/>
            <p:cNvCxnSpPr>
              <a:endCxn id="62" idx="0"/>
            </p:cNvCxnSpPr>
            <p:nvPr/>
          </p:nvCxnSpPr>
          <p:spPr>
            <a:xfrm>
              <a:off x="4483743" y="4525190"/>
              <a:ext cx="7078" cy="23731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a:stCxn id="62" idx="2"/>
              <a:endCxn id="63" idx="0"/>
            </p:cNvCxnSpPr>
            <p:nvPr/>
          </p:nvCxnSpPr>
          <p:spPr>
            <a:xfrm>
              <a:off x="4490821" y="5143500"/>
              <a:ext cx="1" cy="228600"/>
            </a:xfrm>
            <a:prstGeom prst="straightConnector1">
              <a:avLst/>
            </a:prstGeom>
            <a:ln w="22225">
              <a:solidFill>
                <a:srgbClr val="000000"/>
              </a:solidFill>
              <a:tailEnd type="arrow"/>
            </a:ln>
            <a:effectLst/>
          </p:spPr>
          <p:style>
            <a:lnRef idx="2">
              <a:schemeClr val="accent1"/>
            </a:lnRef>
            <a:fillRef idx="0">
              <a:schemeClr val="accent1"/>
            </a:fillRef>
            <a:effectRef idx="1">
              <a:schemeClr val="accent1"/>
            </a:effectRef>
            <a:fontRef idx="minor">
              <a:schemeClr val="tx1"/>
            </a:fontRef>
          </p:style>
        </p:cxnSp>
      </p:grpSp>
      <p:grpSp>
        <p:nvGrpSpPr>
          <p:cNvPr id="5" name="Group 4"/>
          <p:cNvGrpSpPr/>
          <p:nvPr/>
        </p:nvGrpSpPr>
        <p:grpSpPr>
          <a:xfrm>
            <a:off x="3886200" y="1659147"/>
            <a:ext cx="5019675" cy="2838450"/>
            <a:chOff x="3886200" y="304800"/>
            <a:chExt cx="5019675" cy="2838450"/>
          </a:xfrm>
        </p:grpSpPr>
        <p:pic>
          <p:nvPicPr>
            <p:cNvPr id="1028" name="Picture 4" descr="http://images.clipartpanda.com/book-20clip-20art-di855LndT.jpe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304800"/>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76" name="CustomShape 6"/>
            <p:cNvSpPr/>
            <p:nvPr/>
          </p:nvSpPr>
          <p:spPr>
            <a:xfrm>
              <a:off x="4419599" y="735499"/>
              <a:ext cx="256271" cy="264154"/>
            </a:xfrm>
            <a:prstGeom prst="roundRect">
              <a:avLst>
                <a:gd name="adj" fmla="val 3600"/>
              </a:avLst>
            </a:prstGeom>
            <a:ln w="36000">
              <a:solidFill>
                <a:srgbClr val="2323DC"/>
              </a:solidFill>
              <a:round/>
            </a:ln>
          </p:spPr>
        </p:sp>
        <p:sp>
          <p:nvSpPr>
            <p:cNvPr id="77" name="CustomShape 12"/>
            <p:cNvSpPr/>
            <p:nvPr/>
          </p:nvSpPr>
          <p:spPr>
            <a:xfrm>
              <a:off x="4748664" y="735499"/>
              <a:ext cx="256271" cy="264154"/>
            </a:xfrm>
            <a:prstGeom prst="roundRect">
              <a:avLst>
                <a:gd name="adj" fmla="val 3600"/>
              </a:avLst>
            </a:prstGeom>
            <a:ln w="36000">
              <a:solidFill>
                <a:srgbClr val="E6FF00"/>
              </a:solidFill>
              <a:round/>
            </a:ln>
          </p:spPr>
        </p:sp>
        <p:sp>
          <p:nvSpPr>
            <p:cNvPr id="78" name="CustomShape 20"/>
            <p:cNvSpPr/>
            <p:nvPr/>
          </p:nvSpPr>
          <p:spPr>
            <a:xfrm>
              <a:off x="5081135" y="735499"/>
              <a:ext cx="256271" cy="264154"/>
            </a:xfrm>
            <a:prstGeom prst="roundRect">
              <a:avLst>
                <a:gd name="adj" fmla="val 3600"/>
              </a:avLst>
            </a:prstGeom>
            <a:ln w="36000">
              <a:solidFill>
                <a:srgbClr val="FF420E"/>
              </a:solidFill>
              <a:round/>
            </a:ln>
          </p:spPr>
        </p:sp>
        <p:sp>
          <p:nvSpPr>
            <p:cNvPr id="79" name="CustomShape 20_"/>
            <p:cNvSpPr/>
            <p:nvPr/>
          </p:nvSpPr>
          <p:spPr>
            <a:xfrm>
              <a:off x="5413606" y="735499"/>
              <a:ext cx="256271" cy="264154"/>
            </a:xfrm>
            <a:prstGeom prst="roundRect">
              <a:avLst>
                <a:gd name="adj" fmla="val 3600"/>
              </a:avLst>
            </a:prstGeom>
            <a:ln w="36000">
              <a:solidFill>
                <a:srgbClr val="FF420E"/>
              </a:solidFill>
              <a:round/>
            </a:ln>
          </p:spPr>
        </p:sp>
        <p:sp>
          <p:nvSpPr>
            <p:cNvPr id="80" name="CustomShape 6_"/>
            <p:cNvSpPr/>
            <p:nvPr/>
          </p:nvSpPr>
          <p:spPr>
            <a:xfrm>
              <a:off x="5740400" y="735499"/>
              <a:ext cx="256271" cy="264154"/>
            </a:xfrm>
            <a:prstGeom prst="roundRect">
              <a:avLst>
                <a:gd name="adj" fmla="val 3600"/>
              </a:avLst>
            </a:prstGeom>
            <a:ln w="36000">
              <a:solidFill>
                <a:srgbClr val="00B0F0"/>
              </a:solidFill>
              <a:round/>
            </a:ln>
          </p:spPr>
        </p:sp>
        <p:sp>
          <p:nvSpPr>
            <p:cNvPr id="81" name="CustomShape 6__"/>
            <p:cNvSpPr/>
            <p:nvPr/>
          </p:nvSpPr>
          <p:spPr>
            <a:xfrm>
              <a:off x="4419599" y="1074124"/>
              <a:ext cx="256271" cy="264154"/>
            </a:xfrm>
            <a:prstGeom prst="roundRect">
              <a:avLst>
                <a:gd name="adj" fmla="val 3600"/>
              </a:avLst>
            </a:prstGeom>
            <a:ln w="36000">
              <a:solidFill>
                <a:srgbClr val="00B0F0"/>
              </a:solidFill>
              <a:round/>
            </a:ln>
          </p:spPr>
        </p:sp>
        <p:sp>
          <p:nvSpPr>
            <p:cNvPr id="82" name="CustomShape 12_"/>
            <p:cNvSpPr/>
            <p:nvPr/>
          </p:nvSpPr>
          <p:spPr>
            <a:xfrm>
              <a:off x="4748663" y="1085124"/>
              <a:ext cx="256271" cy="264154"/>
            </a:xfrm>
            <a:prstGeom prst="roundRect">
              <a:avLst>
                <a:gd name="adj" fmla="val 3600"/>
              </a:avLst>
            </a:prstGeom>
            <a:ln w="36000">
              <a:solidFill>
                <a:srgbClr val="E6FF00"/>
              </a:solidFill>
              <a:round/>
            </a:ln>
          </p:spPr>
        </p:sp>
        <p:sp>
          <p:nvSpPr>
            <p:cNvPr id="83" name="CustomShape 20__"/>
            <p:cNvSpPr/>
            <p:nvPr/>
          </p:nvSpPr>
          <p:spPr>
            <a:xfrm>
              <a:off x="5083405" y="1066395"/>
              <a:ext cx="256271" cy="264154"/>
            </a:xfrm>
            <a:prstGeom prst="roundRect">
              <a:avLst>
                <a:gd name="adj" fmla="val 3600"/>
              </a:avLst>
            </a:prstGeom>
            <a:ln w="36000">
              <a:solidFill>
                <a:srgbClr val="FF420E"/>
              </a:solidFill>
              <a:round/>
            </a:ln>
          </p:spPr>
        </p:sp>
        <p:sp>
          <p:nvSpPr>
            <p:cNvPr id="84" name="CustomShape 6___"/>
            <p:cNvSpPr/>
            <p:nvPr/>
          </p:nvSpPr>
          <p:spPr>
            <a:xfrm>
              <a:off x="5419956" y="1066395"/>
              <a:ext cx="256271" cy="264154"/>
            </a:xfrm>
            <a:prstGeom prst="roundRect">
              <a:avLst>
                <a:gd name="adj" fmla="val 3600"/>
              </a:avLst>
            </a:prstGeom>
            <a:ln w="36000">
              <a:solidFill>
                <a:srgbClr val="00B0F0"/>
              </a:solidFill>
              <a:round/>
            </a:ln>
          </p:spPr>
        </p:sp>
        <p:sp>
          <p:nvSpPr>
            <p:cNvPr id="85" name="CustomShape 20___"/>
            <p:cNvSpPr/>
            <p:nvPr/>
          </p:nvSpPr>
          <p:spPr>
            <a:xfrm>
              <a:off x="5740399" y="1065990"/>
              <a:ext cx="256271" cy="264154"/>
            </a:xfrm>
            <a:prstGeom prst="roundRect">
              <a:avLst>
                <a:gd name="adj" fmla="val 3600"/>
              </a:avLst>
            </a:prstGeom>
            <a:ln w="36000">
              <a:solidFill>
                <a:srgbClr val="FF420E"/>
              </a:solidFill>
              <a:round/>
            </a:ln>
          </p:spPr>
        </p:sp>
        <p:sp>
          <p:nvSpPr>
            <p:cNvPr id="94" name="CustomShape 6____"/>
            <p:cNvSpPr/>
            <p:nvPr/>
          </p:nvSpPr>
          <p:spPr>
            <a:xfrm>
              <a:off x="4419600" y="1412246"/>
              <a:ext cx="256271" cy="264154"/>
            </a:xfrm>
            <a:prstGeom prst="roundRect">
              <a:avLst>
                <a:gd name="adj" fmla="val 3600"/>
              </a:avLst>
            </a:prstGeom>
            <a:ln w="36000">
              <a:solidFill>
                <a:srgbClr val="2323DC"/>
              </a:solidFill>
              <a:round/>
            </a:ln>
          </p:spPr>
        </p:sp>
        <p:sp>
          <p:nvSpPr>
            <p:cNvPr id="95" name="CustomShape 12__"/>
            <p:cNvSpPr/>
            <p:nvPr/>
          </p:nvSpPr>
          <p:spPr>
            <a:xfrm>
              <a:off x="4748665" y="1412246"/>
              <a:ext cx="256271" cy="264154"/>
            </a:xfrm>
            <a:prstGeom prst="roundRect">
              <a:avLst>
                <a:gd name="adj" fmla="val 3600"/>
              </a:avLst>
            </a:prstGeom>
            <a:ln w="36000">
              <a:solidFill>
                <a:srgbClr val="E6FF00"/>
              </a:solidFill>
              <a:round/>
            </a:ln>
          </p:spPr>
        </p:sp>
        <p:sp>
          <p:nvSpPr>
            <p:cNvPr id="96" name="CustomShape 20____"/>
            <p:cNvSpPr/>
            <p:nvPr/>
          </p:nvSpPr>
          <p:spPr>
            <a:xfrm>
              <a:off x="5081136" y="1412246"/>
              <a:ext cx="256271" cy="264154"/>
            </a:xfrm>
            <a:prstGeom prst="roundRect">
              <a:avLst>
                <a:gd name="adj" fmla="val 3600"/>
              </a:avLst>
            </a:prstGeom>
            <a:ln w="36000">
              <a:solidFill>
                <a:srgbClr val="FF420E"/>
              </a:solidFill>
              <a:round/>
            </a:ln>
          </p:spPr>
        </p:sp>
        <p:sp>
          <p:nvSpPr>
            <p:cNvPr id="97" name="CustomShape 12___"/>
            <p:cNvSpPr/>
            <p:nvPr/>
          </p:nvSpPr>
          <p:spPr>
            <a:xfrm>
              <a:off x="5410200" y="1412246"/>
              <a:ext cx="256271" cy="264154"/>
            </a:xfrm>
            <a:prstGeom prst="roundRect">
              <a:avLst>
                <a:gd name="adj" fmla="val 3600"/>
              </a:avLst>
            </a:prstGeom>
            <a:ln w="36000">
              <a:solidFill>
                <a:srgbClr val="E6FF00"/>
              </a:solidFill>
              <a:round/>
            </a:ln>
          </p:spPr>
        </p:sp>
        <p:sp>
          <p:nvSpPr>
            <p:cNvPr id="98" name="CustomShape 20_____"/>
            <p:cNvSpPr/>
            <p:nvPr/>
          </p:nvSpPr>
          <p:spPr>
            <a:xfrm>
              <a:off x="5740188" y="1416513"/>
              <a:ext cx="256271" cy="264154"/>
            </a:xfrm>
            <a:prstGeom prst="roundRect">
              <a:avLst>
                <a:gd name="adj" fmla="val 3600"/>
              </a:avLst>
            </a:prstGeom>
            <a:ln w="36000">
              <a:solidFill>
                <a:srgbClr val="FF420E"/>
              </a:solidFill>
              <a:round/>
            </a:ln>
          </p:spPr>
        </p:sp>
        <p:sp>
          <p:nvSpPr>
            <p:cNvPr id="99" name="CustomShape 6_____"/>
            <p:cNvSpPr/>
            <p:nvPr/>
          </p:nvSpPr>
          <p:spPr>
            <a:xfrm>
              <a:off x="4419598" y="1756760"/>
              <a:ext cx="256271" cy="264154"/>
            </a:xfrm>
            <a:prstGeom prst="roundRect">
              <a:avLst>
                <a:gd name="adj" fmla="val 3600"/>
              </a:avLst>
            </a:prstGeom>
            <a:ln w="36000">
              <a:solidFill>
                <a:srgbClr val="00B0F0"/>
              </a:solidFill>
              <a:round/>
            </a:ln>
          </p:spPr>
        </p:sp>
        <p:sp>
          <p:nvSpPr>
            <p:cNvPr id="100" name="CustomShape 6______"/>
            <p:cNvSpPr/>
            <p:nvPr/>
          </p:nvSpPr>
          <p:spPr>
            <a:xfrm>
              <a:off x="4748662" y="1756760"/>
              <a:ext cx="256271" cy="264154"/>
            </a:xfrm>
            <a:prstGeom prst="roundRect">
              <a:avLst>
                <a:gd name="adj" fmla="val 3600"/>
              </a:avLst>
            </a:prstGeom>
            <a:ln w="36000">
              <a:solidFill>
                <a:srgbClr val="00B0F0"/>
              </a:solidFill>
              <a:round/>
            </a:ln>
          </p:spPr>
        </p:sp>
        <p:sp>
          <p:nvSpPr>
            <p:cNvPr id="4" name="TextBox 3"/>
            <p:cNvSpPr txBox="1"/>
            <p:nvPr/>
          </p:nvSpPr>
          <p:spPr>
            <a:xfrm>
              <a:off x="5029200" y="1676400"/>
              <a:ext cx="1014865" cy="369332"/>
            </a:xfrm>
            <a:prstGeom prst="rect">
              <a:avLst/>
            </a:prstGeom>
            <a:noFill/>
          </p:spPr>
          <p:txBody>
            <a:bodyPr wrap="square" rtlCol="0">
              <a:spAutoFit/>
            </a:bodyPr>
            <a:lstStyle/>
            <a:p>
              <a:r>
                <a:rPr lang="en-US" dirty="0" smtClean="0"/>
                <a:t>… … … …</a:t>
              </a:r>
              <a:endParaRPr lang="en-US" dirty="0"/>
            </a:p>
          </p:txBody>
        </p:sp>
        <p:sp>
          <p:nvSpPr>
            <p:cNvPr id="101" name="TextBox 100"/>
            <p:cNvSpPr txBox="1"/>
            <p:nvPr/>
          </p:nvSpPr>
          <p:spPr>
            <a:xfrm>
              <a:off x="4343400" y="1992868"/>
              <a:ext cx="2052637" cy="369332"/>
            </a:xfrm>
            <a:prstGeom prst="rect">
              <a:avLst/>
            </a:prstGeom>
            <a:noFill/>
          </p:spPr>
          <p:txBody>
            <a:bodyPr wrap="square" rtlCol="0">
              <a:spAutoFit/>
            </a:bodyPr>
            <a:lstStyle/>
            <a:p>
              <a:r>
                <a:rPr lang="en-US" dirty="0" smtClean="0"/>
                <a:t>… … … … … … … …</a:t>
              </a:r>
              <a:endParaRPr lang="en-US" dirty="0"/>
            </a:p>
          </p:txBody>
        </p:sp>
        <p:sp>
          <p:nvSpPr>
            <p:cNvPr id="103" name="TextBox 102"/>
            <p:cNvSpPr txBox="1"/>
            <p:nvPr/>
          </p:nvSpPr>
          <p:spPr>
            <a:xfrm>
              <a:off x="6396037" y="777286"/>
              <a:ext cx="2052637" cy="369332"/>
            </a:xfrm>
            <a:prstGeom prst="rect">
              <a:avLst/>
            </a:prstGeom>
            <a:noFill/>
          </p:spPr>
          <p:txBody>
            <a:bodyPr wrap="square" rtlCol="0">
              <a:spAutoFit/>
            </a:bodyPr>
            <a:lstStyle/>
            <a:p>
              <a:r>
                <a:rPr lang="en-US" dirty="0" smtClean="0"/>
                <a:t>… … … … … … … …</a:t>
              </a:r>
              <a:endParaRPr lang="en-US" dirty="0"/>
            </a:p>
          </p:txBody>
        </p:sp>
        <p:sp>
          <p:nvSpPr>
            <p:cNvPr id="104" name="TextBox 103"/>
            <p:cNvSpPr txBox="1"/>
            <p:nvPr/>
          </p:nvSpPr>
          <p:spPr>
            <a:xfrm>
              <a:off x="6396037" y="1131046"/>
              <a:ext cx="2052637" cy="369332"/>
            </a:xfrm>
            <a:prstGeom prst="rect">
              <a:avLst/>
            </a:prstGeom>
            <a:noFill/>
          </p:spPr>
          <p:txBody>
            <a:bodyPr wrap="square" rtlCol="0">
              <a:spAutoFit/>
            </a:bodyPr>
            <a:lstStyle/>
            <a:p>
              <a:r>
                <a:rPr lang="en-US" dirty="0" smtClean="0"/>
                <a:t>… … … … … … … …</a:t>
              </a:r>
              <a:endParaRPr lang="en-US" dirty="0"/>
            </a:p>
          </p:txBody>
        </p:sp>
        <p:sp>
          <p:nvSpPr>
            <p:cNvPr id="105" name="TextBox 104"/>
            <p:cNvSpPr txBox="1"/>
            <p:nvPr/>
          </p:nvSpPr>
          <p:spPr>
            <a:xfrm>
              <a:off x="6396037" y="1544323"/>
              <a:ext cx="2052637" cy="369332"/>
            </a:xfrm>
            <a:prstGeom prst="rect">
              <a:avLst/>
            </a:prstGeom>
            <a:noFill/>
          </p:spPr>
          <p:txBody>
            <a:bodyPr wrap="square" rtlCol="0">
              <a:spAutoFit/>
            </a:bodyPr>
            <a:lstStyle/>
            <a:p>
              <a:r>
                <a:rPr lang="en-US" dirty="0" smtClean="0"/>
                <a:t>… … … … … … … …</a:t>
              </a:r>
              <a:endParaRPr lang="en-US" dirty="0"/>
            </a:p>
          </p:txBody>
        </p:sp>
        <p:sp>
          <p:nvSpPr>
            <p:cNvPr id="106" name="CustomShape 20______"/>
            <p:cNvSpPr/>
            <p:nvPr/>
          </p:nvSpPr>
          <p:spPr>
            <a:xfrm>
              <a:off x="6553200" y="1973251"/>
              <a:ext cx="256271" cy="264154"/>
            </a:xfrm>
            <a:prstGeom prst="roundRect">
              <a:avLst>
                <a:gd name="adj" fmla="val 3600"/>
              </a:avLst>
            </a:prstGeom>
            <a:ln w="36000">
              <a:solidFill>
                <a:srgbClr val="FF420E"/>
              </a:solidFill>
              <a:round/>
            </a:ln>
          </p:spPr>
        </p:sp>
        <p:sp>
          <p:nvSpPr>
            <p:cNvPr id="107" name="CustomShape 12____"/>
            <p:cNvSpPr/>
            <p:nvPr/>
          </p:nvSpPr>
          <p:spPr>
            <a:xfrm>
              <a:off x="6934200" y="1973251"/>
              <a:ext cx="256271" cy="264154"/>
            </a:xfrm>
            <a:prstGeom prst="roundRect">
              <a:avLst>
                <a:gd name="adj" fmla="val 3600"/>
              </a:avLst>
            </a:prstGeom>
            <a:ln w="36000">
              <a:solidFill>
                <a:srgbClr val="E6FF00"/>
              </a:solidFill>
              <a:round/>
            </a:ln>
          </p:spPr>
        </p:sp>
        <p:sp>
          <p:nvSpPr>
            <p:cNvPr id="108" name="CustomShape 6_______"/>
            <p:cNvSpPr/>
            <p:nvPr/>
          </p:nvSpPr>
          <p:spPr>
            <a:xfrm>
              <a:off x="7294219" y="1968829"/>
              <a:ext cx="256271" cy="264154"/>
            </a:xfrm>
            <a:prstGeom prst="roundRect">
              <a:avLst>
                <a:gd name="adj" fmla="val 3600"/>
              </a:avLst>
            </a:prstGeom>
            <a:ln w="36000">
              <a:solidFill>
                <a:srgbClr val="00B0F0"/>
              </a:solidFill>
              <a:round/>
            </a:ln>
          </p:spPr>
        </p:sp>
        <p:sp>
          <p:nvSpPr>
            <p:cNvPr id="109" name="CustomShape 6________"/>
            <p:cNvSpPr/>
            <p:nvPr/>
          </p:nvSpPr>
          <p:spPr>
            <a:xfrm>
              <a:off x="7702890" y="1968829"/>
              <a:ext cx="256271" cy="264154"/>
            </a:xfrm>
            <a:prstGeom prst="roundRect">
              <a:avLst>
                <a:gd name="adj" fmla="val 3600"/>
              </a:avLst>
            </a:prstGeom>
            <a:ln w="36000">
              <a:solidFill>
                <a:srgbClr val="00B0F0"/>
              </a:solidFill>
              <a:round/>
            </a:ln>
          </p:spPr>
        </p:sp>
      </p:grpSp>
    </p:spTree>
    <p:extLst>
      <p:ext uri="{BB962C8B-B14F-4D97-AF65-F5344CB8AC3E}">
        <p14:creationId xmlns:p14="http://schemas.microsoft.com/office/powerpoint/2010/main" val="4261051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flipH="1">
            <a:off x="2590800" y="2449622"/>
            <a:ext cx="3603635" cy="1436578"/>
            <a:chOff x="901767" y="2057400"/>
            <a:chExt cx="6714579" cy="2544019"/>
          </a:xfrm>
        </p:grpSpPr>
        <p:sp>
          <p:nvSpPr>
            <p:cNvPr id="6" name="Rectangle 5"/>
            <p:cNvSpPr/>
            <p:nvPr/>
          </p:nvSpPr>
          <p:spPr>
            <a:xfrm>
              <a:off x="3031495" y="2491264"/>
              <a:ext cx="1965505" cy="1547337"/>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7" name="Group 6"/>
            <p:cNvGrpSpPr/>
            <p:nvPr/>
          </p:nvGrpSpPr>
          <p:grpSpPr>
            <a:xfrm>
              <a:off x="3371243" y="2971543"/>
              <a:ext cx="1591182" cy="591768"/>
              <a:chOff x="3431442" y="2895600"/>
              <a:chExt cx="1591182" cy="591768"/>
            </a:xfrm>
          </p:grpSpPr>
          <p:grpSp>
            <p:nvGrpSpPr>
              <p:cNvPr id="32" name="Group 31"/>
              <p:cNvGrpSpPr/>
              <p:nvPr/>
            </p:nvGrpSpPr>
            <p:grpSpPr>
              <a:xfrm>
                <a:off x="3431442" y="2895600"/>
                <a:ext cx="647741" cy="591768"/>
                <a:chOff x="3431443" y="2895085"/>
                <a:chExt cx="647741" cy="591768"/>
              </a:xfrm>
            </p:grpSpPr>
            <p:sp>
              <p:nvSpPr>
                <p:cNvPr id="36" name="Oval 35"/>
                <p:cNvSpPr/>
                <p:nvPr/>
              </p:nvSpPr>
              <p:spPr>
                <a:xfrm>
                  <a:off x="3621984" y="2895085"/>
                  <a:ext cx="304801"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p:cNvSpPr txBox="1"/>
                    <p:nvPr/>
                  </p:nvSpPr>
                  <p:spPr>
                    <a:xfrm>
                      <a:off x="3431443" y="3105339"/>
                      <a:ext cx="647741"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𝑍</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9" name="TextBox 38"/>
                    <p:cNvSpPr txBox="1">
                      <a:spLocks noRot="1" noChangeAspect="1" noMove="1" noResize="1" noEditPoints="1" noAdjustHandles="1" noChangeArrowheads="1" noChangeShapeType="1" noTextEdit="1"/>
                    </p:cNvSpPr>
                    <p:nvPr/>
                  </p:nvSpPr>
                  <p:spPr>
                    <a:xfrm>
                      <a:off x="3431443" y="3105339"/>
                      <a:ext cx="647741" cy="381514"/>
                    </a:xfrm>
                    <a:prstGeom prst="rect">
                      <a:avLst/>
                    </a:prstGeom>
                    <a:blipFill rotWithShape="1">
                      <a:blip r:embed="rId5"/>
                      <a:stretch>
                        <a:fillRect r="-50877" b="-74286"/>
                      </a:stretch>
                    </a:blipFill>
                  </p:spPr>
                  <p:txBody>
                    <a:bodyPr/>
                    <a:lstStyle/>
                    <a:p>
                      <a:r>
                        <a:rPr lang="en-US">
                          <a:noFill/>
                        </a:rPr>
                        <a:t> </a:t>
                      </a:r>
                    </a:p>
                  </p:txBody>
                </p:sp>
              </mc:Fallback>
            </mc:AlternateContent>
          </p:grpSp>
          <p:grpSp>
            <p:nvGrpSpPr>
              <p:cNvPr id="33" name="Group 32"/>
              <p:cNvGrpSpPr/>
              <p:nvPr/>
            </p:nvGrpSpPr>
            <p:grpSpPr>
              <a:xfrm>
                <a:off x="4315444" y="2895600"/>
                <a:ext cx="707180" cy="591254"/>
                <a:chOff x="4315444" y="2895600"/>
                <a:chExt cx="707180" cy="591254"/>
              </a:xfrm>
            </p:grpSpPr>
            <p:sp>
              <p:nvSpPr>
                <p:cNvPr id="34" name="Oval 33"/>
                <p:cNvSpPr/>
                <p:nvPr/>
              </p:nvSpPr>
              <p:spPr>
                <a:xfrm>
                  <a:off x="4509736" y="2895600"/>
                  <a:ext cx="304799" cy="304799"/>
                </a:xfrm>
                <a:prstGeom prst="ellipse">
                  <a:avLst/>
                </a:prstGeom>
                <a:pattFill prst="pct50">
                  <a:fgClr>
                    <a:schemeClr val="tx2"/>
                  </a:fgClr>
                  <a:bgClr>
                    <a:schemeClr val="tx2">
                      <a:lumMod val="50000"/>
                    </a:schemeClr>
                  </a:bgClr>
                </a:pattFill>
                <a:ln>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TextBox 34"/>
                    <p:cNvSpPr txBox="1"/>
                    <p:nvPr/>
                  </p:nvSpPr>
                  <p:spPr>
                    <a:xfrm>
                      <a:off x="4315444" y="3105340"/>
                      <a:ext cx="707180" cy="3815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b="0" i="1" smtClean="0">
                                    <a:solidFill>
                                      <a:srgbClr val="000000"/>
                                    </a:solidFill>
                                    <a:latin typeface="Cambria Math"/>
                                  </a:rPr>
                                  <m:t>𝑊</m:t>
                                </m:r>
                              </m:e>
                              <m:sub>
                                <m:r>
                                  <a:rPr lang="en-US" b="0" i="1" smtClean="0">
                                    <a:solidFill>
                                      <a:srgbClr val="000000"/>
                                    </a:solidFill>
                                    <a:latin typeface="Cambria Math"/>
                                  </a:rPr>
                                  <m:t>𝑑</m:t>
                                </m:r>
                                <m:r>
                                  <a:rPr lang="en-US" b="0" i="1" smtClean="0">
                                    <a:solidFill>
                                      <a:srgbClr val="000000"/>
                                    </a:solidFill>
                                    <a:latin typeface="Cambria Math"/>
                                  </a:rPr>
                                  <m:t>,</m:t>
                                </m:r>
                                <m:r>
                                  <a:rPr lang="en-US" b="0" i="1" smtClean="0">
                                    <a:solidFill>
                                      <a:srgbClr val="000000"/>
                                    </a:solidFill>
                                    <a:latin typeface="Cambria Math"/>
                                  </a:rPr>
                                  <m:t>𝑛</m:t>
                                </m:r>
                              </m:sub>
                            </m:sSub>
                          </m:oMath>
                        </m:oMathPara>
                      </a14:m>
                      <a:endParaRPr lang="en-US" dirty="0">
                        <a:solidFill>
                          <a:srgbClr val="000000"/>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4315444" y="3105340"/>
                      <a:ext cx="707180" cy="381514"/>
                    </a:xfrm>
                    <a:prstGeom prst="rect">
                      <a:avLst/>
                    </a:prstGeom>
                    <a:blipFill rotWithShape="1">
                      <a:blip r:embed="rId6"/>
                      <a:stretch>
                        <a:fillRect r="-54839" b="-74286"/>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8" name="TextBox 7"/>
                <p:cNvSpPr txBox="1"/>
                <p:nvPr/>
              </p:nvSpPr>
              <p:spPr>
                <a:xfrm>
                  <a:off x="3126720" y="3659386"/>
                  <a:ext cx="472703" cy="463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100" b="0" i="1" smtClean="0">
                                <a:solidFill>
                                  <a:srgbClr val="000000"/>
                                </a:solidFill>
                                <a:latin typeface="Cambria Math"/>
                              </a:rPr>
                            </m:ctrlPr>
                          </m:sSubPr>
                          <m:e>
                            <m:r>
                              <a:rPr lang="en-US" sz="1100" b="0" i="1" smtClean="0">
                                <a:solidFill>
                                  <a:srgbClr val="000000"/>
                                </a:solidFill>
                                <a:latin typeface="Cambria Math"/>
                              </a:rPr>
                              <m:t>𝑁</m:t>
                            </m:r>
                          </m:e>
                          <m:sub>
                            <m:r>
                              <a:rPr lang="en-US" sz="1100" b="0" i="1" smtClean="0">
                                <a:solidFill>
                                  <a:srgbClr val="000000"/>
                                </a:solidFill>
                                <a:latin typeface="Cambria Math"/>
                              </a:rPr>
                              <m:t>𝑑</m:t>
                            </m:r>
                          </m:sub>
                        </m:sSub>
                      </m:oMath>
                    </m:oMathPara>
                  </a14:m>
                  <a:endParaRPr lang="en-US" sz="1100" dirty="0">
                    <a:solidFill>
                      <a:srgbClr val="000000"/>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3126720" y="3659386"/>
                  <a:ext cx="472703" cy="463282"/>
                </a:xfrm>
                <a:prstGeom prst="rect">
                  <a:avLst/>
                </a:prstGeom>
                <a:blipFill rotWithShape="1">
                  <a:blip r:embed="rId7"/>
                  <a:stretch>
                    <a:fillRect r="-11905"/>
                  </a:stretch>
                </a:blipFill>
              </p:spPr>
              <p:txBody>
                <a:bodyPr/>
                <a:lstStyle/>
                <a:p>
                  <a:r>
                    <a:rPr lang="en-US">
                      <a:noFill/>
                    </a:rPr>
                    <a:t> </a:t>
                  </a:r>
                </a:p>
              </p:txBody>
            </p:sp>
          </mc:Fallback>
        </mc:AlternateContent>
        <p:grpSp>
          <p:nvGrpSpPr>
            <p:cNvPr id="9" name="Group 8"/>
            <p:cNvGrpSpPr/>
            <p:nvPr/>
          </p:nvGrpSpPr>
          <p:grpSpPr>
            <a:xfrm>
              <a:off x="1715973" y="2057400"/>
              <a:ext cx="3922828" cy="2532351"/>
              <a:chOff x="1480603" y="2057400"/>
              <a:chExt cx="4158197" cy="2532351"/>
            </a:xfrm>
          </p:grpSpPr>
          <mc:AlternateContent xmlns:mc="http://schemas.openxmlformats.org/markup-compatibility/2006" xmlns:a14="http://schemas.microsoft.com/office/drawing/2010/main">
            <mc:Choice Requires="a14">
              <p:sp>
                <p:nvSpPr>
                  <p:cNvPr id="30" name="TextBox 29"/>
                  <p:cNvSpPr txBox="1"/>
                  <p:nvPr/>
                </p:nvSpPr>
                <p:spPr>
                  <a:xfrm>
                    <a:off x="1480603" y="4126469"/>
                    <a:ext cx="641949"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𝐷</m:t>
                          </m:r>
                        </m:oMath>
                      </m:oMathPara>
                    </a14:m>
                    <a:endParaRPr lang="en-US" sz="1100" dirty="0">
                      <a:solidFill>
                        <a:srgbClr val="000000"/>
                      </a:solidFill>
                    </a:endParaRPr>
                  </a:p>
                </p:txBody>
              </p:sp>
            </mc:Choice>
            <mc:Fallback xmlns="">
              <p:sp>
                <p:nvSpPr>
                  <p:cNvPr id="32" name="TextBox 31"/>
                  <p:cNvSpPr txBox="1">
                    <a:spLocks noRot="1" noChangeAspect="1" noMove="1" noResize="1" noEditPoints="1" noAdjustHandles="1" noChangeArrowheads="1" noChangeShapeType="1" noTextEdit="1"/>
                  </p:cNvSpPr>
                  <p:nvPr/>
                </p:nvSpPr>
                <p:spPr>
                  <a:xfrm>
                    <a:off x="1480603" y="4126469"/>
                    <a:ext cx="641949" cy="463282"/>
                  </a:xfrm>
                  <a:prstGeom prst="rect">
                    <a:avLst/>
                  </a:prstGeom>
                  <a:blipFill rotWithShape="1">
                    <a:blip r:embed="rId8"/>
                    <a:stretch>
                      <a:fillRect/>
                    </a:stretch>
                  </a:blipFill>
                </p:spPr>
                <p:txBody>
                  <a:bodyPr/>
                  <a:lstStyle/>
                  <a:p>
                    <a:r>
                      <a:rPr lang="en-US">
                        <a:noFill/>
                      </a:rPr>
                      <a:t> </a:t>
                    </a:r>
                  </a:p>
                </p:txBody>
              </p:sp>
            </mc:Fallback>
          </mc:AlternateContent>
          <p:sp>
            <p:nvSpPr>
              <p:cNvPr id="31" name="Rectangle 30"/>
              <p:cNvSpPr/>
              <p:nvPr/>
            </p:nvSpPr>
            <p:spPr>
              <a:xfrm>
                <a:off x="1600200" y="2057400"/>
                <a:ext cx="4038600" cy="243840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2362200" y="2971543"/>
              <a:ext cx="492764" cy="579585"/>
              <a:chOff x="2362200" y="2971543"/>
              <a:chExt cx="492764" cy="579585"/>
            </a:xfrm>
          </p:grpSpPr>
          <p:sp>
            <p:nvSpPr>
              <p:cNvPr id="28" name="Oval 27"/>
              <p:cNvSpPr/>
              <p:nvPr/>
            </p:nvSpPr>
            <p:spPr>
              <a:xfrm>
                <a:off x="24384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p:cNvSpPr txBox="1"/>
                  <p:nvPr/>
                </p:nvSpPr>
                <p:spPr>
                  <a:xfrm>
                    <a:off x="2362200" y="3181795"/>
                    <a:ext cx="492764"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smtClean="0">
                                  <a:solidFill>
                                    <a:srgbClr val="000000"/>
                                  </a:solidFill>
                                  <a:latin typeface="Cambria Math"/>
                                  <a:ea typeface="Cambria Math"/>
                                </a:rPr>
                                <m:t>𝜃</m:t>
                              </m:r>
                            </m:e>
                            <m:sub>
                              <m:r>
                                <a:rPr lang="en-US" b="0" i="1" smtClean="0">
                                  <a:solidFill>
                                    <a:srgbClr val="000000"/>
                                  </a:solidFill>
                                  <a:latin typeface="Cambria Math"/>
                                </a:rPr>
                                <m:t>𝑑</m:t>
                              </m:r>
                            </m:sub>
                          </m:sSub>
                        </m:oMath>
                      </m:oMathPara>
                    </a14:m>
                    <a:endParaRPr lang="en-US" dirty="0">
                      <a:solidFill>
                        <a:srgbClr val="000000"/>
                      </a:solidFill>
                    </a:endParaRPr>
                  </a:p>
                </p:txBody>
              </p:sp>
            </mc:Choice>
            <mc:Fallback xmlns="">
              <p:sp>
                <p:nvSpPr>
                  <p:cNvPr id="31" name="TextBox 30"/>
                  <p:cNvSpPr txBox="1">
                    <a:spLocks noRot="1" noChangeAspect="1" noMove="1" noResize="1" noEditPoints="1" noAdjustHandles="1" noChangeArrowheads="1" noChangeShapeType="1" noTextEdit="1"/>
                  </p:cNvSpPr>
                  <p:nvPr/>
                </p:nvSpPr>
                <p:spPr>
                  <a:xfrm>
                    <a:off x="2362200" y="3181795"/>
                    <a:ext cx="492764" cy="369333"/>
                  </a:xfrm>
                  <a:prstGeom prst="rect">
                    <a:avLst/>
                  </a:prstGeom>
                  <a:blipFill rotWithShape="1">
                    <a:blip r:embed="rId9"/>
                    <a:stretch>
                      <a:fillRect r="-46512" b="-79412"/>
                    </a:stretch>
                  </a:blipFill>
                </p:spPr>
                <p:txBody>
                  <a:bodyPr/>
                  <a:lstStyle/>
                  <a:p>
                    <a:r>
                      <a:rPr lang="en-US">
                        <a:noFill/>
                      </a:rPr>
                      <a:t> </a:t>
                    </a:r>
                  </a:p>
                </p:txBody>
              </p:sp>
            </mc:Fallback>
          </mc:AlternateContent>
        </p:grpSp>
        <p:cxnSp>
          <p:nvCxnSpPr>
            <p:cNvPr id="11" name="Straight Arrow Connector 10"/>
            <p:cNvCxnSpPr>
              <a:stCxn id="28" idx="6"/>
              <a:endCxn id="36" idx="2"/>
            </p:cNvCxnSpPr>
            <p:nvPr/>
          </p:nvCxnSpPr>
          <p:spPr>
            <a:xfrm>
              <a:off x="2743199" y="3123944"/>
              <a:ext cx="81858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a:stCxn id="36" idx="6"/>
              <a:endCxn id="34" idx="2"/>
            </p:cNvCxnSpPr>
            <p:nvPr/>
          </p:nvCxnSpPr>
          <p:spPr>
            <a:xfrm>
              <a:off x="3866584" y="3123944"/>
              <a:ext cx="582953"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p:nvGrpSpPr>
          <p:grpSpPr>
            <a:xfrm>
              <a:off x="6155096" y="2971543"/>
              <a:ext cx="490647" cy="579585"/>
              <a:chOff x="6155096" y="2971543"/>
              <a:chExt cx="490647" cy="579585"/>
            </a:xfrm>
          </p:grpSpPr>
          <p:sp>
            <p:nvSpPr>
              <p:cNvPr id="26" name="Oval 25"/>
              <p:cNvSpPr/>
              <p:nvPr/>
            </p:nvSpPr>
            <p:spPr>
              <a:xfrm>
                <a:off x="6231297" y="2971543"/>
                <a:ext cx="304799"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Box 26"/>
                  <p:cNvSpPr txBox="1"/>
                  <p:nvPr/>
                </p:nvSpPr>
                <p:spPr>
                  <a:xfrm>
                    <a:off x="6155096" y="3181795"/>
                    <a:ext cx="490647"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000000"/>
                                  </a:solidFill>
                                  <a:latin typeface="Cambria Math"/>
                                </a:rPr>
                              </m:ctrlPr>
                            </m:sSubPr>
                            <m:e>
                              <m:r>
                                <a:rPr lang="en-US" i="1">
                                  <a:solidFill>
                                    <a:srgbClr val="000000"/>
                                  </a:solidFill>
                                  <a:latin typeface="Cambria Math"/>
                                  <a:ea typeface="Cambria Math"/>
                                </a:rPr>
                                <m:t>𝛽</m:t>
                              </m:r>
                            </m:e>
                            <m:sub>
                              <m:r>
                                <a:rPr lang="en-US" b="0" i="1" smtClean="0">
                                  <a:solidFill>
                                    <a:srgbClr val="000000"/>
                                  </a:solidFill>
                                  <a:latin typeface="Cambria Math"/>
                                </a:rPr>
                                <m:t>𝑘</m:t>
                              </m:r>
                            </m:sub>
                          </m:sSub>
                        </m:oMath>
                      </m:oMathPara>
                    </a14:m>
                    <a:endParaRPr lang="en-US" dirty="0">
                      <a:solidFill>
                        <a:srgbClr val="000000"/>
                      </a:solidFill>
                    </a:endParaRPr>
                  </a:p>
                </p:txBody>
              </p:sp>
            </mc:Choice>
            <mc:Fallback xmlns="">
              <p:sp>
                <p:nvSpPr>
                  <p:cNvPr id="29" name="TextBox 28"/>
                  <p:cNvSpPr txBox="1">
                    <a:spLocks noRot="1" noChangeAspect="1" noMove="1" noResize="1" noEditPoints="1" noAdjustHandles="1" noChangeArrowheads="1" noChangeShapeType="1" noTextEdit="1"/>
                  </p:cNvSpPr>
                  <p:nvPr/>
                </p:nvSpPr>
                <p:spPr>
                  <a:xfrm>
                    <a:off x="6155096" y="3181795"/>
                    <a:ext cx="490647" cy="369333"/>
                  </a:xfrm>
                  <a:prstGeom prst="rect">
                    <a:avLst/>
                  </a:prstGeom>
                  <a:blipFill rotWithShape="1">
                    <a:blip r:embed="rId10"/>
                    <a:stretch>
                      <a:fillRect l="-6977" r="-46512" b="-102941"/>
                    </a:stretch>
                  </a:blipFill>
                </p:spPr>
                <p:txBody>
                  <a:bodyPr/>
                  <a:lstStyle/>
                  <a:p>
                    <a:r>
                      <a:rPr lang="en-US">
                        <a:noFill/>
                      </a:rPr>
                      <a:t> </a:t>
                    </a:r>
                  </a:p>
                </p:txBody>
              </p:sp>
            </mc:Fallback>
          </mc:AlternateContent>
        </p:grpSp>
        <p:cxnSp>
          <p:nvCxnSpPr>
            <p:cNvPr id="14" name="Straight Arrow Connector 13"/>
            <p:cNvCxnSpPr>
              <a:stCxn id="26" idx="2"/>
              <a:endCxn id="34" idx="6"/>
            </p:cNvCxnSpPr>
            <p:nvPr/>
          </p:nvCxnSpPr>
          <p:spPr>
            <a:xfrm flipH="1">
              <a:off x="4754336" y="3123944"/>
              <a:ext cx="1476962"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5" name="Group 14"/>
            <p:cNvGrpSpPr/>
            <p:nvPr/>
          </p:nvGrpSpPr>
          <p:grpSpPr>
            <a:xfrm>
              <a:off x="7239000" y="2971543"/>
              <a:ext cx="377346" cy="579585"/>
              <a:chOff x="7315200" y="2971543"/>
              <a:chExt cx="377346" cy="579585"/>
            </a:xfrm>
          </p:grpSpPr>
          <p:sp>
            <p:nvSpPr>
              <p:cNvPr id="24" name="Oval 23"/>
              <p:cNvSpPr/>
              <p:nvPr/>
            </p:nvSpPr>
            <p:spPr>
              <a:xfrm>
                <a:off x="7351473"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p:cNvSpPr txBox="1"/>
                  <p:nvPr/>
                </p:nvSpPr>
                <p:spPr>
                  <a:xfrm>
                    <a:off x="7315200" y="3181795"/>
                    <a:ext cx="377346"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𝜂</m:t>
                          </m:r>
                        </m:oMath>
                      </m:oMathPara>
                    </a14:m>
                    <a:endParaRPr lang="en-US" dirty="0">
                      <a:solidFill>
                        <a:srgbClr val="000000"/>
                      </a:solidFill>
                    </a:endParaRPr>
                  </a:p>
                </p:txBody>
              </p:sp>
            </mc:Choice>
            <mc:Fallback xmlns="">
              <p:sp>
                <p:nvSpPr>
                  <p:cNvPr id="27" name="TextBox 26"/>
                  <p:cNvSpPr txBox="1">
                    <a:spLocks noRot="1" noChangeAspect="1" noMove="1" noResize="1" noEditPoints="1" noAdjustHandles="1" noChangeArrowheads="1" noChangeShapeType="1" noTextEdit="1"/>
                  </p:cNvSpPr>
                  <p:nvPr/>
                </p:nvSpPr>
                <p:spPr>
                  <a:xfrm>
                    <a:off x="7315200" y="3181795"/>
                    <a:ext cx="377346" cy="369333"/>
                  </a:xfrm>
                  <a:prstGeom prst="rect">
                    <a:avLst/>
                  </a:prstGeom>
                  <a:blipFill rotWithShape="1">
                    <a:blip r:embed="rId11"/>
                    <a:stretch>
                      <a:fillRect r="-47059" b="-91176"/>
                    </a:stretch>
                  </a:blipFill>
                </p:spPr>
                <p:txBody>
                  <a:bodyPr/>
                  <a:lstStyle/>
                  <a:p>
                    <a:r>
                      <a:rPr lang="en-US">
                        <a:noFill/>
                      </a:rPr>
                      <a:t> </a:t>
                    </a:r>
                  </a:p>
                </p:txBody>
              </p:sp>
            </mc:Fallback>
          </mc:AlternateContent>
        </p:grpSp>
        <p:cxnSp>
          <p:nvCxnSpPr>
            <p:cNvPr id="16" name="Straight Arrow Connector 15"/>
            <p:cNvCxnSpPr>
              <a:stCxn id="24" idx="2"/>
              <a:endCxn id="26" idx="6"/>
            </p:cNvCxnSpPr>
            <p:nvPr/>
          </p:nvCxnSpPr>
          <p:spPr>
            <a:xfrm flipH="1">
              <a:off x="6536097" y="3123944"/>
              <a:ext cx="739178"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7" name="Group 16"/>
            <p:cNvGrpSpPr/>
            <p:nvPr/>
          </p:nvGrpSpPr>
          <p:grpSpPr>
            <a:xfrm>
              <a:off x="5691108" y="2057400"/>
              <a:ext cx="1090692" cy="2544019"/>
              <a:chOff x="5691108" y="2057400"/>
              <a:chExt cx="1090692" cy="2544019"/>
            </a:xfrm>
          </p:grpSpPr>
          <p:sp>
            <p:nvSpPr>
              <p:cNvPr id="22" name="Rectangle 21"/>
              <p:cNvSpPr/>
              <p:nvPr/>
            </p:nvSpPr>
            <p:spPr>
              <a:xfrm>
                <a:off x="5867399" y="2057400"/>
                <a:ext cx="914401" cy="2446020"/>
              </a:xfrm>
              <a:prstGeom prst="rect">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p:cNvSpPr txBox="1"/>
                  <p:nvPr/>
                </p:nvSpPr>
                <p:spPr>
                  <a:xfrm>
                    <a:off x="5691108" y="4138137"/>
                    <a:ext cx="605970" cy="4632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100" b="0" i="1" smtClean="0">
                              <a:solidFill>
                                <a:srgbClr val="000000"/>
                              </a:solidFill>
                              <a:latin typeface="Cambria Math"/>
                            </a:rPr>
                            <m:t>𝐾</m:t>
                          </m:r>
                        </m:oMath>
                      </m:oMathPara>
                    </a14:m>
                    <a:endParaRPr lang="en-US" sz="1100" dirty="0">
                      <a:solidFill>
                        <a:srgbClr val="000000"/>
                      </a:solidFill>
                    </a:endParaRPr>
                  </a:p>
                </p:txBody>
              </p:sp>
            </mc:Choice>
            <mc:Fallback xmlns="">
              <p:sp>
                <p:nvSpPr>
                  <p:cNvPr id="25" name="TextBox 24"/>
                  <p:cNvSpPr txBox="1">
                    <a:spLocks noRot="1" noChangeAspect="1" noMove="1" noResize="1" noEditPoints="1" noAdjustHandles="1" noChangeArrowheads="1" noChangeShapeType="1" noTextEdit="1"/>
                  </p:cNvSpPr>
                  <p:nvPr/>
                </p:nvSpPr>
                <p:spPr>
                  <a:xfrm>
                    <a:off x="5691108" y="4138137"/>
                    <a:ext cx="605970" cy="463282"/>
                  </a:xfrm>
                  <a:prstGeom prst="rect">
                    <a:avLst/>
                  </a:prstGeom>
                  <a:blipFill rotWithShape="1">
                    <a:blip r:embed="rId12"/>
                    <a:stretch>
                      <a:fillRect/>
                    </a:stretch>
                  </a:blipFill>
                </p:spPr>
                <p:txBody>
                  <a:bodyPr/>
                  <a:lstStyle/>
                  <a:p>
                    <a:r>
                      <a:rPr lang="en-US">
                        <a:noFill/>
                      </a:rPr>
                      <a:t> </a:t>
                    </a:r>
                  </a:p>
                </p:txBody>
              </p:sp>
            </mc:Fallback>
          </mc:AlternateContent>
        </p:grpSp>
        <p:grpSp>
          <p:nvGrpSpPr>
            <p:cNvPr id="18" name="Group 17"/>
            <p:cNvGrpSpPr/>
            <p:nvPr/>
          </p:nvGrpSpPr>
          <p:grpSpPr>
            <a:xfrm>
              <a:off x="901767" y="2971543"/>
              <a:ext cx="393633" cy="579073"/>
              <a:chOff x="649527" y="2971543"/>
              <a:chExt cx="393633" cy="579073"/>
            </a:xfrm>
          </p:grpSpPr>
          <p:sp>
            <p:nvSpPr>
              <p:cNvPr id="20" name="Oval 19"/>
              <p:cNvSpPr/>
              <p:nvPr/>
            </p:nvSpPr>
            <p:spPr>
              <a:xfrm>
                <a:off x="685800" y="2971543"/>
                <a:ext cx="304800" cy="304800"/>
              </a:xfrm>
              <a:prstGeom prst="ellipse">
                <a:avLst/>
              </a:prstGeom>
              <a:noFill/>
              <a:ln>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49527" y="3181283"/>
                    <a:ext cx="393633" cy="36933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a:ea typeface="Cambria Math"/>
                            </a:rPr>
                            <m:t>𝛼</m:t>
                          </m:r>
                        </m:oMath>
                      </m:oMathPara>
                    </a14:m>
                    <a:endParaRPr lang="en-US" dirty="0">
                      <a:solidFill>
                        <a:srgbClr val="000000"/>
                      </a:solidFill>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649527" y="3181283"/>
                    <a:ext cx="393633" cy="369333"/>
                  </a:xfrm>
                  <a:prstGeom prst="rect">
                    <a:avLst/>
                  </a:prstGeom>
                  <a:blipFill rotWithShape="1">
                    <a:blip r:embed="rId13"/>
                    <a:stretch>
                      <a:fillRect r="-37143" b="-55882"/>
                    </a:stretch>
                  </a:blipFill>
                </p:spPr>
                <p:txBody>
                  <a:bodyPr/>
                  <a:lstStyle/>
                  <a:p>
                    <a:r>
                      <a:rPr lang="en-US">
                        <a:noFill/>
                      </a:rPr>
                      <a:t> </a:t>
                    </a:r>
                  </a:p>
                </p:txBody>
              </p:sp>
            </mc:Fallback>
          </mc:AlternateContent>
        </p:grpSp>
        <p:cxnSp>
          <p:nvCxnSpPr>
            <p:cNvPr id="19" name="Straight Arrow Connector 18"/>
            <p:cNvCxnSpPr>
              <a:stCxn id="20" idx="6"/>
              <a:endCxn id="28" idx="2"/>
            </p:cNvCxnSpPr>
            <p:nvPr/>
          </p:nvCxnSpPr>
          <p:spPr>
            <a:xfrm>
              <a:off x="1242840" y="3123943"/>
              <a:ext cx="1195560" cy="0"/>
            </a:xfrm>
            <a:prstGeom prst="straightConnector1">
              <a:avLst/>
            </a:prstGeom>
            <a:ln cap="sq">
              <a:solidFill>
                <a:srgbClr val="000000"/>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38" name="Picture 5" descr="C:\Users\310153563\Documents\GitHub\COPDBodyMedia_2nd_analysis\COPDBodyMedia2_paper\IEEEtran_windows_philips\figure\png\figure_10.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grpSp>
        <p:nvGrpSpPr>
          <p:cNvPr id="67" name="Group 66"/>
          <p:cNvGrpSpPr>
            <a:grpSpLocks noChangeAspect="1"/>
          </p:cNvGrpSpPr>
          <p:nvPr/>
        </p:nvGrpSpPr>
        <p:grpSpPr>
          <a:xfrm>
            <a:off x="2506027" y="337536"/>
            <a:ext cx="3513773" cy="1986915"/>
            <a:chOff x="2066925" y="337535"/>
            <a:chExt cx="5019675" cy="2838450"/>
          </a:xfrm>
        </p:grpSpPr>
        <p:pic>
          <p:nvPicPr>
            <p:cNvPr id="40" name="Picture 4" descr="http://images.clipartpanda.com/book-20clip-20art-di855LndT.jpe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66925" y="337535"/>
              <a:ext cx="5019675" cy="2838450"/>
            </a:xfrm>
            <a:prstGeom prst="rect">
              <a:avLst/>
            </a:prstGeom>
            <a:noFill/>
            <a:extLst>
              <a:ext uri="{909E8E84-426E-40DD-AFC4-6F175D3DCCD1}">
                <a14:hiddenFill xmlns:a14="http://schemas.microsoft.com/office/drawing/2010/main">
                  <a:solidFill>
                    <a:srgbClr val="FFFFFF"/>
                  </a:solidFill>
                </a14:hiddenFill>
              </a:ext>
            </a:extLst>
          </p:spPr>
        </p:pic>
        <p:sp>
          <p:nvSpPr>
            <p:cNvPr id="41" name="CustomShape 6"/>
            <p:cNvSpPr/>
            <p:nvPr/>
          </p:nvSpPr>
          <p:spPr>
            <a:xfrm>
              <a:off x="2600324" y="735499"/>
              <a:ext cx="256271" cy="264154"/>
            </a:xfrm>
            <a:prstGeom prst="roundRect">
              <a:avLst>
                <a:gd name="adj" fmla="val 3600"/>
              </a:avLst>
            </a:prstGeom>
            <a:ln w="36000">
              <a:solidFill>
                <a:srgbClr val="2323DC"/>
              </a:solidFill>
              <a:round/>
            </a:ln>
          </p:spPr>
        </p:sp>
        <p:sp>
          <p:nvSpPr>
            <p:cNvPr id="42" name="CustomShape 12"/>
            <p:cNvSpPr/>
            <p:nvPr/>
          </p:nvSpPr>
          <p:spPr>
            <a:xfrm>
              <a:off x="2929389" y="735499"/>
              <a:ext cx="256271" cy="264154"/>
            </a:xfrm>
            <a:prstGeom prst="roundRect">
              <a:avLst>
                <a:gd name="adj" fmla="val 3600"/>
              </a:avLst>
            </a:prstGeom>
            <a:ln w="36000">
              <a:solidFill>
                <a:srgbClr val="E6FF00"/>
              </a:solidFill>
              <a:round/>
            </a:ln>
          </p:spPr>
        </p:sp>
        <p:sp>
          <p:nvSpPr>
            <p:cNvPr id="43" name="CustomShape 20"/>
            <p:cNvSpPr/>
            <p:nvPr/>
          </p:nvSpPr>
          <p:spPr>
            <a:xfrm>
              <a:off x="3261860" y="735499"/>
              <a:ext cx="256271" cy="264154"/>
            </a:xfrm>
            <a:prstGeom prst="roundRect">
              <a:avLst>
                <a:gd name="adj" fmla="val 3600"/>
              </a:avLst>
            </a:prstGeom>
            <a:ln w="36000">
              <a:solidFill>
                <a:srgbClr val="FF420E"/>
              </a:solidFill>
              <a:round/>
            </a:ln>
          </p:spPr>
        </p:sp>
        <p:sp>
          <p:nvSpPr>
            <p:cNvPr id="44" name="CustomShape 20_"/>
            <p:cNvSpPr/>
            <p:nvPr/>
          </p:nvSpPr>
          <p:spPr>
            <a:xfrm>
              <a:off x="3594331" y="735499"/>
              <a:ext cx="256271" cy="264154"/>
            </a:xfrm>
            <a:prstGeom prst="roundRect">
              <a:avLst>
                <a:gd name="adj" fmla="val 3600"/>
              </a:avLst>
            </a:prstGeom>
            <a:ln w="36000">
              <a:solidFill>
                <a:srgbClr val="FF420E"/>
              </a:solidFill>
              <a:round/>
            </a:ln>
          </p:spPr>
        </p:sp>
        <p:sp>
          <p:nvSpPr>
            <p:cNvPr id="45" name="CustomShape 6_"/>
            <p:cNvSpPr/>
            <p:nvPr/>
          </p:nvSpPr>
          <p:spPr>
            <a:xfrm>
              <a:off x="3921125" y="735499"/>
              <a:ext cx="256271" cy="264154"/>
            </a:xfrm>
            <a:prstGeom prst="roundRect">
              <a:avLst>
                <a:gd name="adj" fmla="val 3600"/>
              </a:avLst>
            </a:prstGeom>
            <a:ln w="36000">
              <a:solidFill>
                <a:srgbClr val="00B0F0"/>
              </a:solidFill>
              <a:round/>
            </a:ln>
          </p:spPr>
        </p:sp>
        <p:sp>
          <p:nvSpPr>
            <p:cNvPr id="46" name="CustomShape 6__"/>
            <p:cNvSpPr/>
            <p:nvPr/>
          </p:nvSpPr>
          <p:spPr>
            <a:xfrm>
              <a:off x="2600324" y="1074124"/>
              <a:ext cx="256271" cy="264154"/>
            </a:xfrm>
            <a:prstGeom prst="roundRect">
              <a:avLst>
                <a:gd name="adj" fmla="val 3600"/>
              </a:avLst>
            </a:prstGeom>
            <a:ln w="36000">
              <a:solidFill>
                <a:srgbClr val="00B0F0"/>
              </a:solidFill>
              <a:round/>
            </a:ln>
          </p:spPr>
        </p:sp>
        <p:sp>
          <p:nvSpPr>
            <p:cNvPr id="47" name="CustomShape 12_"/>
            <p:cNvSpPr/>
            <p:nvPr/>
          </p:nvSpPr>
          <p:spPr>
            <a:xfrm>
              <a:off x="2929388" y="1085124"/>
              <a:ext cx="256271" cy="264154"/>
            </a:xfrm>
            <a:prstGeom prst="roundRect">
              <a:avLst>
                <a:gd name="adj" fmla="val 3600"/>
              </a:avLst>
            </a:prstGeom>
            <a:ln w="36000">
              <a:solidFill>
                <a:srgbClr val="E6FF00"/>
              </a:solidFill>
              <a:round/>
            </a:ln>
          </p:spPr>
        </p:sp>
        <p:sp>
          <p:nvSpPr>
            <p:cNvPr id="48" name="CustomShape 20__"/>
            <p:cNvSpPr/>
            <p:nvPr/>
          </p:nvSpPr>
          <p:spPr>
            <a:xfrm>
              <a:off x="3264130" y="1066395"/>
              <a:ext cx="256271" cy="264154"/>
            </a:xfrm>
            <a:prstGeom prst="roundRect">
              <a:avLst>
                <a:gd name="adj" fmla="val 3600"/>
              </a:avLst>
            </a:prstGeom>
            <a:ln w="36000">
              <a:solidFill>
                <a:srgbClr val="FF420E"/>
              </a:solidFill>
              <a:round/>
            </a:ln>
          </p:spPr>
        </p:sp>
        <p:sp>
          <p:nvSpPr>
            <p:cNvPr id="49" name="CustomShape 6___"/>
            <p:cNvSpPr/>
            <p:nvPr/>
          </p:nvSpPr>
          <p:spPr>
            <a:xfrm>
              <a:off x="3600681" y="1066395"/>
              <a:ext cx="256271" cy="264154"/>
            </a:xfrm>
            <a:prstGeom prst="roundRect">
              <a:avLst>
                <a:gd name="adj" fmla="val 3600"/>
              </a:avLst>
            </a:prstGeom>
            <a:ln w="36000">
              <a:solidFill>
                <a:srgbClr val="00B0F0"/>
              </a:solidFill>
              <a:round/>
            </a:ln>
          </p:spPr>
        </p:sp>
        <p:sp>
          <p:nvSpPr>
            <p:cNvPr id="50" name="CustomShape 20___"/>
            <p:cNvSpPr/>
            <p:nvPr/>
          </p:nvSpPr>
          <p:spPr>
            <a:xfrm>
              <a:off x="3921124" y="1065990"/>
              <a:ext cx="256271" cy="264154"/>
            </a:xfrm>
            <a:prstGeom prst="roundRect">
              <a:avLst>
                <a:gd name="adj" fmla="val 3600"/>
              </a:avLst>
            </a:prstGeom>
            <a:ln w="36000">
              <a:solidFill>
                <a:srgbClr val="FF420E"/>
              </a:solidFill>
              <a:round/>
            </a:ln>
          </p:spPr>
        </p:sp>
        <p:sp>
          <p:nvSpPr>
            <p:cNvPr id="51" name="CustomShape 6____"/>
            <p:cNvSpPr/>
            <p:nvPr/>
          </p:nvSpPr>
          <p:spPr>
            <a:xfrm>
              <a:off x="2600325" y="1412246"/>
              <a:ext cx="256271" cy="264154"/>
            </a:xfrm>
            <a:prstGeom prst="roundRect">
              <a:avLst>
                <a:gd name="adj" fmla="val 3600"/>
              </a:avLst>
            </a:prstGeom>
            <a:ln w="36000">
              <a:solidFill>
                <a:srgbClr val="2323DC"/>
              </a:solidFill>
              <a:round/>
            </a:ln>
          </p:spPr>
        </p:sp>
        <p:sp>
          <p:nvSpPr>
            <p:cNvPr id="52" name="CustomShape 12__"/>
            <p:cNvSpPr/>
            <p:nvPr/>
          </p:nvSpPr>
          <p:spPr>
            <a:xfrm>
              <a:off x="2929390" y="1412246"/>
              <a:ext cx="256271" cy="264154"/>
            </a:xfrm>
            <a:prstGeom prst="roundRect">
              <a:avLst>
                <a:gd name="adj" fmla="val 3600"/>
              </a:avLst>
            </a:prstGeom>
            <a:ln w="36000">
              <a:solidFill>
                <a:srgbClr val="E6FF00"/>
              </a:solidFill>
              <a:round/>
            </a:ln>
          </p:spPr>
        </p:sp>
        <p:sp>
          <p:nvSpPr>
            <p:cNvPr id="53" name="CustomShape 20____"/>
            <p:cNvSpPr/>
            <p:nvPr/>
          </p:nvSpPr>
          <p:spPr>
            <a:xfrm>
              <a:off x="3261861" y="1412246"/>
              <a:ext cx="256271" cy="264154"/>
            </a:xfrm>
            <a:prstGeom prst="roundRect">
              <a:avLst>
                <a:gd name="adj" fmla="val 3600"/>
              </a:avLst>
            </a:prstGeom>
            <a:ln w="36000">
              <a:solidFill>
                <a:srgbClr val="FF420E"/>
              </a:solidFill>
              <a:round/>
            </a:ln>
          </p:spPr>
        </p:sp>
        <p:sp>
          <p:nvSpPr>
            <p:cNvPr id="54" name="CustomShape 12___"/>
            <p:cNvSpPr/>
            <p:nvPr/>
          </p:nvSpPr>
          <p:spPr>
            <a:xfrm>
              <a:off x="3590925" y="1412246"/>
              <a:ext cx="256271" cy="264154"/>
            </a:xfrm>
            <a:prstGeom prst="roundRect">
              <a:avLst>
                <a:gd name="adj" fmla="val 3600"/>
              </a:avLst>
            </a:prstGeom>
            <a:ln w="36000">
              <a:solidFill>
                <a:srgbClr val="E6FF00"/>
              </a:solidFill>
              <a:round/>
            </a:ln>
          </p:spPr>
        </p:sp>
        <p:sp>
          <p:nvSpPr>
            <p:cNvPr id="55" name="CustomShape 20_____"/>
            <p:cNvSpPr/>
            <p:nvPr/>
          </p:nvSpPr>
          <p:spPr>
            <a:xfrm>
              <a:off x="3920913" y="1416513"/>
              <a:ext cx="256271" cy="264154"/>
            </a:xfrm>
            <a:prstGeom prst="roundRect">
              <a:avLst>
                <a:gd name="adj" fmla="val 3600"/>
              </a:avLst>
            </a:prstGeom>
            <a:ln w="36000">
              <a:solidFill>
                <a:srgbClr val="FF420E"/>
              </a:solidFill>
              <a:round/>
            </a:ln>
          </p:spPr>
        </p:sp>
        <p:sp>
          <p:nvSpPr>
            <p:cNvPr id="56" name="CustomShape 6_____"/>
            <p:cNvSpPr/>
            <p:nvPr/>
          </p:nvSpPr>
          <p:spPr>
            <a:xfrm>
              <a:off x="2600323" y="1756760"/>
              <a:ext cx="256271" cy="264154"/>
            </a:xfrm>
            <a:prstGeom prst="roundRect">
              <a:avLst>
                <a:gd name="adj" fmla="val 3600"/>
              </a:avLst>
            </a:prstGeom>
            <a:ln w="36000">
              <a:solidFill>
                <a:srgbClr val="00B0F0"/>
              </a:solidFill>
              <a:round/>
            </a:ln>
          </p:spPr>
        </p:sp>
        <p:sp>
          <p:nvSpPr>
            <p:cNvPr id="57" name="CustomShape 6______"/>
            <p:cNvSpPr/>
            <p:nvPr/>
          </p:nvSpPr>
          <p:spPr>
            <a:xfrm>
              <a:off x="2929387" y="1756760"/>
              <a:ext cx="256271" cy="264154"/>
            </a:xfrm>
            <a:prstGeom prst="roundRect">
              <a:avLst>
                <a:gd name="adj" fmla="val 3600"/>
              </a:avLst>
            </a:prstGeom>
            <a:ln w="36000">
              <a:solidFill>
                <a:srgbClr val="00B0F0"/>
              </a:solidFill>
              <a:round/>
            </a:ln>
          </p:spPr>
        </p:sp>
        <p:sp>
          <p:nvSpPr>
            <p:cNvPr id="58" name="TextBox 57"/>
            <p:cNvSpPr txBox="1"/>
            <p:nvPr/>
          </p:nvSpPr>
          <p:spPr>
            <a:xfrm>
              <a:off x="3209925" y="1676401"/>
              <a:ext cx="1014866" cy="527617"/>
            </a:xfrm>
            <a:prstGeom prst="rect">
              <a:avLst/>
            </a:prstGeom>
            <a:noFill/>
          </p:spPr>
          <p:txBody>
            <a:bodyPr wrap="square" rtlCol="0">
              <a:spAutoFit/>
            </a:bodyPr>
            <a:lstStyle/>
            <a:p>
              <a:r>
                <a:rPr lang="en-US" dirty="0" smtClean="0"/>
                <a:t>… …</a:t>
              </a:r>
              <a:endParaRPr lang="en-US" dirty="0"/>
            </a:p>
          </p:txBody>
        </p:sp>
        <p:sp>
          <p:nvSpPr>
            <p:cNvPr id="60" name="TextBox 59"/>
            <p:cNvSpPr txBox="1"/>
            <p:nvPr/>
          </p:nvSpPr>
          <p:spPr>
            <a:xfrm>
              <a:off x="4576762" y="777286"/>
              <a:ext cx="2052637" cy="369332"/>
            </a:xfrm>
            <a:prstGeom prst="rect">
              <a:avLst/>
            </a:prstGeom>
            <a:noFill/>
          </p:spPr>
          <p:txBody>
            <a:bodyPr wrap="square" rtlCol="0">
              <a:spAutoFit/>
            </a:bodyPr>
            <a:lstStyle/>
            <a:p>
              <a:r>
                <a:rPr lang="en-US" dirty="0" smtClean="0"/>
                <a:t>… … … … … … … …</a:t>
              </a:r>
              <a:endParaRPr lang="en-US" dirty="0"/>
            </a:p>
          </p:txBody>
        </p:sp>
        <p:sp>
          <p:nvSpPr>
            <p:cNvPr id="61" name="TextBox 60"/>
            <p:cNvSpPr txBox="1"/>
            <p:nvPr/>
          </p:nvSpPr>
          <p:spPr>
            <a:xfrm>
              <a:off x="4576762" y="1131046"/>
              <a:ext cx="2052637" cy="527617"/>
            </a:xfrm>
            <a:prstGeom prst="rect">
              <a:avLst/>
            </a:prstGeom>
            <a:noFill/>
          </p:spPr>
          <p:txBody>
            <a:bodyPr wrap="square" rtlCol="0">
              <a:spAutoFit/>
            </a:bodyPr>
            <a:lstStyle/>
            <a:p>
              <a:endParaRPr lang="en-US" dirty="0"/>
            </a:p>
          </p:txBody>
        </p:sp>
        <p:sp>
          <p:nvSpPr>
            <p:cNvPr id="62" name="TextBox 61"/>
            <p:cNvSpPr txBox="1"/>
            <p:nvPr/>
          </p:nvSpPr>
          <p:spPr>
            <a:xfrm>
              <a:off x="4576762" y="1544324"/>
              <a:ext cx="2052637" cy="527617"/>
            </a:xfrm>
            <a:prstGeom prst="rect">
              <a:avLst/>
            </a:prstGeom>
            <a:noFill/>
          </p:spPr>
          <p:txBody>
            <a:bodyPr wrap="square" rtlCol="0">
              <a:spAutoFit/>
            </a:bodyPr>
            <a:lstStyle/>
            <a:p>
              <a:r>
                <a:rPr lang="en-US" dirty="0" smtClean="0"/>
                <a:t>… … … … … …</a:t>
              </a:r>
              <a:endParaRPr lang="en-US" dirty="0"/>
            </a:p>
          </p:txBody>
        </p:sp>
        <p:sp>
          <p:nvSpPr>
            <p:cNvPr id="63" name="CustomShape 20______"/>
            <p:cNvSpPr/>
            <p:nvPr/>
          </p:nvSpPr>
          <p:spPr>
            <a:xfrm>
              <a:off x="4733925" y="1973251"/>
              <a:ext cx="256271" cy="264154"/>
            </a:xfrm>
            <a:prstGeom prst="roundRect">
              <a:avLst>
                <a:gd name="adj" fmla="val 3600"/>
              </a:avLst>
            </a:prstGeom>
            <a:ln w="36000">
              <a:solidFill>
                <a:srgbClr val="FF420E"/>
              </a:solidFill>
              <a:round/>
            </a:ln>
          </p:spPr>
        </p:sp>
        <p:sp>
          <p:nvSpPr>
            <p:cNvPr id="64" name="CustomShape 12____"/>
            <p:cNvSpPr/>
            <p:nvPr/>
          </p:nvSpPr>
          <p:spPr>
            <a:xfrm>
              <a:off x="5114925" y="1973251"/>
              <a:ext cx="256271" cy="264154"/>
            </a:xfrm>
            <a:prstGeom prst="roundRect">
              <a:avLst>
                <a:gd name="adj" fmla="val 3600"/>
              </a:avLst>
            </a:prstGeom>
            <a:ln w="36000">
              <a:solidFill>
                <a:srgbClr val="E6FF00"/>
              </a:solidFill>
              <a:round/>
            </a:ln>
          </p:spPr>
        </p:sp>
        <p:sp>
          <p:nvSpPr>
            <p:cNvPr id="65" name="CustomShape 6_______"/>
            <p:cNvSpPr/>
            <p:nvPr/>
          </p:nvSpPr>
          <p:spPr>
            <a:xfrm>
              <a:off x="5474944" y="1968829"/>
              <a:ext cx="256271" cy="264154"/>
            </a:xfrm>
            <a:prstGeom prst="roundRect">
              <a:avLst>
                <a:gd name="adj" fmla="val 3600"/>
              </a:avLst>
            </a:prstGeom>
            <a:ln w="36000">
              <a:solidFill>
                <a:srgbClr val="00B0F0"/>
              </a:solidFill>
              <a:round/>
            </a:ln>
          </p:spPr>
        </p:sp>
        <p:sp>
          <p:nvSpPr>
            <p:cNvPr id="66" name="CustomShape 6________"/>
            <p:cNvSpPr/>
            <p:nvPr/>
          </p:nvSpPr>
          <p:spPr>
            <a:xfrm>
              <a:off x="5883615" y="1968829"/>
              <a:ext cx="256271" cy="264154"/>
            </a:xfrm>
            <a:prstGeom prst="roundRect">
              <a:avLst>
                <a:gd name="adj" fmla="val 3600"/>
              </a:avLst>
            </a:prstGeom>
            <a:ln w="36000">
              <a:solidFill>
                <a:srgbClr val="00B0F0"/>
              </a:solidFill>
              <a:round/>
            </a:ln>
          </p:spPr>
        </p:sp>
      </p:grpSp>
      <p:sp>
        <p:nvSpPr>
          <p:cNvPr id="68" name="TextBox 67"/>
          <p:cNvSpPr txBox="1"/>
          <p:nvPr/>
        </p:nvSpPr>
        <p:spPr>
          <a:xfrm>
            <a:off x="2909107" y="1447800"/>
            <a:ext cx="1436846" cy="369332"/>
          </a:xfrm>
          <a:prstGeom prst="rect">
            <a:avLst/>
          </a:prstGeom>
          <a:noFill/>
        </p:spPr>
        <p:txBody>
          <a:bodyPr wrap="square" rtlCol="0">
            <a:spAutoFit/>
          </a:bodyPr>
          <a:lstStyle/>
          <a:p>
            <a:r>
              <a:rPr lang="en-US" dirty="0" smtClean="0"/>
              <a:t>… … … … …</a:t>
            </a:r>
            <a:endParaRPr lang="en-US" dirty="0"/>
          </a:p>
        </p:txBody>
      </p:sp>
      <p:cxnSp>
        <p:nvCxnSpPr>
          <p:cNvPr id="70" name="Straight Arrow Connector 69"/>
          <p:cNvCxnSpPr>
            <a:stCxn id="41" idx="2"/>
            <a:endCxn id="34" idx="7"/>
          </p:cNvCxnSpPr>
          <p:nvPr/>
        </p:nvCxnSpPr>
        <p:spPr>
          <a:xfrm>
            <a:off x="2969101" y="801019"/>
            <a:ext cx="1181662"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42" idx="2"/>
            <a:endCxn id="34" idx="7"/>
          </p:cNvCxnSpPr>
          <p:nvPr/>
        </p:nvCxnSpPr>
        <p:spPr>
          <a:xfrm>
            <a:off x="3199447" y="801019"/>
            <a:ext cx="95131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43" idx="2"/>
            <a:endCxn id="34" idx="7"/>
          </p:cNvCxnSpPr>
          <p:nvPr/>
        </p:nvCxnSpPr>
        <p:spPr>
          <a:xfrm>
            <a:off x="3432177" y="801019"/>
            <a:ext cx="718586"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44" idx="2"/>
            <a:endCxn id="34" idx="7"/>
          </p:cNvCxnSpPr>
          <p:nvPr/>
        </p:nvCxnSpPr>
        <p:spPr>
          <a:xfrm>
            <a:off x="3664906" y="801019"/>
            <a:ext cx="485857" cy="219001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64" idx="2"/>
            <a:endCxn id="34" idx="1"/>
          </p:cNvCxnSpPr>
          <p:nvPr/>
        </p:nvCxnSpPr>
        <p:spPr>
          <a:xfrm flipH="1">
            <a:off x="4266433" y="1667445"/>
            <a:ext cx="4628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a:stCxn id="65" idx="2"/>
            <a:endCxn id="34" idx="1"/>
          </p:cNvCxnSpPr>
          <p:nvPr/>
        </p:nvCxnSpPr>
        <p:spPr>
          <a:xfrm flipH="1">
            <a:off x="4266433" y="1664350"/>
            <a:ext cx="714903"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66" idx="2"/>
            <a:endCxn id="34" idx="1"/>
          </p:cNvCxnSpPr>
          <p:nvPr/>
        </p:nvCxnSpPr>
        <p:spPr>
          <a:xfrm flipH="1">
            <a:off x="4266433" y="1664350"/>
            <a:ext cx="1000972" cy="132668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3" idx="2"/>
            <a:endCxn id="34" idx="1"/>
          </p:cNvCxnSpPr>
          <p:nvPr/>
        </p:nvCxnSpPr>
        <p:spPr>
          <a:xfrm flipH="1">
            <a:off x="4266433" y="1667445"/>
            <a:ext cx="196189" cy="132358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228735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descr="C:\Users\310153563\Documents\GitHub\COPDBodyMedia_2nd_analysis\COPDBodyMedia2_paper\IEEEtran_windows_philips\figure\eps\figure_4_1_copd_weekday_gly.ep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914400"/>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C:\Users\310153563\Documents\GitHub\COPDBodyMedia_2nd_analysis\COPDBodyMedia2_paper\IEEEtran_windows_philips\figure\eps\figure_4_1_healthy_weekday_gly.e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362200"/>
            <a:ext cx="7075170" cy="119443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 descr="C:\Users\310153563\Documents\GitHub\COPDBodyMedia_2nd_analysis\COPDBodyMedia2_paper\IEEEtran_windows_philips\figure\png\figure_1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1623" y="3962400"/>
            <a:ext cx="3414377" cy="256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9280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descr="C:\Users\310153563\Documents\GitHub\COPDBodyMedia_2nd_analysis\COPDBodyMedia2_paper\IEEEtran_windows_philips\figure\png\figure_7_trend_all_weekday.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609600"/>
            <a:ext cx="5691188" cy="426720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p:cNvSpPr/>
          <p:nvPr/>
        </p:nvSpPr>
        <p:spPr>
          <a:xfrm>
            <a:off x="5943600" y="1246359"/>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5960205" y="2017412"/>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5967757" y="2276947"/>
            <a:ext cx="609600" cy="152400"/>
          </a:xfrm>
          <a:prstGeom prst="roundRect">
            <a:avLst/>
          </a:prstGeom>
          <a:solidFill>
            <a:schemeClr val="accent1">
              <a:alpha val="2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03549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idx="4294967295"/>
          </p:nvPr>
        </p:nvSpPr>
        <p:spPr>
          <a:xfrm>
            <a:off x="456481" y="273629"/>
            <a:ext cx="8228160" cy="1144921"/>
          </a:xfrm>
          <a:prstGeom prst="rect">
            <a:avLst/>
          </a:prstGeom>
          <a:ln/>
        </p:spPr>
        <p:txBody>
          <a:bodyPr lIns="82945" tIns="35203" rIns="82945" bIns="41473"/>
          <a:lstStyle/>
          <a:p>
            <a:pPr>
              <a:tabLst>
                <a:tab pos="656650" algn="l"/>
                <a:tab pos="1313299" algn="l"/>
                <a:tab pos="1969949" algn="l"/>
                <a:tab pos="2626599" algn="l"/>
                <a:tab pos="3283248" algn="l"/>
                <a:tab pos="3939898" algn="l"/>
                <a:tab pos="4596548" algn="l"/>
                <a:tab pos="5253198" algn="l"/>
                <a:tab pos="5909847" algn="l"/>
                <a:tab pos="6566497" algn="l"/>
                <a:tab pos="7223147" algn="l"/>
                <a:tab pos="7879796" algn="l"/>
              </a:tabLst>
            </a:pPr>
            <a:r>
              <a:rPr lang="en-US" sz="4000" dirty="0" smtClean="0"/>
              <a:t>New monitoring solutions</a:t>
            </a:r>
            <a:endParaRPr lang="en-US" altLang="it-IT" sz="4000" dirty="0"/>
          </a:p>
        </p:txBody>
      </p:sp>
      <p:sp>
        <p:nvSpPr>
          <p:cNvPr id="13" name="Text Placeholder 2_"/>
          <p:cNvSpPr txBox="1">
            <a:spLocks/>
          </p:cNvSpPr>
          <p:nvPr/>
        </p:nvSpPr>
        <p:spPr bwMode="auto">
          <a:xfrm>
            <a:off x="304800" y="3359150"/>
            <a:ext cx="8534400" cy="1365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just"/>
            <a:r>
              <a:rPr lang="en-US" sz="1600" dirty="0" smtClean="0"/>
              <a:t>Spina et al. </a:t>
            </a:r>
            <a:r>
              <a:rPr lang="en-US" sz="1600" b="1" dirty="0" err="1" smtClean="0"/>
              <a:t>Smartscope</a:t>
            </a:r>
            <a:r>
              <a:rPr lang="en-US" sz="1600" b="1" dirty="0" smtClean="0"/>
              <a:t>.</a:t>
            </a:r>
            <a:r>
              <a:rPr lang="en-US" sz="1600" dirty="0" smtClean="0"/>
              <a:t> </a:t>
            </a:r>
            <a:r>
              <a:rPr lang="it-IT" sz="1600" dirty="0" smtClean="0"/>
              <a:t>Planned.</a:t>
            </a:r>
            <a:endParaRPr lang="en-US" altLang="it-IT" sz="1600" dirty="0"/>
          </a:p>
        </p:txBody>
      </p:sp>
      <p:grpSp>
        <p:nvGrpSpPr>
          <p:cNvPr id="8" name="Group 2"/>
          <p:cNvGrpSpPr>
            <a:grpSpLocks/>
          </p:cNvGrpSpPr>
          <p:nvPr/>
        </p:nvGrpSpPr>
        <p:grpSpPr bwMode="auto">
          <a:xfrm>
            <a:off x="1066800" y="1865848"/>
            <a:ext cx="1752600" cy="813907"/>
            <a:chOff x="71438" y="2160588"/>
            <a:chExt cx="2519362" cy="1343818"/>
          </a:xfrm>
        </p:grpSpPr>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438" y="2160588"/>
              <a:ext cx="2519362" cy="1058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0" name="Rectangle 9"/>
            <p:cNvSpPr/>
            <p:nvPr/>
          </p:nvSpPr>
          <p:spPr>
            <a:xfrm>
              <a:off x="152400" y="3124769"/>
              <a:ext cx="1371600" cy="379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1394690"/>
            <a:ext cx="1065211" cy="158363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2"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38600" y="1557461"/>
            <a:ext cx="1676400" cy="12580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808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1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43600" y="1231625"/>
            <a:ext cx="1341716" cy="19097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7024282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p:cNvGraphicFramePr>
            <a:graphicFrameLocks noChangeAspect="1"/>
          </p:cNvGraphicFramePr>
          <p:nvPr>
            <p:extLst>
              <p:ext uri="{D42A27DB-BD31-4B8C-83A1-F6EECF244321}">
                <p14:modId xmlns:p14="http://schemas.microsoft.com/office/powerpoint/2010/main" val="2885587077"/>
              </p:ext>
            </p:extLst>
          </p:nvPr>
        </p:nvGraphicFramePr>
        <p:xfrm>
          <a:off x="581025" y="1223963"/>
          <a:ext cx="7981950" cy="4410075"/>
        </p:xfrm>
        <a:graphic>
          <a:graphicData uri="http://schemas.openxmlformats.org/presentationml/2006/ole">
            <mc:AlternateContent xmlns:mc="http://schemas.openxmlformats.org/markup-compatibility/2006">
              <mc:Choice xmlns:v="urn:schemas-microsoft-com:vml" Requires="v">
                <p:oleObj spid="_x0000_s29733" name="Worksheet" r:id="rId4" imgW="7981882" imgH="4410175" progId="Excel.Sheet.12">
                  <p:embed/>
                </p:oleObj>
              </mc:Choice>
              <mc:Fallback>
                <p:oleObj name="Worksheet" r:id="rId4" imgW="7981882" imgH="4410175" progId="Excel.Sheet.12">
                  <p:embed/>
                  <p:pic>
                    <p:nvPicPr>
                      <p:cNvPr id="0" name=""/>
                      <p:cNvPicPr/>
                      <p:nvPr/>
                    </p:nvPicPr>
                    <p:blipFill>
                      <a:blip r:embed="rId5"/>
                      <a:stretch>
                        <a:fillRect/>
                      </a:stretch>
                    </p:blipFill>
                    <p:spPr>
                      <a:xfrm>
                        <a:off x="581025" y="1223963"/>
                        <a:ext cx="7981950" cy="4410075"/>
                      </a:xfrm>
                      <a:prstGeom prst="rect">
                        <a:avLst/>
                      </a:prstGeom>
                    </p:spPr>
                  </p:pic>
                </p:oleObj>
              </mc:Fallback>
            </mc:AlternateContent>
          </a:graphicData>
        </a:graphic>
      </p:graphicFrame>
    </p:spTree>
    <p:extLst>
      <p:ext uri="{BB962C8B-B14F-4D97-AF65-F5344CB8AC3E}">
        <p14:creationId xmlns:p14="http://schemas.microsoft.com/office/powerpoint/2010/main" val="37761489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6481" y="1604328"/>
            <a:ext cx="8226720" cy="4796472"/>
          </a:xfrm>
        </p:spPr>
        <p:txBody>
          <a:bodyPr/>
          <a:lstStyle/>
          <a:p>
            <a:r>
              <a:rPr lang="it-IT" dirty="0" smtClean="0"/>
              <a:t>Decide PhD committee</a:t>
            </a:r>
          </a:p>
          <a:p>
            <a:pPr lvl="1"/>
            <a:r>
              <a:rPr lang="it-IT" dirty="0" smtClean="0"/>
              <a:t>Prof. Ronald Aarts (TUe)</a:t>
            </a:r>
          </a:p>
          <a:p>
            <a:pPr lvl="1"/>
            <a:r>
              <a:rPr lang="it-IT" dirty="0" smtClean="0"/>
              <a:t>Bert den Brinker</a:t>
            </a:r>
          </a:p>
          <a:p>
            <a:pPr lvl="1"/>
            <a:r>
              <a:rPr lang="it-IT" dirty="0" smtClean="0"/>
              <a:t>Martijn Spruit</a:t>
            </a:r>
          </a:p>
          <a:p>
            <a:pPr lvl="1"/>
            <a:r>
              <a:rPr lang="it-IT" dirty="0" smtClean="0"/>
              <a:t>Prof. Wouters	</a:t>
            </a:r>
          </a:p>
          <a:p>
            <a:pPr lvl="1"/>
            <a:r>
              <a:rPr lang="it-IT" dirty="0" smtClean="0"/>
              <a:t> ?</a:t>
            </a:r>
          </a:p>
          <a:p>
            <a:pPr lvl="1"/>
            <a:r>
              <a:rPr lang="it-IT" dirty="0" smtClean="0"/>
              <a:t> ?</a:t>
            </a:r>
          </a:p>
          <a:p>
            <a:pPr lvl="1"/>
            <a:r>
              <a:rPr lang="it-IT" dirty="0"/>
              <a:t> </a:t>
            </a:r>
            <a:r>
              <a:rPr lang="it-IT" dirty="0" smtClean="0"/>
              <a:t>?</a:t>
            </a:r>
          </a:p>
          <a:p>
            <a:pPr lvl="1"/>
            <a:r>
              <a:rPr lang="it-IT" dirty="0"/>
              <a:t> </a:t>
            </a:r>
            <a:r>
              <a:rPr lang="it-IT" dirty="0" smtClean="0"/>
              <a:t>?</a:t>
            </a:r>
          </a:p>
          <a:p>
            <a:pPr lvl="1"/>
            <a:endParaRPr lang="it-IT" dirty="0"/>
          </a:p>
        </p:txBody>
      </p:sp>
    </p:spTree>
    <p:extLst>
      <p:ext uri="{BB962C8B-B14F-4D97-AF65-F5344CB8AC3E}">
        <p14:creationId xmlns:p14="http://schemas.microsoft.com/office/powerpoint/2010/main" val="18124444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platzhalter 1"/>
          <p:cNvSpPr>
            <a:spLocks noGrp="1"/>
          </p:cNvSpPr>
          <p:nvPr>
            <p:ph type="body" sz="quarter" idx="10"/>
          </p:nvPr>
        </p:nvSpPr>
        <p:spPr bwMode="auto">
          <a:xfrm>
            <a:off x="828675" y="2052638"/>
            <a:ext cx="7488238" cy="1619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smtClean="0"/>
          </a:p>
        </p:txBody>
      </p:sp>
      <p:sp>
        <p:nvSpPr>
          <p:cNvPr id="29699" name="Textplatzhalter 2"/>
          <p:cNvSpPr>
            <a:spLocks noGrp="1"/>
          </p:cNvSpPr>
          <p:nvPr>
            <p:ph type="body" sz="quarter" idx="11"/>
          </p:nvPr>
        </p:nvSpPr>
        <p:spPr bwMode="auto">
          <a:xfrm>
            <a:off x="828675" y="1368425"/>
            <a:ext cx="7488238" cy="404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ONT" val="SlideFooterFontC"/>
  <p:tag name="FONTSETCLASSNAME" val="FontSet1"/>
  <p:tag name="COLORS" val="-2;-2;-2;-2;SlideFooterFontColorDark;-2"/>
  <p:tag name="COLORSETCLASSNAME" val="ColorSet1"/>
  <p:tag name="SCRIPT" val="1"/>
  <p:tag name="FIELDS" val="DATE;DIVISION;ADDINFO;"/>
  <p:tag name="MLI" val="1"/>
  <p:tag name="SHAPESETGROUPCLASSNAME" val="ShapeSetGroup2"/>
  <p:tag name="SHAPESETCLASSNAME" val="FORMCOLORTEXT01"/>
  <p:tag name="COLORSETGROUPCLASSNAME" val="ColorSetGroupLight"/>
  <p:tag name="FONTSETGROUPCLASSNAME" val="FontSetGroup1"/>
  <p:tag name="SHAPECLASSNAME" val="FLineInfo1BlackG1S3"/>
  <p:tag name="SHAPECLASSPROTECTIONTYPE" val="63"/>
</p:tagLst>
</file>

<file path=ppt/tags/tag2.xml><?xml version="1.0" encoding="utf-8"?>
<p:tagLst xmlns:a="http://schemas.openxmlformats.org/drawingml/2006/main" xmlns:r="http://schemas.openxmlformats.org/officeDocument/2006/relationships" xmlns:p="http://schemas.openxmlformats.org/presentationml/2006/main">
  <p:tag name="FONT" val="SlidePageNumberFontC"/>
  <p:tag name="FONTSETCLASSNAME" val="FontSet1"/>
  <p:tag name="COLORS" val="-2;-2;-2;-2;SlidePageNoFontColorLight;-2"/>
  <p:tag name="COLORSETCLASSNAME" val="ColorSet1"/>
  <p:tag name="SCRIPT" val="1"/>
  <p:tag name="MLI" val="1"/>
  <p:tag name="SHAPESETGROUPCLASSNAME" val="ShapeSetGroup2"/>
  <p:tag name="SHAPESETCLASSNAME" val="COLORSLIDE01"/>
  <p:tag name="COLORSETGROUPCLASSNAME" val="ColorSetGroupLight"/>
  <p:tag name="FONTSETGROUPCLASSNAME" val="FontSetGroup1"/>
  <p:tag name="SHAPECLASSNAME" val="PageNoWhiteG1S3"/>
  <p:tag name="SHAPECLASSPROTECTIONTYPE" val="47"/>
</p:tagLst>
</file>

<file path=ppt/tags/tag3.xml><?xml version="1.0" encoding="utf-8"?>
<p:tagLst xmlns:a="http://schemas.openxmlformats.org/drawingml/2006/main" xmlns:r="http://schemas.openxmlformats.org/officeDocument/2006/relationships" xmlns:p="http://schemas.openxmlformats.org/presentationml/2006/main">
  <p:tag name="SHAPECLASSNAME" val="CustFormCol001RoundSingleCornerRectangle"/>
  <p:tag name="COLORSETCLASSNAME" val="ColorSet1"/>
  <p:tag name="COLORS" val="-1;Scheme9;-2;-2;-1;-2"/>
</p:tagLst>
</file>

<file path=ppt/tags/tag4.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IMAGETEXT01"/>
  <p:tag name="COLORSETGROUPCLASSNAME" val="ColorSetGroupLight"/>
  <p:tag name="FONTSETGROUPCLASSNAME" val="FontSetGroup1"/>
  <p:tag name="SHAPECLASSNAME" val="PhilipsLogoTitle"/>
  <p:tag name="SHAPECLASSFILE" val="PHGMCWORDMARK2008$C.emf"/>
  <p:tag name="SHAPECLASSPROTECTIONTYPE" val="31"/>
</p:tagLst>
</file>

<file path=ppt/tags/tag5.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6.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7.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8.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9.xml><?xml version="1.0" encoding="utf-8"?>
<p:tagLst xmlns:a="http://schemas.openxmlformats.org/drawingml/2006/main" xmlns:r="http://schemas.openxmlformats.org/officeDocument/2006/relationships" xmlns:p="http://schemas.openxmlformats.org/presentationml/2006/main">
  <p:tag name="COLORS" val="-2;-2;-2;-2;-2;-2"/>
  <p:tag name="COLORSETCLASSNAME" val="ColorSet1"/>
  <p:tag name="MLI" val="1"/>
  <p:tag name="SHAPESETGROUPCLASSNAME" val="ShapeSetGroup2"/>
  <p:tag name="SHAPESETCLASSNAME" val="FORMCOLORTEXT01"/>
  <p:tag name="COLORSETGROUPCLASSNAME" val="ColorSetGroupLight"/>
  <p:tag name="FONTSETGROUPCLASSNAME" val="FontSetGroup1"/>
  <p:tag name="SHAPECLASSNAME" val="PhilipsLogoSlide"/>
  <p:tag name="SHAPECLASSFILE" val="PHGMCWORDMARK2008$C.emf"/>
  <p:tag name="SHAPECLASSPROTECTIONTYPE" val="31"/>
</p:tagLst>
</file>

<file path=ppt/tags/tag10.xml><?xml version="1.0" encoding="utf-8"?>
<p:tagLst xmlns:a="http://schemas.openxmlformats.org/drawingml/2006/main" xmlns:r="http://schemas.openxmlformats.org/officeDocument/2006/relationships" xmlns:p="http://schemas.openxmlformats.org/presentationml/2006/main">
  <p:tag name="SHAPECLASSNAME" val="CustFormEnd001Rectangle"/>
</p:tagLst>
</file>

<file path=ppt/theme/theme1.xml><?xml version="1.0" encoding="utf-8"?>
<a:theme xmlns:a="http://schemas.openxmlformats.org/drawingml/2006/main" name="philips_internal_documentation_template_nov13">
  <a:themeElements>
    <a:clrScheme name="PhCST">
      <a:dk1>
        <a:srgbClr val="000000"/>
      </a:dk1>
      <a:lt1>
        <a:srgbClr val="FFFFFF"/>
      </a:lt1>
      <a:dk2>
        <a:srgbClr val="000000"/>
      </a:dk2>
      <a:lt2>
        <a:srgbClr val="CCCEDB"/>
      </a:lt2>
      <a:accent1>
        <a:srgbClr val="0089C4"/>
      </a:accent1>
      <a:accent2>
        <a:srgbClr val="1E9D8B"/>
      </a:accent2>
      <a:accent3>
        <a:srgbClr val="5B8F22"/>
      </a:accent3>
      <a:accent4>
        <a:srgbClr val="E98300"/>
      </a:accent4>
      <a:accent5>
        <a:srgbClr val="CD202C"/>
      </a:accent5>
      <a:accent6>
        <a:srgbClr val="7D0063"/>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hilips_internal_documentation_template_nov13.pptx" id="{DE36B277-C83F-4A85-9819-A77CE0CA1F6F}" vid="{FCDF7755-76C1-4ABB-A274-22B823C3C88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philips_internal_documentation_template_nov13</Template>
  <TotalTime>1046</TotalTime>
  <Words>630</Words>
  <Application>Microsoft Office PowerPoint</Application>
  <PresentationFormat>On-screen Show (4:3)</PresentationFormat>
  <Paragraphs>78</Paragraphs>
  <Slides>17</Slides>
  <Notes>10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19" baseType="lpstr">
      <vt:lpstr>philips_internal_documentation_template_nov13</vt:lpstr>
      <vt:lpstr>Worksheet</vt:lpstr>
      <vt:lpstr>PowerPoint Presentation</vt:lpstr>
      <vt:lpstr>PowerPoint Presentation</vt:lpstr>
      <vt:lpstr>PhD project</vt:lpstr>
      <vt:lpstr>Introduction</vt:lpstr>
      <vt:lpstr>Smartphone monitoring and training approaches</vt:lpstr>
      <vt:lpstr>Smartphone monitoring and training approaches</vt:lpstr>
      <vt:lpstr>New insights in COPD</vt:lpstr>
      <vt:lpstr>New insights in COPD</vt:lpstr>
      <vt:lpstr>PowerPoint Presentation</vt:lpstr>
      <vt:lpstr>PowerPoint Presentation</vt:lpstr>
      <vt:lpstr>PowerPoint Presentation</vt:lpstr>
      <vt:lpstr>PowerPoint Presentation</vt:lpstr>
      <vt:lpstr>New monitoring solutions</vt:lpstr>
      <vt:lpstr>PowerPoint Presentation</vt:lpstr>
      <vt:lpstr>PowerPoint Presentation</vt:lpstr>
      <vt:lpstr>PowerPoint Presentation</vt:lpstr>
      <vt:lpstr>PowerPoint Presentation</vt:lpstr>
    </vt:vector>
  </TitlesOfParts>
  <Company>Philips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Brinker, Bert den</dc:creator>
  <dc:description>Version 6.4 - 1.0</dc:description>
  <cp:lastModifiedBy>Gabriele</cp:lastModifiedBy>
  <cp:revision>96</cp:revision>
  <dcterms:created xsi:type="dcterms:W3CDTF">2013-12-17T10:24:36Z</dcterms:created>
  <dcterms:modified xsi:type="dcterms:W3CDTF">2015-01-19T18:35:42Z</dcterms:modified>
</cp:coreProperties>
</file>