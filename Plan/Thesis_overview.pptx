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gif" ContentType="image/gif"/>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80" r:id="rId2"/>
    <p:sldId id="279" r:id="rId3"/>
    <p:sldId id="281" r:id="rId4"/>
    <p:sldId id="282" r:id="rId5"/>
    <p:sldId id="284" r:id="rId6"/>
    <p:sldId id="283" r:id="rId7"/>
    <p:sldId id="285" r:id="rId8"/>
    <p:sldId id="286" r:id="rId9"/>
    <p:sldId id="287" r:id="rId10"/>
    <p:sldId id="262" r:id="rId11"/>
    <p:sldId id="261" r:id="rId12"/>
  </p:sldIdLst>
  <p:sldSz cx="9144000" cy="6858000" type="screen4x3"/>
  <p:notesSz cx="6858000" cy="9144000"/>
  <p:defaultTextStyle>
    <a:defPPr>
      <a:defRPr lang="de-DE"/>
    </a:defPPr>
    <a:lvl1pPr algn="l" rtl="0" fontAlgn="base">
      <a:spcBef>
        <a:spcPct val="0"/>
      </a:spcBef>
      <a:spcAft>
        <a:spcPct val="0"/>
      </a:spcAft>
      <a:defRPr kern="1200">
        <a:solidFill>
          <a:schemeClr val="tx1"/>
        </a:solidFill>
        <a:latin typeface="Calibri" pitchFamily="34" charset="0"/>
        <a:ea typeface="+mn-ea"/>
        <a:cs typeface="Arial" charset="0"/>
      </a:defRPr>
    </a:lvl1pPr>
    <a:lvl2pPr marL="457200" algn="l" rtl="0" fontAlgn="base">
      <a:spcBef>
        <a:spcPct val="0"/>
      </a:spcBef>
      <a:spcAft>
        <a:spcPct val="0"/>
      </a:spcAft>
      <a:defRPr kern="1200">
        <a:solidFill>
          <a:schemeClr val="tx1"/>
        </a:solidFill>
        <a:latin typeface="Calibri" pitchFamily="34" charset="0"/>
        <a:ea typeface="+mn-ea"/>
        <a:cs typeface="Arial" charset="0"/>
      </a:defRPr>
    </a:lvl2pPr>
    <a:lvl3pPr marL="914400" algn="l" rtl="0" fontAlgn="base">
      <a:spcBef>
        <a:spcPct val="0"/>
      </a:spcBef>
      <a:spcAft>
        <a:spcPct val="0"/>
      </a:spcAft>
      <a:defRPr kern="1200">
        <a:solidFill>
          <a:schemeClr val="tx1"/>
        </a:solidFill>
        <a:latin typeface="Calibri" pitchFamily="34" charset="0"/>
        <a:ea typeface="+mn-ea"/>
        <a:cs typeface="Arial" charset="0"/>
      </a:defRPr>
    </a:lvl3pPr>
    <a:lvl4pPr marL="1371600" algn="l" rtl="0" fontAlgn="base">
      <a:spcBef>
        <a:spcPct val="0"/>
      </a:spcBef>
      <a:spcAft>
        <a:spcPct val="0"/>
      </a:spcAft>
      <a:defRPr kern="1200">
        <a:solidFill>
          <a:schemeClr val="tx1"/>
        </a:solidFill>
        <a:latin typeface="Calibri" pitchFamily="34" charset="0"/>
        <a:ea typeface="+mn-ea"/>
        <a:cs typeface="Arial" charset="0"/>
      </a:defRPr>
    </a:lvl4pPr>
    <a:lvl5pPr marL="1828800" algn="l"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655" autoAdjust="0"/>
    <p:restoredTop sz="93254" autoAdjust="0"/>
  </p:normalViewPr>
  <p:slideViewPr>
    <p:cSldViewPr>
      <p:cViewPr>
        <p:scale>
          <a:sx n="66" d="100"/>
          <a:sy n="66" d="100"/>
        </p:scale>
        <p:origin x="-2598" y="-948"/>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8.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92F1A56F-388E-4C39-85FA-A36890357634}" type="datetimeFigureOut">
              <a:rPr lang="en-US"/>
              <a:pPr>
                <a:defRPr/>
              </a:pPr>
              <a:t>1/19/2015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smtClean="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Pr>
              <a:defRPr/>
            </a:pPr>
            <a:fld id="{AFDE474E-5F05-4ABC-974E-B954067A8F6F}" type="slidenum">
              <a:rPr lang="en-US"/>
              <a:pPr>
                <a:defRPr/>
              </a:pPr>
              <a:t>‹#›</a:t>
            </a:fld>
            <a:endParaRPr lang="en-US" dirty="0"/>
          </a:p>
        </p:txBody>
      </p:sp>
    </p:spTree>
    <p:extLst>
      <p:ext uri="{BB962C8B-B14F-4D97-AF65-F5344CB8AC3E}">
        <p14:creationId xmlns:p14="http://schemas.microsoft.com/office/powerpoint/2010/main" val="366279868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it-IT" smtClean="0"/>
          </a:p>
        </p:txBody>
      </p:sp>
      <p:sp>
        <p:nvSpPr>
          <p:cNvPr id="317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AC382387-3E42-4AEB-8A24-6F31FDE26860}" type="slidenum">
              <a:rPr lang="en-US" altLang="it-IT" smtClean="0"/>
              <a:pPr eaLnBrk="1" hangingPunct="1">
                <a:spcBef>
                  <a:spcPct val="0"/>
                </a:spcBef>
              </a:pPr>
              <a:t>1</a:t>
            </a:fld>
            <a:endParaRPr lang="en-US" altLang="it-IT"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277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it-IT" smtClean="0"/>
              <a:t>Investigate the feasibility of using unobtrusive technologies (smartphones, sensor network technology) in order to provide useful and modular patient training and monitoring methodologies that allow to capture physiological information (i.e., heart activity, oxygen saturation, breathing sounds), physical activity, patient data, and environmental context.</a:t>
            </a:r>
          </a:p>
          <a:p>
            <a:endParaRPr lang="en-US" altLang="it-IT" smtClean="0"/>
          </a:p>
          <a:p>
            <a:r>
              <a:rPr lang="en-US" altLang="it-IT" smtClean="0"/>
              <a:t>Signal processing and machine learning methods will be investigated to develop reliable algorithms to derive COPD relevant indicators and trends including patient characteristics, physical state, activity and behavior patterns. The information extracted will be mapped to clinically meaningful metrics of the overall physiologic and functional status of COPD patients. The development of daily routine analysis and automatic segmentation based on physiological information will be used to obtain objective patient's behavioral assessment and new markers of patient's improvements under laboratory (pulmonary rehabilitation) and (if possible) free living conditions. The algorithms will be the basis for risk classification of patients for developing an exacerbation and continuous home coaching and training.</a:t>
            </a:r>
          </a:p>
        </p:txBody>
      </p:sp>
      <p:sp>
        <p:nvSpPr>
          <p:cNvPr id="3277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30DE0E56-2AC5-4903-B3BC-D814D2533F19}" type="slidenum">
              <a:rPr lang="en-US" altLang="it-IT" smtClean="0"/>
              <a:pPr eaLnBrk="1" hangingPunct="1">
                <a:spcBef>
                  <a:spcPct val="0"/>
                </a:spcBef>
              </a:pPr>
              <a:t>2</a:t>
            </a:fld>
            <a:endParaRPr lang="en-US" altLang="it-IT"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3</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4</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5</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6</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7</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8</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9</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blue">
    <p:spTree>
      <p:nvGrpSpPr>
        <p:cNvPr id="1" name=""/>
        <p:cNvGrpSpPr/>
        <p:nvPr/>
      </p:nvGrpSpPr>
      <p:grpSpPr>
        <a:xfrm>
          <a:off x="0" y="0"/>
          <a:ext cx="0" cy="0"/>
          <a:chOff x="0" y="0"/>
          <a:chExt cx="0" cy="0"/>
        </a:xfrm>
      </p:grpSpPr>
      <p:sp>
        <p:nvSpPr>
          <p:cNvPr id="6" name="Rechteck 10"/>
          <p:cNvSpPr>
            <a:spLocks/>
          </p:cNvSpPr>
          <p:nvPr userDrawn="1">
            <p:custDataLst>
              <p:tags r:id="rId1"/>
            </p:custDataLst>
          </p:nvPr>
        </p:nvSpPr>
        <p:spPr bwMode="auto">
          <a:xfrm>
            <a:off x="233363" y="233363"/>
            <a:ext cx="8685212" cy="5637212"/>
          </a:xfrm>
          <a:custGeom>
            <a:avLst/>
            <a:gdLst>
              <a:gd name="T0" fmla="*/ 0 w 8684843"/>
              <a:gd name="T1" fmla="*/ 5643488 h 5636316"/>
              <a:gd name="T2" fmla="*/ 0 w 8684843"/>
              <a:gd name="T3" fmla="*/ 0 h 5636316"/>
              <a:gd name="T4" fmla="*/ 8687773 w 8684843"/>
              <a:gd name="T5" fmla="*/ 0 h 5636316"/>
              <a:gd name="T6" fmla="*/ 8687773 w 8684843"/>
              <a:gd name="T7" fmla="*/ 4418210 h 5636316"/>
              <a:gd name="T8" fmla="*/ 7089193 w 8684843"/>
              <a:gd name="T9" fmla="*/ 5643488 h 5636316"/>
              <a:gd name="T10" fmla="*/ 0 w 8684843"/>
              <a:gd name="T11" fmla="*/ 5643488 h 5636316"/>
              <a:gd name="T12" fmla="*/ 0 w 8684843"/>
              <a:gd name="T13" fmla="*/ 0 h 563631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684843" h="5636316">
                <a:moveTo>
                  <a:pt x="0" y="5636316"/>
                </a:moveTo>
                <a:lnTo>
                  <a:pt x="0" y="0"/>
                </a:lnTo>
                <a:lnTo>
                  <a:pt x="8684821" y="0"/>
                </a:lnTo>
                <a:lnTo>
                  <a:pt x="8684821" y="4412595"/>
                </a:lnTo>
                <a:cubicBezTo>
                  <a:pt x="8684821" y="4412595"/>
                  <a:pt x="8710016" y="5571530"/>
                  <a:pt x="7086785" y="5636316"/>
                </a:cubicBezTo>
                <a:lnTo>
                  <a:pt x="0" y="5636316"/>
                </a:lnTo>
                <a:lnTo>
                  <a:pt x="0" y="0"/>
                </a:lnTo>
                <a:lnTo>
                  <a:pt x="0" y="5636316"/>
                </a:lnTo>
                <a:close/>
              </a:path>
            </a:pathLst>
          </a:custGeom>
          <a:gradFill rotWithShape="1">
            <a:gsLst>
              <a:gs pos="0">
                <a:srgbClr val="0089C4"/>
              </a:gs>
              <a:gs pos="17999">
                <a:srgbClr val="0089C4"/>
              </a:gs>
              <a:gs pos="100000">
                <a:srgbClr val="629FD5"/>
              </a:gs>
            </a:gsLst>
            <a:lin ang="2100000" scaled="1"/>
          </a:gradFill>
          <a:ln>
            <a:noFill/>
          </a:ln>
          <a:extLs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Lst>
        </p:spPr>
        <p:txBody>
          <a:bodyPr/>
          <a:lstStyle/>
          <a:p>
            <a:endParaRPr lang="en-US"/>
          </a:p>
        </p:txBody>
      </p:sp>
      <p:pic>
        <p:nvPicPr>
          <p:cNvPr id="7" name="Picture 6"/>
          <p:cNvPicPr>
            <a:picLocks/>
          </p:cNvPicPr>
          <p:nvPr userDrawn="1">
            <p:custDataLst>
              <p:tags r:id="rId2"/>
            </p:custDataLst>
          </p:nvPr>
        </p:nvPicPr>
        <p:blipFill>
          <a:blip r:embed="rId4"/>
          <a:stretch>
            <a:fillRect/>
          </a:stretch>
        </p:blipFill>
        <p:spPr>
          <a:xfrm>
            <a:off x="7110413" y="6329363"/>
            <a:ext cx="1601787" cy="295275"/>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Rectangle 7"/>
          <p:cNvSpPr/>
          <p:nvPr userDrawn="1"/>
        </p:nvSpPr>
        <p:spPr>
          <a:xfrm>
            <a:off x="107950" y="6237288"/>
            <a:ext cx="5759450" cy="5762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de-DE"/>
          </a:p>
        </p:txBody>
      </p:sp>
      <p:sp>
        <p:nvSpPr>
          <p:cNvPr id="17" name="Text Placeholder 3"/>
          <p:cNvSpPr>
            <a:spLocks noGrp="1"/>
          </p:cNvSpPr>
          <p:nvPr>
            <p:ph type="body" sz="quarter" idx="10"/>
          </p:nvPr>
        </p:nvSpPr>
        <p:spPr>
          <a:xfrm>
            <a:off x="828674" y="2052000"/>
            <a:ext cx="7488000" cy="1620000"/>
          </a:xfrm>
          <a:prstGeom prst="rect">
            <a:avLst/>
          </a:prstGeom>
        </p:spPr>
        <p:txBody>
          <a:bodyPr lIns="0" tIns="0" rIns="0" bIns="0"/>
          <a:lstStyle>
            <a:lvl1pPr marL="0" indent="0" algn="l">
              <a:spcBef>
                <a:spcPts val="0"/>
              </a:spcBef>
              <a:buFontTx/>
              <a:buNone/>
              <a:defRPr sz="4800">
                <a:solidFill>
                  <a:schemeClr val="bg1"/>
                </a:solidFill>
              </a:defRPr>
            </a:lvl1pPr>
            <a:lvl2pPr>
              <a:defRPr sz="4800"/>
            </a:lvl2pPr>
            <a:lvl3pPr>
              <a:defRPr sz="4800"/>
            </a:lvl3pPr>
            <a:lvl4pPr>
              <a:defRPr sz="4800"/>
            </a:lvl4pPr>
            <a:lvl5pPr>
              <a:defRPr sz="4800"/>
            </a:lvl5pPr>
          </a:lstStyle>
          <a:p>
            <a:pPr lvl="0"/>
            <a:r>
              <a:rPr lang="en-US" smtClean="0"/>
              <a:t>Click to edit Master text styles</a:t>
            </a:r>
          </a:p>
        </p:txBody>
      </p:sp>
      <p:sp>
        <p:nvSpPr>
          <p:cNvPr id="4" name="Text Placeholder 3"/>
          <p:cNvSpPr>
            <a:spLocks noGrp="1"/>
          </p:cNvSpPr>
          <p:nvPr>
            <p:ph type="body" sz="quarter" idx="11"/>
          </p:nvPr>
        </p:nvSpPr>
        <p:spPr>
          <a:xfrm>
            <a:off x="828000" y="4608000"/>
            <a:ext cx="4320000" cy="252000"/>
          </a:xfrm>
          <a:prstGeom prst="rect">
            <a:avLst/>
          </a:prstGeom>
        </p:spPr>
        <p:txBody>
          <a:bodyPr lIns="0" tIns="0" rIns="0" bIns="0"/>
          <a:lstStyle>
            <a:lvl1pPr marL="0" indent="0">
              <a:spcBef>
                <a:spcPts val="0"/>
              </a:spcBef>
              <a:buFontTx/>
              <a:buNone/>
              <a:defRPr sz="1800" b="1">
                <a:solidFill>
                  <a:schemeClr val="bg1"/>
                </a:solidFill>
              </a:defRPr>
            </a:lvl1pPr>
          </a:lstStyle>
          <a:p>
            <a:pPr lvl="0"/>
            <a:r>
              <a:rPr lang="en-US" smtClean="0"/>
              <a:t>Click to edit Master text styles</a:t>
            </a:r>
          </a:p>
        </p:txBody>
      </p:sp>
      <p:sp>
        <p:nvSpPr>
          <p:cNvPr id="16" name="Text Placeholder 3"/>
          <p:cNvSpPr>
            <a:spLocks noGrp="1"/>
          </p:cNvSpPr>
          <p:nvPr>
            <p:ph type="body" sz="quarter" idx="12"/>
          </p:nvPr>
        </p:nvSpPr>
        <p:spPr>
          <a:xfrm>
            <a:off x="828000" y="4878000"/>
            <a:ext cx="4320000" cy="252000"/>
          </a:xfrm>
          <a:prstGeom prst="rect">
            <a:avLst/>
          </a:prstGeom>
        </p:spPr>
        <p:txBody>
          <a:bodyPr lIns="0" tIns="0" rIns="0" bIns="0"/>
          <a:lstStyle>
            <a:lvl1pPr marL="0" indent="0">
              <a:spcBef>
                <a:spcPts val="0"/>
              </a:spcBef>
              <a:buFontTx/>
              <a:buNone/>
              <a:defRPr sz="1600" b="0">
                <a:solidFill>
                  <a:schemeClr val="bg1"/>
                </a:solidFill>
              </a:defRPr>
            </a:lvl1pPr>
          </a:lstStyle>
          <a:p>
            <a:pPr lvl="0"/>
            <a:r>
              <a:rPr lang="en-US" smtClean="0"/>
              <a:t>Click to edit Master text styles</a:t>
            </a:r>
          </a:p>
        </p:txBody>
      </p:sp>
      <p:sp>
        <p:nvSpPr>
          <p:cNvPr id="18" name="Text Placeholder 3"/>
          <p:cNvSpPr>
            <a:spLocks noGrp="1"/>
          </p:cNvSpPr>
          <p:nvPr>
            <p:ph type="body" sz="quarter" idx="13"/>
          </p:nvPr>
        </p:nvSpPr>
        <p:spPr>
          <a:xfrm>
            <a:off x="828000" y="5148000"/>
            <a:ext cx="4320000" cy="252000"/>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Tx/>
              <a:buNone/>
              <a:tabLst/>
              <a:defRPr sz="1600" b="0">
                <a:solidFill>
                  <a:schemeClr val="bg1"/>
                </a:solidFill>
              </a:defRPr>
            </a:lvl1pPr>
          </a:lstStyle>
          <a:p>
            <a:pPr lvl="0"/>
            <a:r>
              <a:rPr lang="en-US" smtClean="0"/>
              <a:t>Click to edit Master text styles</a:t>
            </a:r>
          </a:p>
          <a:p>
            <a:pPr lvl="1"/>
            <a:r>
              <a:rPr lang="en-US" smtClean="0"/>
              <a:t>Second level</a:t>
            </a:r>
          </a:p>
        </p:txBody>
      </p:sp>
    </p:spTree>
    <p:extLst>
      <p:ext uri="{BB962C8B-B14F-4D97-AF65-F5344CB8AC3E}">
        <p14:creationId xmlns:p14="http://schemas.microsoft.com/office/powerpoint/2010/main" val="1494601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text">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3"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4"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5" name="Textplatzhalter 4"/>
          <p:cNvSpPr>
            <a:spLocks noGrp="1"/>
          </p:cNvSpPr>
          <p:nvPr>
            <p:ph type="body" sz="quarter" idx="13"/>
          </p:nvPr>
        </p:nvSpPr>
        <p:spPr>
          <a:xfrm>
            <a:off x="828673" y="2124000"/>
            <a:ext cx="7488000" cy="3960000"/>
          </a:xfrm>
          <a:prstGeom prst="rect">
            <a:avLst/>
          </a:prstGeom>
        </p:spPr>
        <p:txBody>
          <a:bodyPr lIns="0" tIns="0" rIns="0" bIns="0" spcCol="432000"/>
          <a:lstStyle>
            <a:lvl1pPr marL="216000" indent="-216000">
              <a:spcBef>
                <a:spcPts val="0"/>
              </a:spcBef>
              <a:defRPr sz="1800"/>
            </a:lvl1pPr>
            <a:lvl2pPr marL="432000" indent="-216000">
              <a:spcBef>
                <a:spcPts val="0"/>
              </a:spcBef>
              <a:defRPr sz="1800"/>
            </a:lvl2pPr>
            <a:lvl3pPr marL="648000" indent="-216000">
              <a:spcBef>
                <a:spcPts val="0"/>
              </a:spcBef>
              <a:buFont typeface="Wingdings" panose="05000000000000000000" pitchFamily="2" charset="2"/>
              <a:buChar char="§"/>
              <a:defRPr sz="1800"/>
            </a:lvl3pPr>
            <a:lvl4pPr marL="864000" indent="-216000">
              <a:spcBef>
                <a:spcPts val="0"/>
              </a:spcBef>
              <a:buFont typeface="Arial" panose="020B0604020202020204" pitchFamily="34" charset="0"/>
              <a:buChar char="•"/>
              <a:defRPr sz="1800"/>
            </a:lvl4pPr>
            <a:lvl5pPr marL="1080000" indent="-228600">
              <a:spcBef>
                <a:spcPts val="0"/>
              </a:spcBef>
              <a:buFont typeface="Calibri" panose="020F0502020204030204" pitchFamily="34" charset="0"/>
              <a:buChar char="─"/>
              <a:defRPr sz="1800"/>
            </a:lvl5pPr>
            <a:lvl6pPr marL="1296000" indent="-228600">
              <a:spcBef>
                <a:spcPts val="0"/>
              </a:spcBef>
              <a:buFont typeface="Calibri" panose="020F0502020204030204" pitchFamily="34" charset="0"/>
              <a:buChar char="─"/>
              <a:defRPr sz="1800"/>
            </a:lvl6pPr>
            <a:lvl7pPr marL="1512000" indent="-216000">
              <a:spcBef>
                <a:spcPts val="0"/>
              </a:spcBef>
              <a:buFont typeface="Calibri" panose="020F0502020204030204" pitchFamily="34" charset="0"/>
              <a:buChar char="─"/>
              <a:defRPr sz="1800"/>
            </a:lvl7pPr>
            <a:lvl8pPr marL="1728000" indent="-216000">
              <a:spcBef>
                <a:spcPts val="0"/>
              </a:spcBef>
              <a:buFont typeface="Calibri" panose="020F0502020204030204" pitchFamily="34" charset="0"/>
              <a:buChar char="─"/>
              <a:defRPr sz="1800"/>
            </a:lvl8pPr>
            <a:lvl9pPr marL="1944000" indent="-216000">
              <a:spcBef>
                <a:spcPts val="0"/>
              </a:spcBef>
              <a:buFont typeface="Calibri" panose="020F0502020204030204" pitchFamily="34" charset="0"/>
              <a:buChar cha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840666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ertical image">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Inhaltsplatzhalter 6"/>
          <p:cNvSpPr>
            <a:spLocks noGrp="1"/>
          </p:cNvSpPr>
          <p:nvPr>
            <p:ph sz="half" idx="2"/>
          </p:nvPr>
        </p:nvSpPr>
        <p:spPr>
          <a:xfrm>
            <a:off x="1" y="-1"/>
            <a:ext cx="3487293" cy="6858000"/>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solidFill>
                  <a:schemeClr val="tx1"/>
                </a:solidFill>
              </a:defRPr>
            </a:lvl1pPr>
          </a:lstStyle>
          <a:p>
            <a:pPr lvl="0"/>
            <a:r>
              <a:rPr lang="en-US" smtClean="0"/>
              <a:t>Click to edit Master text styles</a:t>
            </a:r>
          </a:p>
        </p:txBody>
      </p:sp>
      <p:sp>
        <p:nvSpPr>
          <p:cNvPr id="13" name="Textplatzhalter 12"/>
          <p:cNvSpPr>
            <a:spLocks noGrp="1"/>
          </p:cNvSpPr>
          <p:nvPr>
            <p:ph type="body" sz="quarter" idx="11"/>
          </p:nvPr>
        </p:nvSpPr>
        <p:spPr>
          <a:xfrm>
            <a:off x="3996000" y="828000"/>
            <a:ext cx="4320000" cy="540006"/>
          </a:xfrm>
          <a:prstGeom prst="rect">
            <a:avLst/>
          </a:prstGeom>
        </p:spPr>
        <p:txBody>
          <a:bodyPr lIns="0" tIns="0" rIns="0" bIns="0"/>
          <a:lstStyle>
            <a:lvl1pPr marL="0" indent="0">
              <a:spcBef>
                <a:spcPts val="0"/>
              </a:spcBef>
              <a:buFontTx/>
              <a:buNone/>
              <a:defRPr/>
            </a:lvl1pPr>
          </a:lstStyle>
          <a:p>
            <a:pPr lvl="0"/>
            <a:r>
              <a:rPr lang="en-US" smtClean="0"/>
              <a:t>Click to edit Master text styles</a:t>
            </a:r>
          </a:p>
        </p:txBody>
      </p:sp>
      <p:sp>
        <p:nvSpPr>
          <p:cNvPr id="3" name="Textplatzhalter 2"/>
          <p:cNvSpPr>
            <a:spLocks noGrp="1"/>
          </p:cNvSpPr>
          <p:nvPr>
            <p:ph type="body" sz="quarter" idx="12"/>
          </p:nvPr>
        </p:nvSpPr>
        <p:spPr>
          <a:xfrm>
            <a:off x="3996000" y="1368000"/>
            <a:ext cx="4320000" cy="414054"/>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4" name="Textplatzhalter 3"/>
          <p:cNvSpPr>
            <a:spLocks noGrp="1"/>
          </p:cNvSpPr>
          <p:nvPr>
            <p:ph type="body" sz="quarter" idx="13"/>
          </p:nvPr>
        </p:nvSpPr>
        <p:spPr>
          <a:xfrm>
            <a:off x="3996000" y="2123999"/>
            <a:ext cx="4320000" cy="3960000"/>
          </a:xfrm>
          <a:prstGeom prst="rect">
            <a:avLst/>
          </a:prstGeom>
        </p:spPr>
        <p:txBody>
          <a:bodyPr/>
          <a:lstStyle>
            <a:lvl1pPr marL="216000" indent="-216000">
              <a:spcBef>
                <a:spcPts val="0"/>
              </a:spcBef>
              <a:defRPr sz="1800"/>
            </a:lvl1pPr>
            <a:lvl2pPr marL="432000" indent="-216000">
              <a:spcBef>
                <a:spcPts val="0"/>
              </a:spcBef>
              <a:defRPr sz="1800"/>
            </a:lvl2pPr>
            <a:lvl3pPr marL="648000" indent="-216000">
              <a:spcBef>
                <a:spcPts val="0"/>
              </a:spcBef>
              <a:buFont typeface="Wingdings" panose="05000000000000000000" pitchFamily="2" charset="2"/>
              <a:buChar char="§"/>
              <a:defRPr sz="1800"/>
            </a:lvl3pPr>
            <a:lvl4pPr marL="864000" indent="-216000">
              <a:spcBef>
                <a:spcPts val="0"/>
              </a:spcBef>
              <a:buFont typeface="Arial" panose="020B0604020202020204" pitchFamily="34" charset="0"/>
              <a:buChar char="•"/>
              <a:defRPr sz="1800"/>
            </a:lvl4pPr>
            <a:lvl5pPr marL="1080000" indent="-216000">
              <a:spcBef>
                <a:spcPts val="0"/>
              </a:spcBef>
              <a:buFont typeface="Calibri" panose="020F0502020204030204" pitchFamily="34" charset="0"/>
              <a:buChar char="─"/>
              <a:defRPr sz="1800"/>
            </a:lvl5pPr>
            <a:lvl6pPr marL="1296000" indent="-216000">
              <a:spcBef>
                <a:spcPts val="0"/>
              </a:spcBef>
              <a:buFont typeface="Calibri" panose="020F0502020204030204" pitchFamily="34" charset="0"/>
              <a:buChar char="─"/>
              <a:defRPr/>
            </a:lvl6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3290407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Inhaltsplatzhalter 6"/>
          <p:cNvSpPr>
            <a:spLocks noGrp="1"/>
          </p:cNvSpPr>
          <p:nvPr>
            <p:ph sz="half" idx="2"/>
          </p:nvPr>
        </p:nvSpPr>
        <p:spPr>
          <a:xfrm>
            <a:off x="0" y="2123999"/>
            <a:ext cx="5655945" cy="3960000"/>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solidFill>
                  <a:schemeClr val="tx1"/>
                </a:solidFill>
              </a:defRPr>
            </a:lvl1pPr>
          </a:lstStyle>
          <a:p>
            <a:pPr lvl="0"/>
            <a:r>
              <a:rPr lang="en-US" smtClean="0"/>
              <a:t>Click to edit Master text styles</a:t>
            </a:r>
          </a:p>
        </p:txBody>
      </p:sp>
      <p:sp>
        <p:nvSpPr>
          <p:cNvPr id="7"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12"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9" name="Textplatzhalter 2"/>
          <p:cNvSpPr>
            <a:spLocks noGrp="1"/>
          </p:cNvSpPr>
          <p:nvPr>
            <p:ph type="body" sz="quarter" idx="14"/>
          </p:nvPr>
        </p:nvSpPr>
        <p:spPr>
          <a:xfrm>
            <a:off x="5904000" y="2124000"/>
            <a:ext cx="2412000" cy="3960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Tree>
    <p:extLst>
      <p:ext uri="{BB962C8B-B14F-4D97-AF65-F5344CB8AC3E}">
        <p14:creationId xmlns:p14="http://schemas.microsoft.com/office/powerpoint/2010/main" val="33426740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column images">
    <p:spTree>
      <p:nvGrpSpPr>
        <p:cNvPr id="1" name=""/>
        <p:cNvGrpSpPr/>
        <p:nvPr/>
      </p:nvGrpSpPr>
      <p:grpSpPr>
        <a:xfrm>
          <a:off x="0" y="0"/>
          <a:ext cx="0" cy="0"/>
          <a:chOff x="0" y="0"/>
          <a:chExt cx="0" cy="0"/>
        </a:xfrm>
      </p:grpSpPr>
      <p:pic>
        <p:nvPicPr>
          <p:cNvPr id="8" name="Picture 7"/>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10" name="Inhaltsplatzhalter 13"/>
          <p:cNvSpPr>
            <a:spLocks noGrp="1"/>
          </p:cNvSpPr>
          <p:nvPr>
            <p:ph sz="quarter" idx="2"/>
          </p:nvPr>
        </p:nvSpPr>
        <p:spPr>
          <a:xfrm>
            <a:off x="4788003" y="2123999"/>
            <a:ext cx="3527997" cy="262799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lvl1pPr>
          </a:lstStyle>
          <a:p>
            <a:pPr lvl="0"/>
            <a:r>
              <a:rPr lang="en-US" smtClean="0"/>
              <a:t>Click to edit Master text styles</a:t>
            </a:r>
          </a:p>
        </p:txBody>
      </p:sp>
      <p:sp>
        <p:nvSpPr>
          <p:cNvPr id="12" name="Inhaltsplatzhalter 14"/>
          <p:cNvSpPr>
            <a:spLocks noGrp="1"/>
          </p:cNvSpPr>
          <p:nvPr>
            <p:ph sz="quarter" idx="1"/>
          </p:nvPr>
        </p:nvSpPr>
        <p:spPr>
          <a:xfrm>
            <a:off x="828003" y="2123999"/>
            <a:ext cx="3527997" cy="262799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lvl1pPr>
          </a:lstStyle>
          <a:p>
            <a:pPr lvl="0"/>
            <a:r>
              <a:rPr lang="en-US" smtClean="0"/>
              <a:t>Click to edit Master text styles</a:t>
            </a:r>
          </a:p>
        </p:txBody>
      </p:sp>
      <p:sp>
        <p:nvSpPr>
          <p:cNvPr id="14"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15"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3" name="Textplatzhalter 2"/>
          <p:cNvSpPr>
            <a:spLocks noGrp="1"/>
          </p:cNvSpPr>
          <p:nvPr>
            <p:ph type="body" sz="quarter" idx="13"/>
          </p:nvPr>
        </p:nvSpPr>
        <p:spPr>
          <a:xfrm>
            <a:off x="828674" y="5004000"/>
            <a:ext cx="3528000" cy="1116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
        <p:nvSpPr>
          <p:cNvPr id="9" name="Textplatzhalter 2"/>
          <p:cNvSpPr>
            <a:spLocks noGrp="1"/>
          </p:cNvSpPr>
          <p:nvPr>
            <p:ph type="body" sz="quarter" idx="14"/>
          </p:nvPr>
        </p:nvSpPr>
        <p:spPr>
          <a:xfrm>
            <a:off x="4788000" y="5004000"/>
            <a:ext cx="3528000" cy="1116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Tree>
    <p:extLst>
      <p:ext uri="{BB962C8B-B14F-4D97-AF65-F5344CB8AC3E}">
        <p14:creationId xmlns:p14="http://schemas.microsoft.com/office/powerpoint/2010/main" val="4231921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white">
    <p:spTree>
      <p:nvGrpSpPr>
        <p:cNvPr id="1" name=""/>
        <p:cNvGrpSpPr/>
        <p:nvPr/>
      </p:nvGrpSpPr>
      <p:grpSpPr>
        <a:xfrm>
          <a:off x="0" y="0"/>
          <a:ext cx="0" cy="0"/>
          <a:chOff x="0" y="0"/>
          <a:chExt cx="0" cy="0"/>
        </a:xfrm>
      </p:grpSpPr>
      <p:pic>
        <p:nvPicPr>
          <p:cNvPr id="5" name="Picture 4"/>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4" name="Text Placeholder 3"/>
          <p:cNvSpPr>
            <a:spLocks noGrp="1"/>
          </p:cNvSpPr>
          <p:nvPr>
            <p:ph type="body" sz="quarter" idx="10"/>
          </p:nvPr>
        </p:nvSpPr>
        <p:spPr>
          <a:xfrm>
            <a:off x="828674" y="2052000"/>
            <a:ext cx="7488000" cy="1620000"/>
          </a:xfrm>
          <a:prstGeom prst="rect">
            <a:avLst/>
          </a:prstGeom>
        </p:spPr>
        <p:txBody>
          <a:bodyPr lIns="0" tIns="0" rIns="0" bIns="0"/>
          <a:lstStyle>
            <a:lvl1pPr marL="0" indent="0" algn="l">
              <a:spcBef>
                <a:spcPts val="0"/>
              </a:spcBef>
              <a:buFontTx/>
              <a:buNone/>
              <a:defRPr sz="4800">
                <a:solidFill>
                  <a:schemeClr val="tx1"/>
                </a:solidFill>
              </a:defRPr>
            </a:lvl1pPr>
            <a:lvl2pPr>
              <a:defRPr sz="4800"/>
            </a:lvl2pPr>
            <a:lvl3pPr>
              <a:defRPr sz="4800"/>
            </a:lvl3pPr>
            <a:lvl4pPr>
              <a:defRPr sz="4800"/>
            </a:lvl4pPr>
            <a:lvl5pPr>
              <a:defRPr sz="4800"/>
            </a:lvl5pPr>
          </a:lstStyle>
          <a:p>
            <a:pPr lvl="0"/>
            <a:r>
              <a:rPr lang="en-US" smtClean="0"/>
              <a:t>Click to edit Master text styles</a:t>
            </a:r>
          </a:p>
        </p:txBody>
      </p:sp>
      <p:sp>
        <p:nvSpPr>
          <p:cNvPr id="6" name="Text Placeholder 5"/>
          <p:cNvSpPr>
            <a:spLocks noGrp="1"/>
          </p:cNvSpPr>
          <p:nvPr>
            <p:ph type="body" sz="quarter" idx="11"/>
          </p:nvPr>
        </p:nvSpPr>
        <p:spPr>
          <a:xfrm>
            <a:off x="828675" y="1368000"/>
            <a:ext cx="7488238" cy="404816"/>
          </a:xfrm>
          <a:prstGeom prst="rect">
            <a:avLst/>
          </a:prstGeom>
        </p:spPr>
        <p:txBody>
          <a:bodyPr lIns="0" tIns="0" rIns="0" bIns="0"/>
          <a:lstStyle>
            <a:lvl1pPr marL="0" indent="0">
              <a:spcBef>
                <a:spcPts val="0"/>
              </a:spcBef>
              <a:buFontTx/>
              <a:buNone/>
              <a:defRPr sz="2000">
                <a:solidFill>
                  <a:schemeClr val="tx1"/>
                </a:solidFill>
              </a:defRPr>
            </a:lvl1pPr>
          </a:lstStyle>
          <a:p>
            <a:pPr lvl="0"/>
            <a:r>
              <a:rPr lang="en-US" smtClean="0"/>
              <a:t>Click to edit Master text styles</a:t>
            </a:r>
          </a:p>
        </p:txBody>
      </p:sp>
    </p:spTree>
    <p:extLst>
      <p:ext uri="{BB962C8B-B14F-4D97-AF65-F5344CB8AC3E}">
        <p14:creationId xmlns:p14="http://schemas.microsoft.com/office/powerpoint/2010/main" val="184845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2" name="Freeform 3"/>
          <p:cNvSpPr>
            <a:spLocks/>
          </p:cNvSpPr>
          <p:nvPr userDrawn="1">
            <p:custDataLst>
              <p:tags r:id="rId1"/>
            </p:custDataLst>
          </p:nvPr>
        </p:nvSpPr>
        <p:spPr bwMode="auto">
          <a:xfrm>
            <a:off x="0" y="0"/>
            <a:ext cx="9144000" cy="6858000"/>
          </a:xfrm>
          <a:custGeom>
            <a:avLst/>
            <a:gdLst>
              <a:gd name="T0" fmla="*/ 0 w 9144001"/>
              <a:gd name="T1" fmla="*/ 0 h 6858001"/>
              <a:gd name="T2" fmla="*/ 9143992 w 9144001"/>
              <a:gd name="T3" fmla="*/ 0 h 6858001"/>
              <a:gd name="T4" fmla="*/ 9143992 w 9144001"/>
              <a:gd name="T5" fmla="*/ 6857992 h 6858001"/>
              <a:gd name="T6" fmla="*/ 9143992 w 9144001"/>
              <a:gd name="T7" fmla="*/ 6857992 h 6858001"/>
              <a:gd name="T8" fmla="*/ 0 w 9144001"/>
              <a:gd name="T9" fmla="*/ 6857992 h 6858001"/>
              <a:gd name="T10" fmla="*/ 0 w 9144001"/>
              <a:gd name="T11" fmla="*/ 0 h 6858001"/>
              <a:gd name="T12" fmla="*/ 0 60000 65536"/>
              <a:gd name="T13" fmla="*/ 0 60000 65536"/>
              <a:gd name="T14" fmla="*/ 0 60000 65536"/>
              <a:gd name="T15" fmla="*/ 0 60000 65536"/>
              <a:gd name="T16" fmla="*/ 0 60000 65536"/>
              <a:gd name="T17" fmla="*/ 0 60000 65536"/>
              <a:gd name="T18" fmla="*/ 0 w 9144001"/>
              <a:gd name="T19" fmla="*/ 0 h 6858001"/>
              <a:gd name="T20" fmla="*/ 9144001 w 9144001"/>
              <a:gd name="T21" fmla="*/ 6858001 h 6858001"/>
            </a:gdLst>
            <a:ahLst/>
            <a:cxnLst>
              <a:cxn ang="T12">
                <a:pos x="T0" y="T1"/>
              </a:cxn>
              <a:cxn ang="T13">
                <a:pos x="T2" y="T3"/>
              </a:cxn>
              <a:cxn ang="T14">
                <a:pos x="T4" y="T5"/>
              </a:cxn>
              <a:cxn ang="T15">
                <a:pos x="T6" y="T7"/>
              </a:cxn>
              <a:cxn ang="T16">
                <a:pos x="T8" y="T9"/>
              </a:cxn>
              <a:cxn ang="T17">
                <a:pos x="T10" y="T11"/>
              </a:cxn>
            </a:cxnLst>
            <a:rect l="T18" t="T19" r="T20" b="T21"/>
            <a:pathLst>
              <a:path w="9144001" h="6858001">
                <a:moveTo>
                  <a:pt x="0" y="0"/>
                </a:moveTo>
                <a:lnTo>
                  <a:pt x="9144000" y="0"/>
                </a:lnTo>
                <a:lnTo>
                  <a:pt x="9144000" y="6858000"/>
                </a:lnTo>
                <a:lnTo>
                  <a:pt x="0" y="6858000"/>
                </a:lnTo>
                <a:lnTo>
                  <a:pt x="0" y="0"/>
                </a:lnTo>
                <a:close/>
              </a:path>
            </a:pathLst>
          </a:custGeom>
          <a:solidFill>
            <a:schemeClr val="bg1"/>
          </a:solidFill>
          <a:ln>
            <a:noFill/>
          </a:ln>
          <a:extLst>
            <a:ext uri="{91240B29-F687-4F45-9708-019B960494DF}">
              <a14:hiddenLine xmlns:a14="http://schemas.microsoft.com/office/drawing/2010/main" w="9525" cap="flat" cmpd="sng" algn="ctr">
                <a:solidFill>
                  <a:srgbClr val="000000"/>
                </a:solidFill>
                <a:prstDash val="solid"/>
                <a:round/>
                <a:headEnd type="none" w="med" len="med"/>
                <a:tailEnd type="none" w="med" len="med"/>
              </a14:hiddenLine>
            </a:ext>
          </a:extLst>
        </p:spPr>
        <p:txBody>
          <a:bodyPr/>
          <a:lstStyle/>
          <a:p>
            <a:endParaRPr lang="en-US"/>
          </a:p>
        </p:txBody>
      </p:sp>
      <p:pic>
        <p:nvPicPr>
          <p:cNvPr id="3" name="Picture 6"/>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941763" y="2627313"/>
            <a:ext cx="1260475" cy="160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46351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6481" y="273629"/>
            <a:ext cx="8226720" cy="1143480"/>
          </a:xfrm>
          <a:prstGeom prst="rect">
            <a:avLst/>
          </a:prstGeom>
        </p:spPr>
        <p:txBody>
          <a:bodyPr lIns="82945" tIns="41473" rIns="82945" bIns="41473"/>
          <a:lstStyle/>
          <a:p>
            <a:r>
              <a:rPr lang="en-US" smtClean="0"/>
              <a:t>Click to edit Master title style</a:t>
            </a:r>
            <a:endParaRPr lang="it-IT"/>
          </a:p>
        </p:txBody>
      </p:sp>
      <p:sp>
        <p:nvSpPr>
          <p:cNvPr id="3" name="Content Placeholder 2"/>
          <p:cNvSpPr>
            <a:spLocks noGrp="1"/>
          </p:cNvSpPr>
          <p:nvPr>
            <p:ph idx="1"/>
          </p:nvPr>
        </p:nvSpPr>
        <p:spPr>
          <a:xfrm>
            <a:off x="456481" y="1604328"/>
            <a:ext cx="8226720" cy="3976258"/>
          </a:xfrm>
          <a:prstGeom prst="rect">
            <a:avLst/>
          </a:prstGeom>
        </p:spPr>
        <p:txBody>
          <a:bodyPr lIns="82945" tIns="41473" rIns="82945" bIns="41473"/>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t-IT"/>
          </a:p>
        </p:txBody>
      </p:sp>
      <p:sp>
        <p:nvSpPr>
          <p:cNvPr id="4" name="Date Placeholder 3"/>
          <p:cNvSpPr>
            <a:spLocks noGrp="1"/>
          </p:cNvSpPr>
          <p:nvPr>
            <p:ph type="dt" idx="10"/>
          </p:nvPr>
        </p:nvSpPr>
        <p:spPr>
          <a:xfrm>
            <a:off x="456481" y="6247376"/>
            <a:ext cx="2128320" cy="470930"/>
          </a:xfrm>
          <a:prstGeom prst="rect">
            <a:avLst/>
          </a:prstGeom>
        </p:spPr>
        <p:txBody>
          <a:bodyPr lIns="82945" tIns="41473" rIns="82945" bIns="41473"/>
          <a:lstStyle>
            <a:lvl1pPr>
              <a:defRPr/>
            </a:lvl1pPr>
          </a:lstStyle>
          <a:p>
            <a:endParaRPr lang="en-US" altLang="it-IT"/>
          </a:p>
        </p:txBody>
      </p:sp>
      <p:sp>
        <p:nvSpPr>
          <p:cNvPr id="5" name="Footer Placeholder 4"/>
          <p:cNvSpPr>
            <a:spLocks noGrp="1"/>
          </p:cNvSpPr>
          <p:nvPr>
            <p:ph type="ftr" idx="11"/>
          </p:nvPr>
        </p:nvSpPr>
        <p:spPr>
          <a:xfrm>
            <a:off x="3127680" y="6247376"/>
            <a:ext cx="2897280" cy="470930"/>
          </a:xfrm>
          <a:prstGeom prst="rect">
            <a:avLst/>
          </a:prstGeom>
        </p:spPr>
        <p:txBody>
          <a:bodyPr lIns="82945" tIns="41473" rIns="82945" bIns="41473"/>
          <a:lstStyle>
            <a:lvl1pPr>
              <a:defRPr/>
            </a:lvl1pPr>
          </a:lstStyle>
          <a:p>
            <a:endParaRPr lang="en-US" altLang="it-IT"/>
          </a:p>
        </p:txBody>
      </p:sp>
      <p:sp>
        <p:nvSpPr>
          <p:cNvPr id="6" name="Slide Number Placeholder 5"/>
          <p:cNvSpPr>
            <a:spLocks noGrp="1"/>
          </p:cNvSpPr>
          <p:nvPr>
            <p:ph type="sldNum" idx="12"/>
          </p:nvPr>
        </p:nvSpPr>
        <p:spPr>
          <a:xfrm>
            <a:off x="6556321" y="6247376"/>
            <a:ext cx="2128320" cy="470930"/>
          </a:xfrm>
          <a:prstGeom prst="rect">
            <a:avLst/>
          </a:prstGeom>
        </p:spPr>
        <p:txBody>
          <a:bodyPr lIns="82945" tIns="41473" rIns="82945" bIns="41473"/>
          <a:lstStyle>
            <a:lvl1pPr>
              <a:defRPr/>
            </a:lvl1pPr>
          </a:lstStyle>
          <a:p>
            <a:fld id="{E1844D8F-A47E-4BDD-8D90-1A4ACB5CD981}" type="slidenum">
              <a:rPr lang="en-US" altLang="it-IT"/>
              <a:pPr/>
              <a:t>‹#›</a:t>
            </a:fld>
            <a:endParaRPr lang="en-US" altLang="it-IT"/>
          </a:p>
        </p:txBody>
      </p:sp>
    </p:spTree>
    <p:extLst>
      <p:ext uri="{BB962C8B-B14F-4D97-AF65-F5344CB8AC3E}">
        <p14:creationId xmlns:p14="http://schemas.microsoft.com/office/powerpoint/2010/main" val="2354755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2.xml"/><Relationship Id="rId5" Type="http://schemas.openxmlformats.org/officeDocument/2006/relationships/slideLayout" Target="../slideLayouts/slideLayout5.xml"/><Relationship Id="rId10" Type="http://schemas.openxmlformats.org/officeDocument/2006/relationships/tags" Target="../tags/tag1.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p:cNvSpPr txBox="1">
            <a:spLocks/>
          </p:cNvSpPr>
          <p:nvPr>
            <p:custDataLst>
              <p:tags r:id="rId10"/>
            </p:custDataLst>
          </p:nvPr>
        </p:nvSpPr>
        <p:spPr>
          <a:xfrm>
            <a:off x="828675" y="6502400"/>
            <a:ext cx="4535488" cy="139700"/>
          </a:xfrm>
          <a:prstGeom prst="rect">
            <a:avLst/>
          </a:prstGeom>
          <a:noFill/>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lIns="0" tIns="0" rIns="0" bIns="0"/>
          <a:lstStyle/>
          <a:p>
            <a:pPr fontAlgn="auto">
              <a:spcBef>
                <a:spcPts val="0"/>
              </a:spcBef>
              <a:spcAft>
                <a:spcPts val="0"/>
              </a:spcAft>
              <a:defRPr/>
            </a:pPr>
            <a:r>
              <a:rPr lang="en-US" sz="900" dirty="0">
                <a:solidFill>
                  <a:srgbClr val="000000"/>
                </a:solidFill>
                <a:latin typeface="Calibri"/>
                <a:cs typeface="+mn-cs"/>
              </a:rPr>
              <a:t>November 01, 2013      _Sector      Confidential</a:t>
            </a:r>
          </a:p>
        </p:txBody>
      </p:sp>
      <p:sp>
        <p:nvSpPr>
          <p:cNvPr id="3" name="TextBox 6"/>
          <p:cNvSpPr txBox="1">
            <a:spLocks/>
          </p:cNvSpPr>
          <p:nvPr>
            <p:custDataLst>
              <p:tags r:id="rId11"/>
            </p:custDataLst>
          </p:nvPr>
        </p:nvSpPr>
        <p:spPr>
          <a:xfrm>
            <a:off x="234950" y="6464300"/>
            <a:ext cx="508000" cy="184150"/>
          </a:xfrm>
          <a:prstGeom prst="rect">
            <a:avLst/>
          </a:prstGeom>
          <a:noFill/>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lIns="0" tIns="0" rIns="0" bIns="0"/>
          <a:lstStyle/>
          <a:p>
            <a:pPr fontAlgn="auto">
              <a:spcBef>
                <a:spcPts val="0"/>
              </a:spcBef>
              <a:spcAft>
                <a:spcPts val="0"/>
              </a:spcAft>
              <a:defRPr/>
            </a:pPr>
            <a:fld id="{7B32DDD5-3E93-4470-B41D-A15CB9C9A3DB}" type="slidenum">
              <a:rPr lang="de-DE" sz="1200">
                <a:latin typeface="+mn-lt"/>
                <a:cs typeface="+mn-cs"/>
              </a:rPr>
              <a:pPr fontAlgn="auto">
                <a:spcBef>
                  <a:spcPts val="0"/>
                </a:spcBef>
                <a:spcAft>
                  <a:spcPts val="0"/>
                </a:spcAft>
                <a:defRPr/>
              </a:pPr>
              <a:t>‹#›</a:t>
            </a:fld>
            <a:endParaRPr lang="en-US" sz="1200" dirty="0">
              <a:latin typeface="Calibri"/>
              <a:cs typeface="+mn-cs"/>
            </a:endParaRPr>
          </a:p>
        </p:txBody>
      </p:sp>
    </p:spTree>
  </p:cSld>
  <p:clrMap bg1="lt1" tx1="dk1" bg2="lt2" tx2="dk2" accent1="accent1" accent2="accent2" accent3="accent3" accent4="accent4" accent5="accent5" accent6="accent6" hlink="hlink" folHlink="folHlink"/>
  <p:sldLayoutIdLst>
    <p:sldLayoutId id="2147483815" r:id="rId1"/>
    <p:sldLayoutId id="2147483816" r:id="rId2"/>
    <p:sldLayoutId id="2147483817" r:id="rId3"/>
    <p:sldLayoutId id="2147483818" r:id="rId4"/>
    <p:sldLayoutId id="2147483819" r:id="rId5"/>
    <p:sldLayoutId id="2147483820" r:id="rId6"/>
    <p:sldLayoutId id="2147483821" r:id="rId7"/>
    <p:sldLayoutId id="2147483822" r:id="rId8"/>
  </p:sldLayoutIdLst>
  <p:timing>
    <p:tnLst>
      <p:par>
        <p:cTn id="1" dur="indefinite" restart="never" nodeType="tmRoot"/>
      </p:par>
    </p:tnLst>
  </p:timing>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6.gif"/><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2.jpe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8.xml"/><Relationship Id="rId5" Type="http://schemas.openxmlformats.org/officeDocument/2006/relationships/image" Target="../media/image13.png"/><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17.png"/><Relationship Id="rId5" Type="http://schemas.openxmlformats.org/officeDocument/2006/relationships/image" Target="../media/image16.jpe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vmlDrawing" Target="../drawings/vmlDrawing1.vml"/><Relationship Id="rId5" Type="http://schemas.openxmlformats.org/officeDocument/2006/relationships/image" Target="../media/image18.emf"/><Relationship Id="rId4" Type="http://schemas.openxmlformats.org/officeDocument/2006/relationships/package" Target="../embeddings/Microsoft_Excel_Worksheet1.xlsx"/></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extplatzhalter 1"/>
          <p:cNvSpPr>
            <a:spLocks noGrp="1"/>
          </p:cNvSpPr>
          <p:nvPr>
            <p:ph type="body" sz="quarter" idx="10"/>
          </p:nvPr>
        </p:nvSpPr>
        <p:spPr bwMode="auto">
          <a:xfrm>
            <a:off x="828675" y="1143000"/>
            <a:ext cx="7488238" cy="16192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buClr>
                <a:srgbClr val="000000"/>
              </a:buClr>
              <a:buSzPct val="100000"/>
              <a:defRPr/>
            </a:pPr>
            <a:r>
              <a:rPr lang="en-US" b="1" dirty="0" smtClean="0">
                <a:solidFill>
                  <a:srgbClr val="FFFFFF"/>
                </a:solidFill>
                <a:effectLst>
                  <a:outerShdw blurRad="38100" dist="38100" dir="2700000" algn="tl">
                    <a:srgbClr val="000000"/>
                  </a:outerShdw>
                </a:effectLst>
              </a:rPr>
              <a:t>Thesis overview</a:t>
            </a:r>
            <a:endParaRPr lang="en-US" sz="3200" b="1" dirty="0">
              <a:solidFill>
                <a:srgbClr val="FFFFFF"/>
              </a:solidFill>
              <a:effectLst>
                <a:outerShdw blurRad="38100" dist="38100" dir="2700000" algn="tl">
                  <a:srgbClr val="000000"/>
                </a:outerShdw>
              </a:effectLst>
            </a:endParaRPr>
          </a:p>
        </p:txBody>
      </p:sp>
      <p:sp>
        <p:nvSpPr>
          <p:cNvPr id="9219" name="Textplatzhalter 2"/>
          <p:cNvSpPr>
            <a:spLocks noGrp="1"/>
          </p:cNvSpPr>
          <p:nvPr>
            <p:ph type="body" sz="quarter" idx="11"/>
          </p:nvPr>
        </p:nvSpPr>
        <p:spPr bwMode="auto">
          <a:xfrm>
            <a:off x="828675" y="4608513"/>
            <a:ext cx="4319588" cy="2508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r>
              <a:rPr lang="en-US" altLang="en-US" dirty="0" smtClean="0"/>
              <a:t>Gabriele Spina</a:t>
            </a:r>
          </a:p>
        </p:txBody>
      </p:sp>
      <p:sp>
        <p:nvSpPr>
          <p:cNvPr id="9220" name="Textplatzhalter 3"/>
          <p:cNvSpPr>
            <a:spLocks noGrp="1"/>
          </p:cNvSpPr>
          <p:nvPr>
            <p:ph type="body" sz="quarter" idx="12"/>
          </p:nvPr>
        </p:nvSpPr>
        <p:spPr bwMode="auto">
          <a:xfrm>
            <a:off x="828675" y="4878388"/>
            <a:ext cx="4319588" cy="2508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r>
              <a:rPr lang="en-US" altLang="en-US" dirty="0" smtClean="0"/>
              <a:t>Ph.D. student, TU/e – Philips</a:t>
            </a:r>
          </a:p>
          <a:p>
            <a:pPr eaLnBrk="1" hangingPunct="1">
              <a:spcBef>
                <a:spcPct val="0"/>
              </a:spcBef>
            </a:pPr>
            <a:r>
              <a:rPr lang="en-US" altLang="en-US" dirty="0" smtClean="0"/>
              <a:t>Bert den Brinker, Philips</a:t>
            </a:r>
          </a:p>
        </p:txBody>
      </p:sp>
      <p:sp>
        <p:nvSpPr>
          <p:cNvPr id="9221" name="Textplatzhalter 4"/>
          <p:cNvSpPr>
            <a:spLocks noGrp="1"/>
          </p:cNvSpPr>
          <p:nvPr>
            <p:ph type="body" sz="quarter" idx="13"/>
          </p:nvPr>
        </p:nvSpPr>
        <p:spPr bwMode="auto">
          <a:xfrm>
            <a:off x="838200" y="5562600"/>
            <a:ext cx="4319588" cy="252412"/>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fontAlgn="base">
              <a:spcBef>
                <a:spcPct val="0"/>
              </a:spcBef>
              <a:spcAft>
                <a:spcPct val="0"/>
              </a:spcAft>
            </a:pPr>
            <a:r>
              <a:rPr lang="en-US" altLang="en-US" dirty="0" smtClean="0"/>
              <a:t>19 January 2015</a:t>
            </a:r>
          </a:p>
        </p:txBody>
      </p:sp>
      <p:pic>
        <p:nvPicPr>
          <p:cNvPr id="9222"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7400" y="6210300"/>
            <a:ext cx="990600" cy="4953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7" name="Textplatzhalter 3_"/>
          <p:cNvSpPr txBox="1">
            <a:spLocks/>
          </p:cNvSpPr>
          <p:nvPr/>
        </p:nvSpPr>
        <p:spPr bwMode="auto">
          <a:xfrm>
            <a:off x="5867400" y="4778375"/>
            <a:ext cx="4319588" cy="2508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marL="0" indent="0" algn="l" rtl="0" eaLnBrk="0" fontAlgn="base" hangingPunct="0">
              <a:spcBef>
                <a:spcPts val="0"/>
              </a:spcBef>
              <a:spcAft>
                <a:spcPct val="0"/>
              </a:spcAft>
              <a:buFontTx/>
              <a:buNone/>
              <a:defRPr sz="1600" b="0" kern="1200">
                <a:solidFill>
                  <a:schemeClr val="bg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1" hangingPunct="1">
              <a:spcBef>
                <a:spcPct val="0"/>
              </a:spcBef>
            </a:pPr>
            <a:r>
              <a:rPr lang="en-US" altLang="en-US" dirty="0" smtClean="0"/>
              <a:t>g.spina@tue.nl</a:t>
            </a:r>
          </a:p>
          <a:p>
            <a:pPr eaLnBrk="1" hangingPunct="1">
              <a:spcBef>
                <a:spcPct val="0"/>
              </a:spcBef>
            </a:pPr>
            <a:r>
              <a:rPr lang="en-US" altLang="en-US" dirty="0" smtClean="0"/>
              <a:t>gabriele.spina@philips.com</a:t>
            </a:r>
          </a:p>
        </p:txBody>
      </p:sp>
    </p:spTree>
    <p:extLst>
      <p:ext uri="{BB962C8B-B14F-4D97-AF65-F5344CB8AC3E}">
        <p14:creationId xmlns:p14="http://schemas.microsoft.com/office/powerpoint/2010/main" val="31163152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ext Placeholder 1"/>
          <p:cNvSpPr>
            <a:spLocks noGrp="1"/>
          </p:cNvSpPr>
          <p:nvPr>
            <p:ph type="body" sz="quarter" idx="10"/>
          </p:nvPr>
        </p:nvSpPr>
        <p:spPr bwMode="auto">
          <a:xfrm>
            <a:off x="828675" y="828675"/>
            <a:ext cx="7486650" cy="51276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pPr>
            <a:r>
              <a:rPr lang="en-US" altLang="it-IT" dirty="0" smtClean="0"/>
              <a:t>Ph.D. overview </a:t>
            </a:r>
          </a:p>
        </p:txBody>
      </p:sp>
      <p:sp>
        <p:nvSpPr>
          <p:cNvPr id="10243" name="Text Placeholder 2"/>
          <p:cNvSpPr>
            <a:spLocks noGrp="1"/>
          </p:cNvSpPr>
          <p:nvPr>
            <p:ph type="body" sz="quarter" idx="12"/>
          </p:nvPr>
        </p:nvSpPr>
        <p:spPr bwMode="auto">
          <a:xfrm>
            <a:off x="828675" y="1368425"/>
            <a:ext cx="7486650" cy="3746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pPr>
            <a:r>
              <a:rPr lang="en-US" altLang="it-IT" b="1" i="1" dirty="0" smtClean="0"/>
              <a:t>Patient monitoring strategies in Chronic Obstructive Pulmonary Disease (COPD) patients</a:t>
            </a:r>
            <a:endParaRPr lang="en-US" altLang="it-IT" dirty="0" smtClean="0"/>
          </a:p>
        </p:txBody>
      </p:sp>
      <p:sp>
        <p:nvSpPr>
          <p:cNvPr id="4" name="Text Placeholder 3"/>
          <p:cNvSpPr>
            <a:spLocks noGrp="1"/>
          </p:cNvSpPr>
          <p:nvPr>
            <p:ph type="body" sz="quarter" idx="13"/>
          </p:nvPr>
        </p:nvSpPr>
        <p:spPr>
          <a:xfrm>
            <a:off x="828675" y="2657475"/>
            <a:ext cx="7488238" cy="1076325"/>
          </a:xfrm>
        </p:spPr>
        <p:txBody>
          <a:bodyPr/>
          <a:lstStyle/>
          <a:p>
            <a:pPr marL="0" indent="0" algn="ctr">
              <a:buFont typeface="Arial" charset="0"/>
              <a:buNone/>
              <a:defRPr/>
            </a:pPr>
            <a:r>
              <a:rPr lang="en-US" dirty="0" smtClean="0"/>
              <a:t>Unobtrusive </a:t>
            </a:r>
            <a:r>
              <a:rPr lang="en-US" dirty="0" smtClean="0">
                <a:solidFill>
                  <a:schemeClr val="accent5"/>
                </a:solidFill>
              </a:rPr>
              <a:t>technologies</a:t>
            </a:r>
            <a:r>
              <a:rPr lang="en-US" dirty="0" smtClean="0"/>
              <a:t>, signal </a:t>
            </a:r>
            <a:r>
              <a:rPr lang="en-US" dirty="0"/>
              <a:t>processing and machine learning </a:t>
            </a:r>
            <a:r>
              <a:rPr lang="en-US" dirty="0" smtClean="0">
                <a:solidFill>
                  <a:schemeClr val="accent5"/>
                </a:solidFill>
              </a:rPr>
              <a:t>algorithms</a:t>
            </a:r>
            <a:r>
              <a:rPr lang="en-US" dirty="0" smtClean="0"/>
              <a:t> for modular </a:t>
            </a:r>
            <a:r>
              <a:rPr lang="en-US" dirty="0" smtClean="0">
                <a:solidFill>
                  <a:schemeClr val="accent5"/>
                </a:solidFill>
              </a:rPr>
              <a:t>patient training </a:t>
            </a:r>
            <a:r>
              <a:rPr lang="en-US" dirty="0" smtClean="0"/>
              <a:t>and </a:t>
            </a:r>
            <a:r>
              <a:rPr lang="en-US" dirty="0" smtClean="0">
                <a:solidFill>
                  <a:schemeClr val="accent5"/>
                </a:solidFill>
              </a:rPr>
              <a:t>monitoring</a:t>
            </a:r>
            <a:r>
              <a:rPr lang="en-US" dirty="0" smtClean="0"/>
              <a:t> systems</a:t>
            </a:r>
          </a:p>
        </p:txBody>
      </p:sp>
    </p:spTree>
    <p:extLst>
      <p:ext uri="{BB962C8B-B14F-4D97-AF65-F5344CB8AC3E}">
        <p14:creationId xmlns:p14="http://schemas.microsoft.com/office/powerpoint/2010/main" val="349638872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altLang="it-IT" sz="4000" dirty="0" smtClean="0"/>
              <a:t>Introduction</a:t>
            </a:r>
            <a:endParaRPr lang="en-US" altLang="it-IT" sz="4000" dirty="0"/>
          </a:p>
        </p:txBody>
      </p:sp>
      <p:sp>
        <p:nvSpPr>
          <p:cNvPr id="36" name="Text Placeholder 2"/>
          <p:cNvSpPr txBox="1">
            <a:spLocks/>
          </p:cNvSpPr>
          <p:nvPr/>
        </p:nvSpPr>
        <p:spPr bwMode="auto">
          <a:xfrm>
            <a:off x="828675" y="1606550"/>
            <a:ext cx="7486650" cy="3746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45" tIns="41473" rIns="82945" bIns="41473" numCol="1" anchor="t" anchorCtr="0" compatLnSpc="1">
            <a:prstTxWarp prst="textNoShape">
              <a:avLst/>
            </a:prstTxWarp>
          </a:bodyPr>
          <a:lstStyle>
            <a:defPPr>
              <a:defRPr lang="de-DE"/>
            </a:defPPr>
            <a:lvl1pPr algn="l" rtl="0" fontAlgn="base">
              <a:spcBef>
                <a:spcPct val="0"/>
              </a:spcBef>
              <a:spcAft>
                <a:spcPct val="0"/>
              </a:spcAft>
              <a:defRPr kern="1200">
                <a:solidFill>
                  <a:schemeClr val="tx1"/>
                </a:solidFill>
                <a:latin typeface="Calibri" pitchFamily="34" charset="0"/>
                <a:ea typeface="+mn-ea"/>
                <a:cs typeface="Arial" charset="0"/>
              </a:defRPr>
            </a:lvl1pPr>
            <a:lvl2pPr marL="457200" algn="l" rtl="0" fontAlgn="base">
              <a:spcBef>
                <a:spcPct val="0"/>
              </a:spcBef>
              <a:spcAft>
                <a:spcPct val="0"/>
              </a:spcAft>
              <a:defRPr kern="1200">
                <a:solidFill>
                  <a:schemeClr val="tx1"/>
                </a:solidFill>
                <a:latin typeface="Calibri" pitchFamily="34" charset="0"/>
                <a:ea typeface="+mn-ea"/>
                <a:cs typeface="Arial" charset="0"/>
              </a:defRPr>
            </a:lvl2pPr>
            <a:lvl3pPr marL="914400" algn="l" rtl="0" fontAlgn="base">
              <a:spcBef>
                <a:spcPct val="0"/>
              </a:spcBef>
              <a:spcAft>
                <a:spcPct val="0"/>
              </a:spcAft>
              <a:defRPr kern="1200">
                <a:solidFill>
                  <a:schemeClr val="tx1"/>
                </a:solidFill>
                <a:latin typeface="Calibri" pitchFamily="34" charset="0"/>
                <a:ea typeface="+mn-ea"/>
                <a:cs typeface="Arial" charset="0"/>
              </a:defRPr>
            </a:lvl3pPr>
            <a:lvl4pPr marL="1371600" algn="l" rtl="0" fontAlgn="base">
              <a:spcBef>
                <a:spcPct val="0"/>
              </a:spcBef>
              <a:spcAft>
                <a:spcPct val="0"/>
              </a:spcAft>
              <a:defRPr kern="1200">
                <a:solidFill>
                  <a:schemeClr val="tx1"/>
                </a:solidFill>
                <a:latin typeface="Calibri" pitchFamily="34" charset="0"/>
                <a:ea typeface="+mn-ea"/>
                <a:cs typeface="Arial" charset="0"/>
              </a:defRPr>
            </a:lvl4pPr>
            <a:lvl5pPr marL="1828800" algn="l"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a:lstStyle>
          <a:p>
            <a:pPr algn="ctr"/>
            <a:r>
              <a:rPr lang="en-US" altLang="it-IT" smtClean="0"/>
              <a:t>Paradigm shift towards the home environment</a:t>
            </a:r>
          </a:p>
        </p:txBody>
      </p:sp>
      <p:sp>
        <p:nvSpPr>
          <p:cNvPr id="37" name="Text Placeholder 2_"/>
          <p:cNvSpPr txBox="1">
            <a:spLocks/>
          </p:cNvSpPr>
          <p:nvPr/>
        </p:nvSpPr>
        <p:spPr bwMode="auto">
          <a:xfrm>
            <a:off x="457200" y="3892550"/>
            <a:ext cx="80772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a:r>
              <a:rPr lang="en-US" altLang="it-IT" sz="2200" dirty="0"/>
              <a:t>Essential to develop new technologies and service concepts that permit monitoring and management of patients at home (remotely)</a:t>
            </a:r>
          </a:p>
        </p:txBody>
      </p:sp>
      <p:pic>
        <p:nvPicPr>
          <p:cNvPr id="38" name="Picture 7" descr="http://elderlawblogtn.com/wp-content/uploads/2013/08/HOSPITAL.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2039938"/>
            <a:ext cx="1531938" cy="1627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9" descr="https://www.moneysmart.gov.au/media/399935/buying-a-hom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9213" y="2039938"/>
            <a:ext cx="23622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ight Arrow 39"/>
          <p:cNvSpPr/>
          <p:nvPr/>
        </p:nvSpPr>
        <p:spPr>
          <a:xfrm>
            <a:off x="3962400" y="2154238"/>
            <a:ext cx="1074738" cy="5905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41" name="Picture 11" descr="http://www.netanimations.net/old_man_walking_with__a_hc.gif"/>
          <p:cNvPicPr>
            <a:picLocks noChangeAspect="1" noChangeArrowheads="1" noCrop="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17975" y="2803525"/>
            <a:ext cx="606425" cy="925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7417006"/>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a:t>Smartphone monitoring and training approaches</a:t>
            </a:r>
            <a:endParaRPr lang="en-US" altLang="it-IT" sz="4000" dirty="0"/>
          </a:p>
        </p:txBody>
      </p:sp>
      <p:sp>
        <p:nvSpPr>
          <p:cNvPr id="13" name="Text Placeholder 2_"/>
          <p:cNvSpPr txBox="1">
            <a:spLocks/>
          </p:cNvSpPr>
          <p:nvPr/>
        </p:nvSpPr>
        <p:spPr bwMode="auto">
          <a:xfrm>
            <a:off x="304800" y="3292474"/>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a:t>CRNTC+: A smartphone-based sensor processing framework for prototyping personal healthcare </a:t>
            </a:r>
            <a:r>
              <a:rPr lang="en-US" sz="1600" b="1" dirty="0" smtClean="0"/>
              <a:t>applications.</a:t>
            </a:r>
            <a:r>
              <a:rPr lang="en-US" sz="1600" dirty="0" smtClean="0"/>
              <a:t> </a:t>
            </a:r>
            <a:r>
              <a:rPr lang="it-IT" sz="1600" dirty="0" smtClean="0"/>
              <a:t>Iinternational </a:t>
            </a:r>
            <a:r>
              <a:rPr lang="it-IT" sz="1600" dirty="0"/>
              <a:t>joint conference on </a:t>
            </a:r>
            <a:r>
              <a:rPr lang="en-US" sz="1600" dirty="0"/>
              <a:t>Pervasive Computing Technologies for Healthcare</a:t>
            </a:r>
            <a:r>
              <a:rPr lang="it-IT" sz="1600" dirty="0" smtClean="0"/>
              <a:t>, 2013.</a:t>
            </a:r>
            <a:endParaRPr lang="en-US" altLang="it-IT" sz="1600" dirty="0"/>
          </a:p>
        </p:txBody>
      </p:sp>
      <p:pic>
        <p:nvPicPr>
          <p:cNvPr id="1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2048" y="1752600"/>
            <a:ext cx="2731552" cy="137422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36378520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a:t>Smartphone monitoring and training approaches</a:t>
            </a:r>
            <a:endParaRPr lang="en-US" altLang="it-IT" sz="4000" dirty="0"/>
          </a:p>
        </p:txBody>
      </p:sp>
      <p:sp>
        <p:nvSpPr>
          <p:cNvPr id="37" name="Text Placeholder 2_"/>
          <p:cNvSpPr txBox="1">
            <a:spLocks/>
          </p:cNvSpPr>
          <p:nvPr/>
        </p:nvSpPr>
        <p:spPr bwMode="auto">
          <a:xfrm>
            <a:off x="304800" y="5645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err="1" smtClean="0"/>
              <a:t>COPDTrainer</a:t>
            </a:r>
            <a:r>
              <a:rPr lang="it-IT" sz="1600" b="1" dirty="0" smtClean="0"/>
              <a:t>: </a:t>
            </a:r>
            <a:r>
              <a:rPr lang="en-US" sz="1600" b="1" dirty="0" err="1"/>
              <a:t>COPDTrainer</a:t>
            </a:r>
            <a:r>
              <a:rPr lang="en-US" sz="1600" b="1" dirty="0"/>
              <a:t>: a smartphone-based </a:t>
            </a:r>
            <a:r>
              <a:rPr lang="en-US" sz="1600" b="1" dirty="0" smtClean="0"/>
              <a:t>motion rehabilitation </a:t>
            </a:r>
            <a:r>
              <a:rPr lang="en-US" sz="1600" b="1" dirty="0"/>
              <a:t>training system with real-time acoustic </a:t>
            </a:r>
            <a:r>
              <a:rPr lang="en-US" sz="1600" b="1" dirty="0" smtClean="0"/>
              <a:t>feedback.</a:t>
            </a:r>
            <a:r>
              <a:rPr lang="en-US" sz="1600" dirty="0" smtClean="0"/>
              <a:t> </a:t>
            </a:r>
            <a:r>
              <a:rPr lang="it-IT" sz="1600" dirty="0" smtClean="0"/>
              <a:t>ACM </a:t>
            </a:r>
            <a:r>
              <a:rPr lang="it-IT" sz="1600" dirty="0"/>
              <a:t>international joint conference on Pervasive and ubiquitous </a:t>
            </a:r>
            <a:r>
              <a:rPr lang="it-IT" sz="1600" dirty="0" smtClean="0"/>
              <a:t>computing, 2013</a:t>
            </a:r>
            <a:endParaRPr lang="en-US" altLang="it-IT" sz="1600" dirty="0"/>
          </a:p>
        </p:txBody>
      </p:sp>
      <p:grpSp>
        <p:nvGrpSpPr>
          <p:cNvPr id="2" name="Group 1"/>
          <p:cNvGrpSpPr/>
          <p:nvPr/>
        </p:nvGrpSpPr>
        <p:grpSpPr>
          <a:xfrm>
            <a:off x="2590801" y="4181476"/>
            <a:ext cx="3886199" cy="1304924"/>
            <a:chOff x="2514600" y="3505200"/>
            <a:chExt cx="4362905" cy="1457324"/>
          </a:xfrm>
        </p:grpSpPr>
        <p:pic>
          <p:nvPicPr>
            <p:cNvPr id="266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6630" y="3509967"/>
              <a:ext cx="915761" cy="14525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66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7230" y="3509967"/>
              <a:ext cx="2200275" cy="1438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5"/>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514600" y="3505200"/>
              <a:ext cx="1100137" cy="1438276"/>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13" name="Text Placeholder 2__"/>
          <p:cNvSpPr txBox="1">
            <a:spLocks/>
          </p:cNvSpPr>
          <p:nvPr/>
        </p:nvSpPr>
        <p:spPr bwMode="auto">
          <a:xfrm>
            <a:off x="304800" y="3292474"/>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a:t>CRNTC+: A smartphone-based sensor processing framework for prototyping personal healthcare </a:t>
            </a:r>
            <a:r>
              <a:rPr lang="en-US" sz="1600" b="1" dirty="0" smtClean="0"/>
              <a:t>applications.</a:t>
            </a:r>
            <a:r>
              <a:rPr lang="en-US" sz="1600" dirty="0" smtClean="0"/>
              <a:t> </a:t>
            </a:r>
            <a:r>
              <a:rPr lang="it-IT" sz="1600" dirty="0" smtClean="0"/>
              <a:t>International </a:t>
            </a:r>
            <a:r>
              <a:rPr lang="it-IT" sz="1600" dirty="0"/>
              <a:t>joint conference on </a:t>
            </a:r>
            <a:r>
              <a:rPr lang="en-US" sz="1600" dirty="0"/>
              <a:t>Pervasive Computing Technologies for Healthcare</a:t>
            </a:r>
            <a:r>
              <a:rPr lang="it-IT" sz="1600" dirty="0" smtClean="0"/>
              <a:t>, 2013.</a:t>
            </a:r>
            <a:endParaRPr lang="en-US" altLang="it-IT" sz="1600" dirty="0"/>
          </a:p>
        </p:txBody>
      </p:sp>
      <p:pic>
        <p:nvPicPr>
          <p:cNvPr id="18" name="Picture 2"/>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212048" y="1752600"/>
            <a:ext cx="2731552" cy="137422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16121636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insights in COPD</a:t>
            </a:r>
            <a:endParaRPr lang="en-US" altLang="it-IT" sz="40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err="1" smtClean="0"/>
              <a:t>Mesquita</a:t>
            </a:r>
            <a:r>
              <a:rPr lang="en-US" sz="1600" dirty="0" smtClean="0"/>
              <a:t>, Spina et al. </a:t>
            </a:r>
            <a:r>
              <a:rPr lang="en-US" sz="1600" b="1" dirty="0"/>
              <a:t>Physical activity patterns and clusters in 1001 patients with chronic obstructive pulmonary disease.</a:t>
            </a:r>
            <a:r>
              <a:rPr lang="en-US" sz="1600" dirty="0" smtClean="0"/>
              <a:t> </a:t>
            </a:r>
            <a:r>
              <a:rPr lang="it-IT" sz="1600" dirty="0" smtClean="0"/>
              <a:t>Submitted to Thorax, (submitted).</a:t>
            </a:r>
            <a:endParaRPr lang="en-US" altLang="it-IT" sz="1600" dirty="0"/>
          </a:p>
        </p:txBody>
      </p:sp>
      <p:pic>
        <p:nvPicPr>
          <p:cNvPr id="27651" name="Picture 3" descr="D:\Condiviso\TUe\COPDBodyMedia\COPDBodyMedia_paper\Draft\Thorax\Figures\Figure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4657" y="1039131"/>
            <a:ext cx="2979737" cy="2235200"/>
          </a:xfrm>
          <a:prstGeom prst="rect">
            <a:avLst/>
          </a:prstGeom>
          <a:noFill/>
          <a:extLst>
            <a:ext uri="{909E8E84-426E-40DD-AFC4-6F175D3DCCD1}">
              <a14:hiddenFill xmlns:a14="http://schemas.microsoft.com/office/drawing/2010/main">
                <a:solidFill>
                  <a:srgbClr val="FFFFFF"/>
                </a:solidFill>
              </a14:hiddenFill>
            </a:ext>
          </a:extLst>
        </p:spPr>
      </p:pic>
      <p:pic>
        <p:nvPicPr>
          <p:cNvPr id="27653" name="Picture 5" descr="D:\Condiviso\TUe\COPDBodyMedia\COPDBodyMedia_paper\Draft\Thorax\Figures\Figure6_resized.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96951" y="1085951"/>
            <a:ext cx="2953522" cy="22151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2398034"/>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insights in COPD</a:t>
            </a:r>
            <a:endParaRPr lang="en-US" altLang="it-IT" sz="4000" dirty="0"/>
          </a:p>
        </p:txBody>
      </p:sp>
      <p:sp>
        <p:nvSpPr>
          <p:cNvPr id="37" name="Text Placeholder 2_"/>
          <p:cNvSpPr txBox="1">
            <a:spLocks/>
          </p:cNvSpPr>
          <p:nvPr/>
        </p:nvSpPr>
        <p:spPr bwMode="auto">
          <a:xfrm>
            <a:off x="304800" y="6011636"/>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a:t>Identifying Physical Activity Profiles in </a:t>
            </a:r>
            <a:r>
              <a:rPr lang="en-US" sz="1600" b="1" dirty="0" smtClean="0"/>
              <a:t>COPD Patients </a:t>
            </a:r>
            <a:r>
              <a:rPr lang="en-US" sz="1600" b="1" dirty="0"/>
              <a:t>Using Topic Models.</a:t>
            </a:r>
            <a:r>
              <a:rPr lang="en-US" sz="1600" dirty="0" smtClean="0"/>
              <a:t> </a:t>
            </a:r>
            <a:r>
              <a:rPr lang="en-US" sz="1600" dirty="0"/>
              <a:t>IEEE JOURNAL OF BIOMEDICAL AND HEALTH INFORMATICS</a:t>
            </a:r>
            <a:r>
              <a:rPr lang="it-IT" sz="1600" dirty="0" smtClean="0"/>
              <a:t>, 2015 (submitted)</a:t>
            </a:r>
            <a:endParaRPr lang="en-US" altLang="it-IT" sz="1600" dirty="0"/>
          </a:p>
        </p:txBody>
      </p:sp>
      <p:sp>
        <p:nvSpPr>
          <p:cNvPr id="13" name="Text Placeholder 2_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err="1" smtClean="0"/>
              <a:t>Mesquita</a:t>
            </a:r>
            <a:r>
              <a:rPr lang="en-US" sz="1600" dirty="0" smtClean="0"/>
              <a:t>, Spina et al. </a:t>
            </a:r>
            <a:r>
              <a:rPr lang="en-US" sz="1600" b="1" dirty="0"/>
              <a:t>Physical activity patterns and clusters in 1001 patients with chronic obstructive pulmonary disease.</a:t>
            </a:r>
            <a:r>
              <a:rPr lang="en-US" sz="1600" dirty="0" smtClean="0"/>
              <a:t> </a:t>
            </a:r>
            <a:r>
              <a:rPr lang="it-IT" sz="1600" dirty="0" smtClean="0"/>
              <a:t>Submitted to Thorax, (submitted).</a:t>
            </a:r>
            <a:endParaRPr lang="en-US" altLang="it-IT" sz="1600" dirty="0"/>
          </a:p>
        </p:txBody>
      </p:sp>
      <p:pic>
        <p:nvPicPr>
          <p:cNvPr id="27651" name="Picture 3" descr="D:\Condiviso\TUe\COPDBodyMedia\COPDBodyMedia_paper\Draft\Thorax\Figures\Figure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4657" y="1039131"/>
            <a:ext cx="2979737" cy="2235200"/>
          </a:xfrm>
          <a:prstGeom prst="rect">
            <a:avLst/>
          </a:prstGeom>
          <a:noFill/>
          <a:extLst>
            <a:ext uri="{909E8E84-426E-40DD-AFC4-6F175D3DCCD1}">
              <a14:hiddenFill xmlns:a14="http://schemas.microsoft.com/office/drawing/2010/main">
                <a:solidFill>
                  <a:srgbClr val="FFFFFF"/>
                </a:solidFill>
              </a14:hiddenFill>
            </a:ext>
          </a:extLst>
        </p:spPr>
      </p:pic>
      <p:pic>
        <p:nvPicPr>
          <p:cNvPr id="27653" name="Picture 5" descr="D:\Condiviso\TUe\COPDBodyMedia\COPDBodyMedia_paper\Draft\Thorax\Figures\Figure6_resized.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96951" y="1085951"/>
            <a:ext cx="2953522" cy="2215140"/>
          </a:xfrm>
          <a:prstGeom prst="rect">
            <a:avLst/>
          </a:prstGeom>
          <a:noFill/>
          <a:extLst>
            <a:ext uri="{909E8E84-426E-40DD-AFC4-6F175D3DCCD1}">
              <a14:hiddenFill xmlns:a14="http://schemas.microsoft.com/office/drawing/2010/main">
                <a:solidFill>
                  <a:srgbClr val="FFFFFF"/>
                </a:solidFill>
              </a14:hiddenFill>
            </a:ext>
          </a:extLst>
        </p:spPr>
      </p:pic>
      <p:pic>
        <p:nvPicPr>
          <p:cNvPr id="30722" name="Picture 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97843" y="4000500"/>
            <a:ext cx="5548313" cy="19431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8069072"/>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monitoring solutions</a:t>
            </a:r>
            <a:endParaRPr lang="en-US" altLang="it-IT" sz="40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600" dirty="0" smtClean="0"/>
              <a:t>Spina et al. </a:t>
            </a:r>
            <a:r>
              <a:rPr lang="en-US" sz="1600" b="1" dirty="0" err="1" smtClean="0"/>
              <a:t>Smartscope</a:t>
            </a:r>
            <a:r>
              <a:rPr lang="en-US" sz="1600" b="1" dirty="0" smtClean="0"/>
              <a:t>.</a:t>
            </a:r>
            <a:r>
              <a:rPr lang="en-US" sz="1600" dirty="0" smtClean="0"/>
              <a:t> </a:t>
            </a:r>
            <a:r>
              <a:rPr lang="it-IT" sz="1600" dirty="0" smtClean="0"/>
              <a:t>Planned.</a:t>
            </a:r>
            <a:endParaRPr lang="en-US" altLang="it-IT" sz="1600" dirty="0"/>
          </a:p>
        </p:txBody>
      </p:sp>
      <p:grpSp>
        <p:nvGrpSpPr>
          <p:cNvPr id="8" name="Group 2"/>
          <p:cNvGrpSpPr>
            <a:grpSpLocks/>
          </p:cNvGrpSpPr>
          <p:nvPr/>
        </p:nvGrpSpPr>
        <p:grpSpPr bwMode="auto">
          <a:xfrm>
            <a:off x="1066800" y="1865848"/>
            <a:ext cx="1752600" cy="813907"/>
            <a:chOff x="71438" y="2160588"/>
            <a:chExt cx="2519362" cy="1343818"/>
          </a:xfrm>
        </p:grpSpPr>
        <p:pic>
          <p:nvPicPr>
            <p:cNvPr id="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38" y="2160588"/>
              <a:ext cx="2519362" cy="105886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Rectangle 9"/>
            <p:cNvSpPr/>
            <p:nvPr/>
          </p:nvSpPr>
          <p:spPr>
            <a:xfrm>
              <a:off x="152400" y="3124769"/>
              <a:ext cx="1371600" cy="379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grpSp>
      <p:pic>
        <p:nvPicPr>
          <p:cNvPr id="11"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0" y="1394690"/>
            <a:ext cx="1065211" cy="1583634"/>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2" name="Picture 2"/>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1557461"/>
            <a:ext cx="1676400" cy="125809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Picture 15"/>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943600" y="1231625"/>
            <a:ext cx="1341716" cy="1909763"/>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470242821"/>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6" name="Object 35"/>
          <p:cNvGraphicFramePr>
            <a:graphicFrameLocks noChangeAspect="1"/>
          </p:cNvGraphicFramePr>
          <p:nvPr>
            <p:extLst>
              <p:ext uri="{D42A27DB-BD31-4B8C-83A1-F6EECF244321}">
                <p14:modId xmlns:p14="http://schemas.microsoft.com/office/powerpoint/2010/main" val="2885587077"/>
              </p:ext>
            </p:extLst>
          </p:nvPr>
        </p:nvGraphicFramePr>
        <p:xfrm>
          <a:off x="581025" y="1223963"/>
          <a:ext cx="7981950" cy="4410075"/>
        </p:xfrm>
        <a:graphic>
          <a:graphicData uri="http://schemas.openxmlformats.org/presentationml/2006/ole">
            <mc:AlternateContent xmlns:mc="http://schemas.openxmlformats.org/markup-compatibility/2006">
              <mc:Choice xmlns:v="urn:schemas-microsoft-com:vml" Requires="v">
                <p:oleObj spid="_x0000_s29729" name="Worksheet" r:id="rId4" imgW="7981882" imgH="4410175" progId="Excel.Sheet.12">
                  <p:embed/>
                </p:oleObj>
              </mc:Choice>
              <mc:Fallback>
                <p:oleObj name="Worksheet" r:id="rId4" imgW="7981882" imgH="4410175" progId="Excel.Sheet.12">
                  <p:embed/>
                  <p:pic>
                    <p:nvPicPr>
                      <p:cNvPr id="0" name=""/>
                      <p:cNvPicPr/>
                      <p:nvPr/>
                    </p:nvPicPr>
                    <p:blipFill>
                      <a:blip r:embed="rId5"/>
                      <a:stretch>
                        <a:fillRect/>
                      </a:stretch>
                    </p:blipFill>
                    <p:spPr>
                      <a:xfrm>
                        <a:off x="581025" y="1223963"/>
                        <a:ext cx="7981950" cy="4410075"/>
                      </a:xfrm>
                      <a:prstGeom prst="rect">
                        <a:avLst/>
                      </a:prstGeom>
                    </p:spPr>
                  </p:pic>
                </p:oleObj>
              </mc:Fallback>
            </mc:AlternateContent>
          </a:graphicData>
        </a:graphic>
      </p:graphicFrame>
    </p:spTree>
    <p:extLst>
      <p:ext uri="{BB962C8B-B14F-4D97-AF65-F5344CB8AC3E}">
        <p14:creationId xmlns:p14="http://schemas.microsoft.com/office/powerpoint/2010/main" val="3776148913"/>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extplatzhalter 1"/>
          <p:cNvSpPr>
            <a:spLocks noGrp="1"/>
          </p:cNvSpPr>
          <p:nvPr>
            <p:ph type="body" sz="quarter" idx="10"/>
          </p:nvPr>
        </p:nvSpPr>
        <p:spPr bwMode="auto">
          <a:xfrm>
            <a:off x="828675" y="2052638"/>
            <a:ext cx="7488238" cy="16192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endParaRPr lang="en-US" altLang="en-US" smtClean="0"/>
          </a:p>
        </p:txBody>
      </p:sp>
      <p:sp>
        <p:nvSpPr>
          <p:cNvPr id="29699" name="Textplatzhalter 2"/>
          <p:cNvSpPr>
            <a:spLocks noGrp="1"/>
          </p:cNvSpPr>
          <p:nvPr>
            <p:ph type="body" sz="quarter" idx="11"/>
          </p:nvPr>
        </p:nvSpPr>
        <p:spPr bwMode="auto">
          <a:xfrm>
            <a:off x="828675" y="1368425"/>
            <a:ext cx="7488238" cy="40481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endParaRPr lang="en-US" altLang="en-US" smtClean="0"/>
          </a:p>
        </p:txBody>
      </p:sp>
    </p:spTree>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FONT" val="SlideFooterFontC"/>
  <p:tag name="FONTSETCLASSNAME" val="FontSet1"/>
  <p:tag name="COLORS" val="-2;-2;-2;-2;SlideFooterFontColorDark;-2"/>
  <p:tag name="COLORSETCLASSNAME" val="ColorSet1"/>
  <p:tag name="SCRIPT" val="1"/>
  <p:tag name="FIELDS" val="DATE;DIVISION;ADDINFO;"/>
  <p:tag name="MLI" val="1"/>
  <p:tag name="SHAPESETGROUPCLASSNAME" val="ShapeSetGroup2"/>
  <p:tag name="SHAPESETCLASSNAME" val="FORMCOLORTEXT01"/>
  <p:tag name="COLORSETGROUPCLASSNAME" val="ColorSetGroupLight"/>
  <p:tag name="FONTSETGROUPCLASSNAME" val="FontSetGroup1"/>
  <p:tag name="SHAPECLASSNAME" val="FLineInfo1BlackG1S3"/>
  <p:tag name="SHAPECLASSPROTECTIONTYPE" val="63"/>
</p:tagLst>
</file>

<file path=ppt/tags/tag2.xml><?xml version="1.0" encoding="utf-8"?>
<p:tagLst xmlns:a="http://schemas.openxmlformats.org/drawingml/2006/main" xmlns:r="http://schemas.openxmlformats.org/officeDocument/2006/relationships" xmlns:p="http://schemas.openxmlformats.org/presentationml/2006/main">
  <p:tag name="FONT" val="SlidePageNumberFontC"/>
  <p:tag name="FONTSETCLASSNAME" val="FontSet1"/>
  <p:tag name="COLORS" val="-2;-2;-2;-2;SlidePageNoFontColorLight;-2"/>
  <p:tag name="COLORSETCLASSNAME" val="ColorSet1"/>
  <p:tag name="SCRIPT" val="1"/>
  <p:tag name="MLI" val="1"/>
  <p:tag name="SHAPESETGROUPCLASSNAME" val="ShapeSetGroup2"/>
  <p:tag name="SHAPESETCLASSNAME" val="COLORSLIDE01"/>
  <p:tag name="COLORSETGROUPCLASSNAME" val="ColorSetGroupLight"/>
  <p:tag name="FONTSETGROUPCLASSNAME" val="FontSetGroup1"/>
  <p:tag name="SHAPECLASSNAME" val="PageNoWhiteG1S3"/>
  <p:tag name="SHAPECLASSPROTECTIONTYPE" val="47"/>
</p:tagLst>
</file>

<file path=ppt/tags/tag3.xml><?xml version="1.0" encoding="utf-8"?>
<p:tagLst xmlns:a="http://schemas.openxmlformats.org/drawingml/2006/main" xmlns:r="http://schemas.openxmlformats.org/officeDocument/2006/relationships" xmlns:p="http://schemas.openxmlformats.org/presentationml/2006/main">
  <p:tag name="SHAPECLASSNAME" val="CustFormCol001RoundSingleCornerRectangle"/>
  <p:tag name="COLORSETCLASSNAME" val="ColorSet1"/>
  <p:tag name="COLORS" val="-1;Scheme9;-2;-2;-1;-2"/>
</p:tagLst>
</file>

<file path=ppt/tags/tag4.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IMAGETEXT01"/>
  <p:tag name="COLORSETGROUPCLASSNAME" val="ColorSetGroupLight"/>
  <p:tag name="FONTSETGROUPCLASSNAME" val="FontSetGroup1"/>
  <p:tag name="SHAPECLASSNAME" val="PhilipsLogoTitle"/>
  <p:tag name="SHAPECLASSFILE" val="PHGMCWORDMARK2008$C.emf"/>
  <p:tag name="SHAPECLASSPROTECTIONTYPE" val="31"/>
</p:tagLst>
</file>

<file path=ppt/tags/tag5.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6.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7.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8.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9.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10.xml><?xml version="1.0" encoding="utf-8"?>
<p:tagLst xmlns:a="http://schemas.openxmlformats.org/drawingml/2006/main" xmlns:r="http://schemas.openxmlformats.org/officeDocument/2006/relationships" xmlns:p="http://schemas.openxmlformats.org/presentationml/2006/main">
  <p:tag name="SHAPECLASSNAME" val="CustFormEnd001Rectangle"/>
</p:tagLst>
</file>

<file path=ppt/theme/theme1.xml><?xml version="1.0" encoding="utf-8"?>
<a:theme xmlns:a="http://schemas.openxmlformats.org/drawingml/2006/main" name="philips_internal_documentation_template_nov13">
  <a:themeElements>
    <a:clrScheme name="PhCST">
      <a:dk1>
        <a:srgbClr val="000000"/>
      </a:dk1>
      <a:lt1>
        <a:srgbClr val="FFFFFF"/>
      </a:lt1>
      <a:dk2>
        <a:srgbClr val="000000"/>
      </a:dk2>
      <a:lt2>
        <a:srgbClr val="CCCEDB"/>
      </a:lt2>
      <a:accent1>
        <a:srgbClr val="0089C4"/>
      </a:accent1>
      <a:accent2>
        <a:srgbClr val="1E9D8B"/>
      </a:accent2>
      <a:accent3>
        <a:srgbClr val="5B8F22"/>
      </a:accent3>
      <a:accent4>
        <a:srgbClr val="E98300"/>
      </a:accent4>
      <a:accent5>
        <a:srgbClr val="CD202C"/>
      </a:accent5>
      <a:accent6>
        <a:srgbClr val="7D0063"/>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xmlns="" name="philips_internal_documentation_template_nov13.pptx" id="{DE36B277-C83F-4A85-9819-A77CE0CA1F6F}" vid="{FCDF7755-76C1-4ABB-A274-22B823C3C88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philips_internal_documentation_template_nov13</Template>
  <TotalTime>832</TotalTime>
  <Words>458</Words>
  <Application>Microsoft Office PowerPoint</Application>
  <PresentationFormat>On-screen Show (4:3)</PresentationFormat>
  <Paragraphs>37</Paragraphs>
  <Slides>11</Slides>
  <Notes>9</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11</vt:i4>
      </vt:variant>
    </vt:vector>
  </HeadingPairs>
  <TitlesOfParts>
    <vt:vector size="13" baseType="lpstr">
      <vt:lpstr>philips_internal_documentation_template_nov13</vt:lpstr>
      <vt:lpstr>Worksheet</vt:lpstr>
      <vt:lpstr>PowerPoint Presentation</vt:lpstr>
      <vt:lpstr>PowerPoint Presentation</vt:lpstr>
      <vt:lpstr>Introduction</vt:lpstr>
      <vt:lpstr>Smartphone monitoring and training approaches</vt:lpstr>
      <vt:lpstr>Smartphone monitoring and training approaches</vt:lpstr>
      <vt:lpstr>New insights in COPD</vt:lpstr>
      <vt:lpstr>New insights in COPD</vt:lpstr>
      <vt:lpstr>New monitoring solutions</vt:lpstr>
      <vt:lpstr>PowerPoint Presentation</vt:lpstr>
      <vt:lpstr>PowerPoint Presentation</vt:lpstr>
      <vt:lpstr>PowerPoint Presentation</vt:lpstr>
    </vt:vector>
  </TitlesOfParts>
  <Company>Philips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Brinker, Bert den</dc:creator>
  <dc:description>Version 6.4 - 1.0</dc:description>
  <cp:lastModifiedBy>Philips</cp:lastModifiedBy>
  <cp:revision>92</cp:revision>
  <dcterms:created xsi:type="dcterms:W3CDTF">2013-12-17T10:24:36Z</dcterms:created>
  <dcterms:modified xsi:type="dcterms:W3CDTF">2015-01-19T09:18:35Z</dcterms:modified>
</cp:coreProperties>
</file>