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00" r:id="rId3"/>
    <p:sldId id="266" r:id="rId4"/>
    <p:sldId id="263" r:id="rId5"/>
    <p:sldId id="264" r:id="rId6"/>
    <p:sldId id="289" r:id="rId7"/>
    <p:sldId id="290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68" r:id="rId16"/>
    <p:sldId id="285" r:id="rId17"/>
    <p:sldId id="286" r:id="rId18"/>
    <p:sldId id="278" r:id="rId19"/>
    <p:sldId id="279" r:id="rId20"/>
    <p:sldId id="283" r:id="rId21"/>
    <p:sldId id="284" r:id="rId22"/>
    <p:sldId id="277" r:id="rId23"/>
    <p:sldId id="275" r:id="rId24"/>
    <p:sldId id="276" r:id="rId25"/>
    <p:sldId id="270" r:id="rId26"/>
    <p:sldId id="267" r:id="rId27"/>
    <p:sldId id="282" r:id="rId28"/>
    <p:sldId id="256" r:id="rId29"/>
    <p:sldId id="261" r:id="rId30"/>
    <p:sldId id="257" r:id="rId31"/>
    <p:sldId id="258" r:id="rId32"/>
    <p:sldId id="259" r:id="rId33"/>
    <p:sldId id="26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4083" autoAdjust="0"/>
  </p:normalViewPr>
  <p:slideViewPr>
    <p:cSldViewPr>
      <p:cViewPr varScale="1">
        <p:scale>
          <a:sx n="106" d="100"/>
          <a:sy n="106" d="100"/>
        </p:scale>
        <p:origin x="-11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Probabilistic sensor fusion of activity and physiological data based on topic models for sleep characterization in COPD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6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\\code1\storage\2012-0362_icare4copd_ux\datasets\Gabriele_CIROBodymedia_sleeping4\figure\copd\patient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42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3200400" cy="4525963"/>
          </a:xfrm>
        </p:spPr>
        <p:txBody>
          <a:bodyPr>
            <a:normAutofit/>
          </a:bodyPr>
          <a:lstStyle/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</a:t>
            </a:r>
            <a:r>
              <a:rPr lang="en-US" sz="1000" dirty="0"/>
              <a:t>data out of range: temperature [24-40] , gsr: [-inf-8</a:t>
            </a:r>
            <a:r>
              <a:rPr lang="en-US" sz="1000" dirty="0" smtClean="0"/>
              <a:t>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endParaRPr lang="en-US" sz="1000" dirty="0" smtClean="0"/>
          </a:p>
        </p:txBody>
      </p:sp>
      <p:pic>
        <p:nvPicPr>
          <p:cNvPr id="2054" name="Picture 6" descr="C:\Users\310153563\Documents\GitHub\COPDBodyMedia_sleeping4\COPDBodyMedia_sleeping_code\Pictures\Presentation\patient7_not_sta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581150"/>
            <a:ext cx="28448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310153563\Documents\GitHub\COPDBodyMedia_sleeping4\COPDBodyMedia_sleeping_code\Pictures\Presentation\patient7_nor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4080954"/>
            <a:ext cx="2667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310153563\Documents\GitHub\COPDBodyMedia_sleeping4\COPDBodyMedia_sleeping_code\Pictures\Presentation\patient1_nor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360" y="4080954"/>
            <a:ext cx="2667001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310153563\Documents\GitHub\COPDBodyMedia_sleeping4\COPDBodyMedia_sleeping_code\Pictures\Presentation\patient1_not_stan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461" y="1581150"/>
            <a:ext cx="2844801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3886200" y="3641573"/>
            <a:ext cx="4876800" cy="429762"/>
            <a:chOff x="685800" y="3047999"/>
            <a:chExt cx="7990840" cy="602430"/>
          </a:xfrm>
        </p:grpSpPr>
        <p:sp>
          <p:nvSpPr>
            <p:cNvPr id="17" name="Down Arrow 16"/>
            <p:cNvSpPr/>
            <p:nvPr/>
          </p:nvSpPr>
          <p:spPr>
            <a:xfrm>
              <a:off x="2420460" y="3062323"/>
              <a:ext cx="304800" cy="532218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5800" y="3118214"/>
              <a:ext cx="3620849" cy="345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Centering ( - mean_S1_alldays)</a:t>
              </a:r>
              <a:endParaRPr lang="en-US" sz="1000" dirty="0"/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7000240" y="3118212"/>
              <a:ext cx="304800" cy="532217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28640" y="3138100"/>
              <a:ext cx="304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Centering ( </a:t>
              </a:r>
              <a:r>
                <a:rPr lang="en-US" sz="1000" dirty="0"/>
                <a:t>- </a:t>
              </a:r>
              <a:r>
                <a:rPr lang="en-US" sz="1000" dirty="0" smtClean="0"/>
                <a:t>mean_S7_alldays)</a:t>
              </a:r>
              <a:endParaRPr lang="en-US" sz="10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57510" y="3047999"/>
              <a:ext cx="2247424" cy="560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rgbClr val="FF0000"/>
                  </a:solidFill>
                </a:rPr>
                <a:t>Is centering necessary/helpful?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81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3200400" cy="4525963"/>
          </a:xfrm>
        </p:spPr>
        <p:txBody>
          <a:bodyPr>
            <a:normAutofit/>
          </a:bodyPr>
          <a:lstStyle/>
          <a:p>
            <a:r>
              <a:rPr lang="en-US" sz="1000" dirty="0"/>
              <a:t>Smooth temperature and gsr data with a moving average filter of window = 10 minutes.</a:t>
            </a:r>
          </a:p>
          <a:p>
            <a:r>
              <a:rPr lang="en-US" sz="1000" dirty="0"/>
              <a:t>Remove data out of range: temperature [24-40] , gsr: [-inf-8]</a:t>
            </a:r>
          </a:p>
          <a:p>
            <a:pPr lvl="1"/>
            <a:r>
              <a:rPr lang="en-US" sz="1000" dirty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Consider all the data from all the days of all the 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65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629400" y="1905000"/>
            <a:ext cx="220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-1.27842787061420	-0.0625728866524465</a:t>
            </a:r>
          </a:p>
          <a:p>
            <a:r>
              <a:rPr lang="en-US" sz="800" dirty="0"/>
              <a:t>-1.25645521436420	-0.0633059641785385</a:t>
            </a:r>
          </a:p>
          <a:p>
            <a:r>
              <a:rPr lang="en-US" sz="800" dirty="0"/>
              <a:t>-1.25645521436420	-0.0633059641785385</a:t>
            </a:r>
          </a:p>
          <a:p>
            <a:r>
              <a:rPr lang="en-US" sz="800" dirty="0"/>
              <a:t>-1.23447492871971	-0.0618397942251925</a:t>
            </a:r>
          </a:p>
          <a:p>
            <a:r>
              <a:rPr lang="en-US" sz="800" dirty="0"/>
              <a:t>-1.23447492871971	-0.0611067017979385</a:t>
            </a:r>
          </a:p>
          <a:p>
            <a:r>
              <a:rPr lang="en-US" sz="800" dirty="0"/>
              <a:t>-1.23447492871971	-0.0581743320889235</a:t>
            </a:r>
          </a:p>
          <a:p>
            <a:r>
              <a:rPr lang="en-US" sz="800" dirty="0"/>
              <a:t>-1.30039480481830	-0.0552419176764255</a:t>
            </a:r>
          </a:p>
          <a:p>
            <a:r>
              <a:rPr lang="en-US" sz="800" dirty="0"/>
              <a:t>-1.36625364576070	-0.0552419176764255</a:t>
            </a:r>
          </a:p>
          <a:p>
            <a:r>
              <a:rPr lang="en-US" sz="800" dirty="0"/>
              <a:t>-1.41012647901260	-0.0545088103480105</a:t>
            </a:r>
          </a:p>
          <a:p>
            <a:r>
              <a:rPr lang="en-US" sz="800" dirty="0"/>
              <a:t>-1.43205335889540	-0.0537757030195955</a:t>
            </a:r>
          </a:p>
          <a:p>
            <a:r>
              <a:rPr lang="en-US" sz="800" dirty="0"/>
              <a:t>-1.43205335889540	-0.0537757030195955</a:t>
            </a:r>
          </a:p>
          <a:p>
            <a:r>
              <a:rPr lang="en-US" sz="800" dirty="0"/>
              <a:t>-1.41012647901260	-0.0537757030195955</a:t>
            </a:r>
          </a:p>
          <a:p>
            <a:r>
              <a:rPr lang="en-US" sz="800" dirty="0"/>
              <a:t>-1.36625364576070	-0.0545088103480105</a:t>
            </a:r>
          </a:p>
          <a:p>
            <a:r>
              <a:rPr lang="en-US" sz="800" dirty="0"/>
              <a:t>-1.34430769239150	-0.0537757030195955</a:t>
            </a:r>
          </a:p>
          <a:p>
            <a:r>
              <a:rPr lang="en-US" sz="800" dirty="0"/>
              <a:t>-1.32235410962790	-0.0545088103480105</a:t>
            </a:r>
          </a:p>
          <a:p>
            <a:r>
              <a:rPr lang="en-US" sz="800" dirty="0"/>
              <a:t>-1.27842787061420	-</a:t>
            </a:r>
            <a:r>
              <a:rPr lang="en-US" sz="800" dirty="0" smtClean="0"/>
              <a:t>0.0589074245161775</a:t>
            </a:r>
          </a:p>
          <a:p>
            <a:r>
              <a:rPr lang="en-US" sz="800" dirty="0" smtClean="0"/>
              <a:t>-1.32235410962790	-0.0567081323332555</a:t>
            </a:r>
          </a:p>
          <a:p>
            <a:r>
              <a:rPr lang="en-US" sz="800" dirty="0" smtClean="0"/>
              <a:t>-1.49779394422260	0.0334798344903225</a:t>
            </a:r>
          </a:p>
          <a:p>
            <a:r>
              <a:rPr lang="en-US" sz="800" dirty="0" smtClean="0"/>
              <a:t>-1.71650007520400	-0.0244495025343665</a:t>
            </a:r>
          </a:p>
          <a:p>
            <a:r>
              <a:rPr lang="en-US" sz="800" dirty="0" smtClean="0"/>
              <a:t>-1.67281034742080	-0.0501101067728765</a:t>
            </a:r>
          </a:p>
          <a:p>
            <a:r>
              <a:rPr lang="en-US" sz="800" dirty="0" smtClean="0"/>
              <a:t>-1.62909582410540	-0.0552419176764255</a:t>
            </a:r>
          </a:p>
          <a:p>
            <a:r>
              <a:rPr lang="en-US" sz="800" dirty="0" smtClean="0"/>
              <a:t>-1.73833540235250	-0.0501101067728765</a:t>
            </a:r>
          </a:p>
          <a:p>
            <a:r>
              <a:rPr lang="en-US" sz="800" dirty="0" smtClean="0"/>
              <a:t>-1.84741476331440	-0.0567081323332555</a:t>
            </a:r>
          </a:p>
          <a:p>
            <a:r>
              <a:rPr lang="en-US" sz="800" dirty="0" smtClean="0"/>
              <a:t>-1.82561186109270	-0.0611067017979385</a:t>
            </a:r>
          </a:p>
          <a:p>
            <a:r>
              <a:rPr lang="en-US" sz="800" dirty="0" smtClean="0"/>
              <a:t>-1.78198698316300	-0.0633059641785385</a:t>
            </a:r>
          </a:p>
          <a:p>
            <a:r>
              <a:rPr lang="en-US" sz="800" dirty="0"/>
              <a:t> </a:t>
            </a:r>
            <a:r>
              <a:rPr lang="en-US" sz="800" dirty="0" smtClean="0"/>
              <a:t>               ……….	                 ……..</a:t>
            </a:r>
          </a:p>
          <a:p>
            <a:r>
              <a:rPr lang="en-US" sz="800" dirty="0" smtClean="0"/>
              <a:t>-1.69465902600970	-0.0640390566057925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2922" y="1708951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Temperature</a:t>
            </a:r>
            <a:endParaRPr lang="en-US" sz="8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7620000" y="1701553"/>
            <a:ext cx="990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GSR</a:t>
            </a:r>
            <a:endParaRPr lang="en-US" sz="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15100" y="1511262"/>
            <a:ext cx="220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All 132 subjects all days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3725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3200400" cy="4525963"/>
          </a:xfrm>
        </p:spPr>
        <p:txBody>
          <a:bodyPr>
            <a:normAutofit/>
          </a:bodyPr>
          <a:lstStyle/>
          <a:p>
            <a:r>
              <a:rPr lang="en-US" sz="1000" dirty="0"/>
              <a:t>Smooth temperature and gsr data with a moving average filter of window = 10 minutes.</a:t>
            </a:r>
          </a:p>
          <a:p>
            <a:r>
              <a:rPr lang="en-US" sz="1000" dirty="0"/>
              <a:t>Remove data out of range: temperature [24-40] , gsr: [-inf-8]</a:t>
            </a:r>
          </a:p>
          <a:p>
            <a:pPr lvl="1"/>
            <a:r>
              <a:rPr lang="en-US" sz="1000" dirty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</a:t>
            </a:r>
            <a:r>
              <a:rPr lang="en-US" sz="1000" dirty="0"/>
              <a:t>DO: Perform PAA (at the moment in the next step window is set to 1 -&gt; not performed) It could be useful to reduce distortion </a:t>
            </a:r>
            <a:r>
              <a:rPr lang="en-US" sz="1000" dirty="0" smtClean="0"/>
              <a:t>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endParaRPr lang="en-US" sz="1000" dirty="0" smtClean="0"/>
          </a:p>
        </p:txBody>
      </p:sp>
      <p:pic>
        <p:nvPicPr>
          <p:cNvPr id="1026" name="Picture 2" descr="C:\Users\310153563\Documents\GitHub\COPDBodyMedia_sleeping4\COPDBodyMedia_sleeping_code\Pictures\Presentation\cdf_temp_gs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432410"/>
            <a:ext cx="3205715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34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Equip. region (sax approach)</a:t>
            </a:r>
            <a:endParaRPr lang="en-US" dirty="0"/>
          </a:p>
        </p:txBody>
      </p:sp>
      <p:pic>
        <p:nvPicPr>
          <p:cNvPr id="2050" name="Picture 2_" descr="C:\Users\310153563\Documents\GitHub\COPDBodyMedia_sleeping4\COPDBodyMedia_sleeping_code\Pictures\Presentation\cdf_equ_reg_gs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29870"/>
            <a:ext cx="32004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310153563\Documents\GitHub\COPDBodyMedia_sleeping4\COPDBodyMedia_sleeping_code\Pictures\Presentation\cdf_equ_reg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29870"/>
            <a:ext cx="320611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mtClean="0"/>
              <a:t>Smooth temperature and gsr data with a moving average filter of window = 10 minutes.</a:t>
            </a:r>
          </a:p>
          <a:p>
            <a:r>
              <a:rPr lang="en-US" sz="1000" smtClean="0"/>
              <a:t>Remove data out of range: temperature [24-40] , gsr: [-inf-8]</a:t>
            </a:r>
          </a:p>
          <a:p>
            <a:pPr lvl="1"/>
            <a:r>
              <a:rPr lang="en-US" sz="1000" smtClean="0"/>
              <a:t>Most of the values removed are very low temperature values at the beginning of the recordings.</a:t>
            </a:r>
          </a:p>
          <a:p>
            <a:r>
              <a:rPr lang="en-US" sz="1000" smtClean="0"/>
              <a:t>Center data of a patients according to the mean across all the assessed days</a:t>
            </a:r>
          </a:p>
          <a:p>
            <a:r>
              <a:rPr lang="en-US" sz="100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smtClean="0"/>
              <a:t>Calculate cdf</a:t>
            </a:r>
          </a:p>
          <a:p>
            <a:r>
              <a:rPr lang="en-US" sz="1000" smtClean="0"/>
              <a:t>Calculate equiprobable regions</a:t>
            </a:r>
          </a:p>
          <a:p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104905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codebooks (sax approach)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center of mass points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regions.</a:t>
            </a:r>
          </a:p>
          <a:p>
            <a:endParaRPr lang="en-US" sz="10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-0.6003    0.1579    0.7557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-1.0598   -0.1409    0.4568    1.0545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-0.1625   -0.0609    0.0237    0.1083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 smtClean="0">
                <a:solidFill>
                  <a:srgbClr val="FF0000"/>
                </a:solidFill>
              </a:rPr>
              <a:t>-0.1117   -0.0186    0.0660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926" y="5084802"/>
            <a:ext cx="247054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SAX </a:t>
            </a:r>
            <a:r>
              <a:rPr lang="en-US" sz="1000" dirty="0" smtClean="0"/>
              <a:t>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0.3403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0.1079</a:t>
            </a:r>
          </a:p>
        </p:txBody>
      </p:sp>
      <p:pic>
        <p:nvPicPr>
          <p:cNvPr id="1026" name="Picture 2" descr="C:\Users\310153563\Documents\GitHub\COPDBodyMedia_sleeping4\COPDBodyMedia_sleeping_code\Pictures\Presentation\cdf_sax_gs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33500"/>
            <a:ext cx="32004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310153563\Documents\GitHub\COPDBodyMedia_sleeping4\COPDBodyMedia_sleeping_code\Pictures\Presentation\cdf_sax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33500"/>
            <a:ext cx="32004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310153563\Documents\GitHub\COPDBodyMedia_sleeping4\COPDBodyMedia_sleeping_code\Pictures\Presentation\cdf_sax_gsr_zoo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014478"/>
            <a:ext cx="3200401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310153563\Documents\GitHub\COPDBodyMedia_sleeping4\COPDBodyMedia_sleeping_code\Pictures\Presentation\cdf_sax_temp_zoo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14478"/>
            <a:ext cx="3200401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94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Llyod’s</a:t>
            </a:r>
            <a:r>
              <a:rPr lang="en-US" dirty="0" smtClean="0"/>
              <a:t> partitions and codebooks</a:t>
            </a:r>
            <a:endParaRPr lang="en-US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</a:t>
            </a:r>
            <a:r>
              <a:rPr lang="en-US" sz="1000" dirty="0"/>
              <a:t>center of mass points </a:t>
            </a:r>
            <a:r>
              <a:rPr lang="en-US" sz="1000" dirty="0" err="1"/>
              <a:t>equiprobable</a:t>
            </a:r>
            <a:r>
              <a:rPr lang="en-US" sz="1000" dirty="0"/>
              <a:t> regions.</a:t>
            </a:r>
            <a:endParaRPr lang="en-US" sz="1000" dirty="0" smtClean="0"/>
          </a:p>
          <a:p>
            <a:r>
              <a:rPr lang="en-US" sz="1000" dirty="0" smtClean="0"/>
              <a:t>Calculate centroids </a:t>
            </a:r>
            <a:r>
              <a:rPr lang="en-US" sz="1000" dirty="0" err="1" smtClean="0"/>
              <a:t>Llyods’s</a:t>
            </a:r>
            <a:r>
              <a:rPr lang="en-US" sz="1000" dirty="0" smtClean="0"/>
              <a:t> algorithm and new </a:t>
            </a:r>
            <a:r>
              <a:rPr lang="en-US" sz="1000" dirty="0" err="1" smtClean="0"/>
              <a:t>parititons</a:t>
            </a:r>
            <a:endParaRPr lang="en-US" sz="1000" dirty="0" smtClean="0"/>
          </a:p>
          <a:p>
            <a:endParaRPr lang="en-US" sz="1000" dirty="0" smtClean="0"/>
          </a:p>
        </p:txBody>
      </p:sp>
      <p:sp>
        <p:nvSpPr>
          <p:cNvPr id="20" name="Rectangle 19"/>
          <p:cNvSpPr/>
          <p:nvPr/>
        </p:nvSpPr>
        <p:spPr>
          <a:xfrm>
            <a:off x="286379" y="5084802"/>
            <a:ext cx="262764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</a:t>
            </a:r>
            <a:r>
              <a:rPr lang="en-US" sz="1000" dirty="0" err="1" smtClean="0"/>
              <a:t>Llyod’s</a:t>
            </a:r>
            <a:r>
              <a:rPr lang="en-US" sz="1000" dirty="0" smtClean="0"/>
              <a:t> 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0.1776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0.0259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-1.6853   -0.2754    0.8194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-2.5480   -0.8227    0.2720    1.3667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-0.6251   -0.0615    0.5020    1.3087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 smtClean="0">
                <a:solidFill>
                  <a:srgbClr val="FF0000"/>
                </a:solidFill>
              </a:rPr>
              <a:t>-</a:t>
            </a:r>
            <a:r>
              <a:rPr lang="en-US" sz="800" dirty="0">
                <a:solidFill>
                  <a:srgbClr val="FF0000"/>
                </a:solidFill>
              </a:rPr>
              <a:t>0.3433    0.2202    0.9054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310153563\Documents\GitHub\COPDBodyMedia_sleeping4\COPDBodyMedia_sleeping_code\Pictures\Presentation\cdf_lloyd_gsr_zoo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310153563\Documents\GitHub\COPDBodyMedia_sleeping4\COPDBodyMedia_sleeping_code\Pictures\Presentation\cdf_lloyd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335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310153563\Documents\GitHub\COPDBodyMedia_sleeping4\COPDBodyMedia_sleeping_code\Pictures\Presentation\cdf_lloyd_gs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0" y="13335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310153563\Documents\GitHub\COPDBodyMedia_sleeping4\COPDBodyMedia_sleeping_code\Pictures\Presentation\cdf_lloyd_temp_zoo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7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 partitions and codebooks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86379" y="5084802"/>
            <a:ext cx="262764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</a:t>
            </a:r>
            <a:r>
              <a:rPr lang="en-US" sz="1000" dirty="0" err="1" smtClean="0"/>
              <a:t>Llyod’s</a:t>
            </a:r>
            <a:r>
              <a:rPr lang="en-US" sz="1000" dirty="0" smtClean="0"/>
              <a:t> 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0.2068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0.0400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-1.1428   -0.0587    0.7875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-1.8039   -0.4818    0.3644    1.2106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-0.3917   -0.0633    0.2650    0.7064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-0.2275    0.1008    0.4857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310153563\Documents\GitHub\COPDBodyMedia_sleeping4\COPDBodyMedia_sleeping_code\Pictures\Presentation\cdf_mean_gsr_zoo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310153563\Documents\GitHub\COPDBodyMedia_sleeping4\COPDBodyMedia_sleeping_code\Pictures\Presentation\cdf_mean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310153563\Documents\GitHub\COPDBodyMedia_sleeping4\COPDBodyMedia_sleeping_code\Pictures\Presentation\cdf_mean_gs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310153563\Documents\GitHub\COPDBodyMedia_sleeping4\COPDBodyMedia_sleeping_code\Pictures\Presentation\cdf_mean_temp_zoo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</a:t>
            </a:r>
            <a:r>
              <a:rPr lang="en-US" sz="1000" dirty="0"/>
              <a:t>center of mass points </a:t>
            </a:r>
            <a:r>
              <a:rPr lang="en-US" sz="1000" dirty="0" err="1"/>
              <a:t>equiprobable</a:t>
            </a:r>
            <a:r>
              <a:rPr lang="en-US" sz="1000" dirty="0"/>
              <a:t> regions.</a:t>
            </a:r>
            <a:endParaRPr lang="en-US" sz="1000" dirty="0" smtClean="0"/>
          </a:p>
          <a:p>
            <a:r>
              <a:rPr lang="en-US" sz="1000" dirty="0" smtClean="0"/>
              <a:t>Calculate centroids </a:t>
            </a:r>
            <a:r>
              <a:rPr lang="en-US" sz="1000" dirty="0" err="1" smtClean="0"/>
              <a:t>Llyods’s</a:t>
            </a:r>
            <a:r>
              <a:rPr lang="en-US" sz="1000" dirty="0" smtClean="0"/>
              <a:t> algorithm and new </a:t>
            </a:r>
            <a:r>
              <a:rPr lang="en-US" sz="1000" dirty="0" err="1" smtClean="0"/>
              <a:t>parititons</a:t>
            </a:r>
            <a:endParaRPr lang="en-US" sz="1000" dirty="0" smtClean="0"/>
          </a:p>
          <a:p>
            <a:r>
              <a:rPr lang="en-US" sz="1000" dirty="0" smtClean="0"/>
              <a:t>Calculate the mean of the partitions computed with SAX and Lloyds and calculate new codebooks.</a:t>
            </a:r>
          </a:p>
          <a:p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278309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SAX 1000 subjects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center of mass points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regions.</a:t>
            </a:r>
          </a:p>
          <a:p>
            <a:endParaRPr lang="en-US" sz="10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-0.6191    0.1239    0.7324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-1.0579   -0.1803    0.4282    1.0366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 -0.1041   -0.0392    0.0150    0.0692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-0.0716   -0.0121    0.0421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4926" y="5084802"/>
            <a:ext cx="247054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SAX </a:t>
            </a:r>
            <a:r>
              <a:rPr lang="en-US" sz="1000" dirty="0" smtClean="0"/>
              <a:t>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0.2802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0.0874</a:t>
            </a:r>
          </a:p>
        </p:txBody>
      </p:sp>
      <p:pic>
        <p:nvPicPr>
          <p:cNvPr id="3" name="Picture 2" descr="C:\Users\310153563\Documents\GitHub\COPDBodyMedia_sleeping4\COPDBodyMedia_sleeping_code\Pictures\Presentation\cdf_sax_gsr_1000_zoo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310153563\Documents\GitHub\COPDBodyMedia_sleeping4\COPDBodyMedia_sleeping_code\Pictures\Presentation\cdf_sax_temp_10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001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310153563\Documents\GitHub\COPDBodyMedia_sleeping4\COPDBodyMedia_sleeping_code\Pictures\Presentation\cdf_sax_gsr_10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310153563\Documents\GitHub\COPDBodyMedia_sleeping4\COPDBodyMedia_sleeping_code\Pictures\Presentation\cdf_sax_temp_zoom_100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800" y="399572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22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Llyod’s</a:t>
            </a:r>
            <a:r>
              <a:rPr lang="en-US" dirty="0" smtClean="0"/>
              <a:t> partitions and codebooks</a:t>
            </a:r>
            <a:endParaRPr lang="en-US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</a:t>
            </a:r>
            <a:r>
              <a:rPr lang="en-US" sz="1000" dirty="0"/>
              <a:t>center of mass points </a:t>
            </a:r>
            <a:r>
              <a:rPr lang="en-US" sz="1000" dirty="0" err="1"/>
              <a:t>equiprobable</a:t>
            </a:r>
            <a:r>
              <a:rPr lang="en-US" sz="1000" dirty="0"/>
              <a:t> regions.</a:t>
            </a:r>
            <a:endParaRPr lang="en-US" sz="1000" dirty="0" smtClean="0"/>
          </a:p>
          <a:p>
            <a:r>
              <a:rPr lang="en-US" sz="1000" dirty="0" smtClean="0"/>
              <a:t>Calculate centroids </a:t>
            </a:r>
            <a:r>
              <a:rPr lang="en-US" sz="1000" dirty="0" err="1" smtClean="0"/>
              <a:t>Llyods’s</a:t>
            </a:r>
            <a:r>
              <a:rPr lang="en-US" sz="1000" dirty="0" smtClean="0"/>
              <a:t> algorithm and new </a:t>
            </a:r>
            <a:r>
              <a:rPr lang="en-US" sz="1000" dirty="0" err="1" smtClean="0"/>
              <a:t>parititons</a:t>
            </a:r>
            <a:endParaRPr lang="en-US" sz="1000" dirty="0" smtClean="0"/>
          </a:p>
          <a:p>
            <a:endParaRPr lang="en-US" sz="1000" dirty="0" smtClean="0"/>
          </a:p>
        </p:txBody>
      </p:sp>
      <p:sp>
        <p:nvSpPr>
          <p:cNvPr id="20" name="Rectangle 19"/>
          <p:cNvSpPr/>
          <p:nvPr/>
        </p:nvSpPr>
        <p:spPr>
          <a:xfrm>
            <a:off x="286379" y="5084802"/>
            <a:ext cx="262764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</a:t>
            </a:r>
            <a:r>
              <a:rPr lang="en-US" sz="1000" dirty="0" err="1" smtClean="0"/>
              <a:t>Llyod’s</a:t>
            </a:r>
            <a:r>
              <a:rPr lang="en-US" sz="1000" dirty="0" smtClean="0"/>
              <a:t> 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0.1618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0.0234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-1.5060   -0.2206    0.8240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-2.2691   -0.7429    0.3017    1.3463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-0.6757   -0.0725    0.5307    1.3249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-0.3741    0.2291    0.9278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pic>
        <p:nvPicPr>
          <p:cNvPr id="3" name="Picture 2" descr="C:\Users\310153563\Documents\GitHub\COPDBodyMedia_sleeping4\COPDBodyMedia_sleeping_code\Pictures\Presentation\cdf_lloyd_gsr_1000_zoo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310153563\Documents\GitHub\COPDBodyMedia_sleeping4\COPDBodyMedia_sleeping_code\Pictures\Presentation\cdf_lloyd_temp_10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800" y="13335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310153563\Documents\GitHub\COPDBodyMedia_sleeping4\COPDBodyMedia_sleeping_code\Pictures\Presentation\cdf_lloyd_gsr_10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310153563\Documents\GitHub\COPDBodyMedia_sleeping4\COPDBodyMedia_sleeping_code\Pictures\Presentation\cdf_lloyd_temp_1000_zoo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800" y="399572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67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 partitions and codebooks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86379" y="5084802"/>
            <a:ext cx="262764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/>
              <a:t>Final mean square distortion </a:t>
            </a:r>
            <a:r>
              <a:rPr lang="en-US" sz="1000" dirty="0" err="1" smtClean="0"/>
              <a:t>Llyod’s</a:t>
            </a:r>
            <a:r>
              <a:rPr lang="en-US" sz="1000" dirty="0" smtClean="0"/>
              <a:t> algorithm:</a:t>
            </a:r>
          </a:p>
          <a:p>
            <a:pPr algn="ctr"/>
            <a:r>
              <a:rPr lang="en-US" sz="1000" dirty="0" smtClean="0"/>
              <a:t>Temperature</a:t>
            </a:r>
            <a:r>
              <a:rPr lang="en-US" sz="1000" dirty="0"/>
              <a:t>: </a:t>
            </a:r>
            <a:r>
              <a:rPr lang="en-US" sz="1000" dirty="0" smtClean="0"/>
              <a:t>0.1846</a:t>
            </a:r>
          </a:p>
          <a:p>
            <a:pPr algn="ctr"/>
            <a:r>
              <a:rPr lang="en-US" sz="1000" dirty="0" smtClean="0"/>
              <a:t>GSR</a:t>
            </a:r>
            <a:r>
              <a:rPr lang="en-US" sz="1000" dirty="0"/>
              <a:t>: 0.0328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Partitions 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-1.0626   -0.0484    0.7782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29000" y="6395728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chemeClr val="tx2"/>
                </a:solidFill>
              </a:rPr>
              <a:t>-1.6635   -0.4616    0.3649    1.1915</a:t>
            </a:r>
            <a:endParaRPr lang="en-US" sz="800" dirty="0" smtClean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77000" y="6395727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/>
              <a:t>Codebook </a:t>
            </a:r>
            <a:r>
              <a:rPr lang="en-US" sz="800" dirty="0"/>
              <a:t>(centers)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-0.3885   -0.0572    0.2742    0.6957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77000" y="3733800"/>
            <a:ext cx="213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Partitions </a:t>
            </a:r>
            <a:endParaRPr lang="en-US" sz="800" dirty="0" smtClean="0"/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-0.2228    0.1085    0.4850</a:t>
            </a:r>
            <a:endParaRPr lang="en-US" sz="800" dirty="0" smtClean="0">
              <a:solidFill>
                <a:srgbClr val="FF0000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0" y="1600200"/>
            <a:ext cx="3200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Smooth temperature and gsr data with a moving average filter of window = 10 minutes.</a:t>
            </a:r>
          </a:p>
          <a:p>
            <a:r>
              <a:rPr lang="en-US" sz="1000" dirty="0" smtClean="0"/>
              <a:t>Remove data out of range: temperature [24-40] , gsr: [-inf-8]</a:t>
            </a:r>
          </a:p>
          <a:p>
            <a:pPr lvl="1"/>
            <a:r>
              <a:rPr lang="en-US" sz="1000" dirty="0" smtClean="0"/>
              <a:t>Most of the values removed are very low temperature values at the beginning of the recordings.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TO DO: Perform PAA (at the moment in the next step window is set to 1 -&gt; not performed) It could be useful to reduce distortion 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endParaRPr lang="en-US" sz="1000" dirty="0" smtClean="0"/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</a:t>
            </a:r>
            <a:r>
              <a:rPr lang="en-US" sz="1000" dirty="0"/>
              <a:t>center of mass points </a:t>
            </a:r>
            <a:r>
              <a:rPr lang="en-US" sz="1000" dirty="0" err="1"/>
              <a:t>equiprobable</a:t>
            </a:r>
            <a:r>
              <a:rPr lang="en-US" sz="1000" dirty="0"/>
              <a:t> regions.</a:t>
            </a:r>
            <a:endParaRPr lang="en-US" sz="1000" dirty="0" smtClean="0"/>
          </a:p>
          <a:p>
            <a:r>
              <a:rPr lang="en-US" sz="1000" dirty="0" smtClean="0"/>
              <a:t>Calculate centroids </a:t>
            </a:r>
            <a:r>
              <a:rPr lang="en-US" sz="1000" dirty="0" err="1" smtClean="0"/>
              <a:t>Llyods’s</a:t>
            </a:r>
            <a:r>
              <a:rPr lang="en-US" sz="1000" dirty="0" smtClean="0"/>
              <a:t> algorithm and new </a:t>
            </a:r>
            <a:r>
              <a:rPr lang="en-US" sz="1000" dirty="0" err="1" smtClean="0"/>
              <a:t>parititons</a:t>
            </a:r>
            <a:endParaRPr lang="en-US" sz="1000" dirty="0" smtClean="0"/>
          </a:p>
          <a:p>
            <a:r>
              <a:rPr lang="en-US" sz="1000" dirty="0" smtClean="0"/>
              <a:t>Calculate the mean of the partitions computed with SAX and Lloyds and calculate new codebooks.</a:t>
            </a:r>
          </a:p>
          <a:p>
            <a:endParaRPr lang="en-US" sz="1000" dirty="0" smtClean="0"/>
          </a:p>
        </p:txBody>
      </p:sp>
      <p:pic>
        <p:nvPicPr>
          <p:cNvPr id="3" name="Picture 2" descr="C:\Users\310153563\Documents\GitHub\COPDBodyMedia_sleeping4\COPDBodyMedia_sleeping_code\Pictures\Presentation\cdf_mean_temp_10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8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310153563\Documents\GitHub\COPDBodyMedia_sleeping4\COPDBodyMedia_sleeping_code\Pictures\Presentation\cdf_mean_gsr_10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13338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310153563\Documents\GitHub\COPDBodyMedia_sleeping4\COPDBodyMedia_sleeping_code\Pictures\Presentation\cdf_mean_temp_1000_zoo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8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310153563\Documents\GitHub\COPDBodyMedia_sleeping4\COPDBodyMedia_sleeping_code\Pictures\Presentation\cdf_mean_gsr_1000_zoo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0" y="4014778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42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752600" y="2133600"/>
            <a:ext cx="2133600" cy="948154"/>
            <a:chOff x="838200" y="3124200"/>
            <a:chExt cx="2133600" cy="948154"/>
          </a:xfrm>
        </p:grpSpPr>
        <p:sp>
          <p:nvSpPr>
            <p:cNvPr id="4" name="Rectangle 3"/>
            <p:cNvSpPr/>
            <p:nvPr/>
          </p:nvSpPr>
          <p:spPr>
            <a:xfrm>
              <a:off x="8382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-0.6003    0.1579    0.7557</a:t>
              </a:r>
              <a:endParaRPr lang="en-US" sz="800" dirty="0" smtClean="0">
                <a:solidFill>
                  <a:schemeClr val="tx2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382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-0.6191    0.1239    0.7324</a:t>
              </a:r>
              <a:endParaRPr lang="en-US" sz="800" dirty="0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76600" y="2137044"/>
            <a:ext cx="2133600" cy="928880"/>
            <a:chOff x="3429000" y="3170366"/>
            <a:chExt cx="2133600" cy="976423"/>
          </a:xfrm>
        </p:grpSpPr>
        <p:sp>
          <p:nvSpPr>
            <p:cNvPr id="5" name="Rectangle 4"/>
            <p:cNvSpPr/>
            <p:nvPr/>
          </p:nvSpPr>
          <p:spPr>
            <a:xfrm>
              <a:off x="3429000" y="3170366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-1.0598   -0.1409    0.4568    1.0545</a:t>
              </a:r>
              <a:endParaRPr lang="en-US" sz="800" dirty="0" smtClean="0">
                <a:solidFill>
                  <a:schemeClr val="tx2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29000" y="3808236"/>
              <a:ext cx="2133600" cy="338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-1.0579   -0.1803    0.4282    1.0366</a:t>
              </a:r>
              <a:endParaRPr lang="en-US" sz="800" dirty="0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58000" y="2140186"/>
            <a:ext cx="2133600" cy="948154"/>
            <a:chOff x="6477000" y="5786127"/>
            <a:chExt cx="2133600" cy="948154"/>
          </a:xfrm>
        </p:grpSpPr>
        <p:sp>
          <p:nvSpPr>
            <p:cNvPr id="6" name="Rectangle 5"/>
            <p:cNvSpPr/>
            <p:nvPr/>
          </p:nvSpPr>
          <p:spPr>
            <a:xfrm>
              <a:off x="6477000" y="57861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-0.1625   -0.0609    0.0237    0.1083</a:t>
              </a:r>
              <a:endParaRPr lang="en-US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77000" y="63957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 -0.1041   -0.0392    0.0150    0.0692</a:t>
              </a:r>
              <a:endParaRPr lang="en-US" sz="8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34000" y="2140186"/>
            <a:ext cx="2133600" cy="948154"/>
            <a:chOff x="6477000" y="3124200"/>
            <a:chExt cx="2133600" cy="948154"/>
          </a:xfrm>
        </p:grpSpPr>
        <p:sp>
          <p:nvSpPr>
            <p:cNvPr id="7" name="Rectangle 6"/>
            <p:cNvSpPr/>
            <p:nvPr/>
          </p:nvSpPr>
          <p:spPr>
            <a:xfrm>
              <a:off x="64770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 smtClean="0">
                  <a:solidFill>
                    <a:srgbClr val="FF0000"/>
                  </a:solidFill>
                </a:rPr>
                <a:t>-0.1117   -0.0186    0.0660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770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-0.0716   -0.0121    0.0421</a:t>
              </a:r>
              <a:endParaRPr lang="en-US" sz="8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2140186"/>
            <a:ext cx="990600" cy="948154"/>
            <a:chOff x="76200" y="3170366"/>
            <a:chExt cx="990600" cy="855821"/>
          </a:xfrm>
        </p:grpSpPr>
        <p:sp>
          <p:nvSpPr>
            <p:cNvPr id="12" name="TextBox 11"/>
            <p:cNvSpPr txBox="1"/>
            <p:nvPr/>
          </p:nvSpPr>
          <p:spPr>
            <a:xfrm>
              <a:off x="76200" y="31703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132</a:t>
              </a:r>
              <a:endParaRPr lang="en-US" sz="1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200" y="37799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1000</a:t>
              </a:r>
              <a:endParaRPr lang="en-US" sz="10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752600" y="3464860"/>
            <a:ext cx="2133600" cy="948154"/>
            <a:chOff x="838200" y="3124200"/>
            <a:chExt cx="2133600" cy="948154"/>
          </a:xfrm>
        </p:grpSpPr>
        <p:sp>
          <p:nvSpPr>
            <p:cNvPr id="20" name="Rectangle 19"/>
            <p:cNvSpPr/>
            <p:nvPr/>
          </p:nvSpPr>
          <p:spPr>
            <a:xfrm>
              <a:off x="8382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-1.6853   -0.2754    0.8194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382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-1.5060   -0.2206    0.8240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276600" y="3468303"/>
            <a:ext cx="2133600" cy="945364"/>
            <a:chOff x="3429000" y="3170366"/>
            <a:chExt cx="2133600" cy="993751"/>
          </a:xfrm>
        </p:grpSpPr>
        <p:sp>
          <p:nvSpPr>
            <p:cNvPr id="23" name="Rectangle 22"/>
            <p:cNvSpPr/>
            <p:nvPr/>
          </p:nvSpPr>
          <p:spPr>
            <a:xfrm>
              <a:off x="3429000" y="3170366"/>
              <a:ext cx="2133600" cy="35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-2.5480   -0.8227    0.2720    1.3667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429000" y="3808235"/>
              <a:ext cx="2133600" cy="35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-2.2691   -0.7429    0.3017    1.3463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858000" y="3471446"/>
            <a:ext cx="2133600" cy="948154"/>
            <a:chOff x="6477000" y="5786127"/>
            <a:chExt cx="2133600" cy="948154"/>
          </a:xfrm>
        </p:grpSpPr>
        <p:sp>
          <p:nvSpPr>
            <p:cNvPr id="26" name="Rectangle 25"/>
            <p:cNvSpPr/>
            <p:nvPr/>
          </p:nvSpPr>
          <p:spPr>
            <a:xfrm>
              <a:off x="6477000" y="57861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-0.6251   -0.0615    0.5020    1.3087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77000" y="63957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-0.6757   -0.0725    0.5307    1.3249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334000" y="3471446"/>
            <a:ext cx="2133600" cy="948154"/>
            <a:chOff x="6477000" y="3124200"/>
            <a:chExt cx="2133600" cy="948154"/>
          </a:xfrm>
        </p:grpSpPr>
        <p:sp>
          <p:nvSpPr>
            <p:cNvPr id="29" name="Rectangle 28"/>
            <p:cNvSpPr/>
            <p:nvPr/>
          </p:nvSpPr>
          <p:spPr>
            <a:xfrm>
              <a:off x="64770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-0.3433    0.2202    0.9054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4770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-0.3741    0.2291    0.9278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371600" y="3511026"/>
            <a:ext cx="990600" cy="855821"/>
            <a:chOff x="76200" y="3170366"/>
            <a:chExt cx="990600" cy="855821"/>
          </a:xfrm>
        </p:grpSpPr>
        <p:sp>
          <p:nvSpPr>
            <p:cNvPr id="32" name="TextBox 31"/>
            <p:cNvSpPr txBox="1"/>
            <p:nvPr/>
          </p:nvSpPr>
          <p:spPr>
            <a:xfrm>
              <a:off x="76200" y="31703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132</a:t>
              </a:r>
              <a:endParaRPr lang="en-US" sz="10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200" y="37799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1000</a:t>
              </a:r>
              <a:endParaRPr lang="en-US" sz="10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752600" y="4836460"/>
            <a:ext cx="2133600" cy="948154"/>
            <a:chOff x="838200" y="3124200"/>
            <a:chExt cx="2133600" cy="948154"/>
          </a:xfrm>
        </p:grpSpPr>
        <p:sp>
          <p:nvSpPr>
            <p:cNvPr id="35" name="Rectangle 34"/>
            <p:cNvSpPr/>
            <p:nvPr/>
          </p:nvSpPr>
          <p:spPr>
            <a:xfrm>
              <a:off x="8382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-1.1428   -0.0587    0.7875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382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Partitions 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-1.0626   -0.0484    0.7782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76600" y="4839903"/>
            <a:ext cx="2133600" cy="945364"/>
            <a:chOff x="3429000" y="3170366"/>
            <a:chExt cx="2133600" cy="993751"/>
          </a:xfrm>
        </p:grpSpPr>
        <p:sp>
          <p:nvSpPr>
            <p:cNvPr id="38" name="Rectangle 37"/>
            <p:cNvSpPr/>
            <p:nvPr/>
          </p:nvSpPr>
          <p:spPr>
            <a:xfrm>
              <a:off x="3429000" y="3170366"/>
              <a:ext cx="2133600" cy="35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-1.8039   -0.4818    0.3644    1.2106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429000" y="3808235"/>
              <a:ext cx="2133600" cy="35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-1.6635   -0.4616    0.3649    1.1915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858000" y="4843046"/>
            <a:ext cx="2133600" cy="948154"/>
            <a:chOff x="6477000" y="5786127"/>
            <a:chExt cx="2133600" cy="948154"/>
          </a:xfrm>
        </p:grpSpPr>
        <p:sp>
          <p:nvSpPr>
            <p:cNvPr id="41" name="Rectangle 40"/>
            <p:cNvSpPr/>
            <p:nvPr/>
          </p:nvSpPr>
          <p:spPr>
            <a:xfrm>
              <a:off x="6477000" y="57861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-0.3917   -0.0633    0.2650    0.7064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77000" y="6395727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smtClean="0"/>
                <a:t>Codebook </a:t>
              </a:r>
              <a:r>
                <a:rPr lang="en-US" sz="800" dirty="0"/>
                <a:t>(centers)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-0.3885   -0.0572    0.2742    0.6957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334000" y="4843046"/>
            <a:ext cx="2133600" cy="948154"/>
            <a:chOff x="6477000" y="3124200"/>
            <a:chExt cx="2133600" cy="948154"/>
          </a:xfrm>
        </p:grpSpPr>
        <p:sp>
          <p:nvSpPr>
            <p:cNvPr id="44" name="Rectangle 43"/>
            <p:cNvSpPr/>
            <p:nvPr/>
          </p:nvSpPr>
          <p:spPr>
            <a:xfrm>
              <a:off x="6477000" y="31242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-0.2275    0.1008    0.4857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477000" y="3733800"/>
              <a:ext cx="21336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/>
                <a:t>Partitions </a:t>
              </a:r>
              <a:endParaRPr lang="en-US" sz="800" dirty="0" smtClean="0"/>
            </a:p>
            <a:p>
              <a:pPr algn="ctr"/>
              <a:r>
                <a:rPr lang="en-US" sz="800" dirty="0">
                  <a:solidFill>
                    <a:srgbClr val="FF0000"/>
                  </a:solidFill>
                </a:rPr>
                <a:t>-0.2228    0.1085    0.4850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371600" y="4882626"/>
            <a:ext cx="990600" cy="855821"/>
            <a:chOff x="76200" y="3170366"/>
            <a:chExt cx="990600" cy="855821"/>
          </a:xfrm>
        </p:grpSpPr>
        <p:sp>
          <p:nvSpPr>
            <p:cNvPr id="47" name="TextBox 46"/>
            <p:cNvSpPr txBox="1"/>
            <p:nvPr/>
          </p:nvSpPr>
          <p:spPr>
            <a:xfrm>
              <a:off x="76200" y="31703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132</a:t>
              </a:r>
              <a:endParaRPr lang="en-US" sz="10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6200" y="3779966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1000</a:t>
              </a:r>
              <a:endParaRPr lang="en-US" sz="1000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81000" y="239088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sax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381000" y="371317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lloyd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381000" y="507672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mean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2209800" y="2133600"/>
            <a:ext cx="3048000" cy="954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715000" y="3332630"/>
            <a:ext cx="3048000" cy="25347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Linux 132 -1000 subjects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8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310153563\Documents\GitHub\COPDBodyMedia_sleeping4\COPDBodyMedia_sleeping_code\Pictures\removewords_90\alpha_EM_0_01\png\figure_7_reviewer_weekday_copd_topic_11_all_sax_lloyd_3symbol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79550"/>
            <a:ext cx="5691188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8200" y="1981200"/>
            <a:ext cx="53340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257800" y="20574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05600" y="1981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Correlated ~0.2 with the step performed during the day. + R2 -&gt; - steps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792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all possible 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3048000"/>
          </a:xfrm>
        </p:spPr>
        <p:txBody>
          <a:bodyPr>
            <a:normAutofit fontScale="92500"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strike="sngStrike" dirty="0" smtClean="0"/>
              <a:t>Smooth data to attenuate outliers (window=10mins)</a:t>
            </a:r>
          </a:p>
          <a:p>
            <a:r>
              <a:rPr lang="en-US" sz="1000" dirty="0" smtClean="0"/>
              <a:t>TO DO: Perform </a:t>
            </a:r>
            <a:r>
              <a:rPr lang="en-US" sz="1000" dirty="0"/>
              <a:t>PAA (at the moment </a:t>
            </a:r>
            <a:r>
              <a:rPr lang="en-US" sz="1000" dirty="0" smtClean="0"/>
              <a:t>in the next step window </a:t>
            </a:r>
            <a:r>
              <a:rPr lang="en-US" sz="1000" dirty="0"/>
              <a:t>is set to 1 -&gt; not performed</a:t>
            </a:r>
            <a:r>
              <a:rPr lang="en-US" sz="1000" dirty="0" smtClean="0"/>
              <a:t>) It could be useful to reduce distortion Lloyd</a:t>
            </a:r>
          </a:p>
          <a:p>
            <a:r>
              <a:rPr lang="en-US" sz="1000" dirty="0"/>
              <a:t>TO DO: Perform PAA (at the moment in the next step window is set to 1 -&gt; not performed) It could be useful to reduce distortion </a:t>
            </a:r>
            <a:r>
              <a:rPr lang="en-US" sz="1000" dirty="0" smtClean="0"/>
              <a:t>Lloyd</a:t>
            </a:r>
          </a:p>
          <a:p>
            <a:r>
              <a:rPr lang="en-US" sz="1000" dirty="0" smtClean="0"/>
              <a:t>Calculate </a:t>
            </a:r>
            <a:r>
              <a:rPr lang="en-US" sz="1000" dirty="0" err="1" smtClean="0"/>
              <a:t>cdf</a:t>
            </a:r>
            <a:r>
              <a:rPr lang="en-US" sz="1000" dirty="0" smtClean="0"/>
              <a:t> and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</a:t>
            </a:r>
          </a:p>
          <a:p>
            <a:r>
              <a:rPr lang="en-US" sz="1000" dirty="0" smtClean="0"/>
              <a:t>Calculate initial centroids: mid points </a:t>
            </a:r>
            <a:r>
              <a:rPr lang="en-US" sz="1000" dirty="0" err="1" smtClean="0"/>
              <a:t>equiprobable</a:t>
            </a:r>
            <a:r>
              <a:rPr lang="en-US" sz="1000" dirty="0" smtClean="0"/>
              <a:t> regions.</a:t>
            </a:r>
          </a:p>
          <a:p>
            <a:r>
              <a:rPr lang="en-US" sz="1000" dirty="0" smtClean="0"/>
              <a:t>Initialize Lloyd’s algorithm with initial centroids and calculate new codebook vectors and partitions</a:t>
            </a:r>
          </a:p>
          <a:p>
            <a:r>
              <a:rPr lang="en-US" sz="1000" dirty="0" smtClean="0"/>
              <a:t>Decide how many variables for each intensity and for each variable how many letters =&gt; estimate all the possible words</a:t>
            </a:r>
          </a:p>
          <a:p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30592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routines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200400" cy="1824200"/>
          </a:xfrm>
        </p:spPr>
        <p:txBody>
          <a:bodyPr>
            <a:normAutofit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Smooth data to attenuate outliers (window=10mins)</a:t>
            </a:r>
          </a:p>
          <a:p>
            <a:r>
              <a:rPr lang="en-US" sz="1000" dirty="0" smtClean="0"/>
              <a:t>Perform PAA (at the moment window is set to 1 -&gt; not performed)</a:t>
            </a:r>
          </a:p>
          <a:p>
            <a:r>
              <a:rPr lang="en-US" sz="1000" dirty="0" smtClean="0"/>
              <a:t>Convert to SAX strings (Temperature – GSR)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NOT CONSIDERING DURATION AS 1 DIMENSION</a:t>
            </a:r>
          </a:p>
          <a:p>
            <a:endParaRPr lang="en-US" sz="10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4495800" y="1551057"/>
            <a:ext cx="4323167" cy="707886"/>
            <a:chOff x="990600" y="4267200"/>
            <a:chExt cx="4323167" cy="707886"/>
          </a:xfrm>
        </p:grpSpPr>
        <p:sp>
          <p:nvSpPr>
            <p:cNvPr id="4" name="Rectangle 3"/>
            <p:cNvSpPr/>
            <p:nvPr/>
          </p:nvSpPr>
          <p:spPr>
            <a:xfrm>
              <a:off x="990600" y="4267200"/>
              <a:ext cx="3657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 smtClean="0"/>
                <a:t>sleeping </a:t>
              </a:r>
              <a:r>
                <a:rPr lang="en-US" sz="1000" dirty="0"/>
                <a:t>has 3 </a:t>
              </a:r>
              <a:r>
                <a:rPr lang="en-US" sz="1000" dirty="0" smtClean="0"/>
                <a:t>variables: temp (3) – </a:t>
              </a:r>
              <a:r>
                <a:rPr lang="en-US" sz="1000" dirty="0"/>
                <a:t>gsr </a:t>
              </a:r>
              <a:r>
                <a:rPr lang="en-US" sz="1000" dirty="0" smtClean="0"/>
                <a:t>(3) – step (2) -&gt; 18 words</a:t>
              </a:r>
            </a:p>
            <a:p>
              <a:r>
                <a:rPr lang="en-US" sz="1000" dirty="0" smtClean="0"/>
                <a:t>very </a:t>
              </a:r>
              <a:r>
                <a:rPr lang="en-US" sz="1000" dirty="0"/>
                <a:t>light has </a:t>
              </a:r>
              <a:r>
                <a:rPr lang="en-US" sz="1000" dirty="0" smtClean="0"/>
                <a:t>3 </a:t>
              </a:r>
              <a:r>
                <a:rPr lang="en-US" sz="1000" dirty="0"/>
                <a:t>variables: temp </a:t>
              </a:r>
              <a:r>
                <a:rPr lang="en-US" sz="1000" dirty="0" smtClean="0"/>
                <a:t>(3) </a:t>
              </a:r>
              <a:r>
                <a:rPr lang="en-US" sz="1000" dirty="0"/>
                <a:t>– gsr </a:t>
              </a:r>
              <a:r>
                <a:rPr lang="en-US" sz="1000" dirty="0" smtClean="0"/>
                <a:t>(3) </a:t>
              </a:r>
              <a:r>
                <a:rPr lang="en-US" sz="1000" dirty="0"/>
                <a:t>– step (2</a:t>
              </a:r>
              <a:r>
                <a:rPr lang="en-US" sz="1000" dirty="0" smtClean="0"/>
                <a:t>) -&gt; 18 </a:t>
              </a:r>
              <a:r>
                <a:rPr lang="en-US" sz="1000" dirty="0"/>
                <a:t>words</a:t>
              </a:r>
            </a:p>
            <a:p>
              <a:r>
                <a:rPr lang="en-US" sz="1000" dirty="0" smtClean="0"/>
                <a:t>light </a:t>
              </a:r>
              <a:r>
                <a:rPr lang="en-US" sz="1000" dirty="0"/>
                <a:t>has 1 </a:t>
              </a:r>
              <a:r>
                <a:rPr lang="en-US" sz="1000" dirty="0" smtClean="0"/>
                <a:t>variable: step (2) -&gt; 2 words</a:t>
              </a:r>
              <a:endParaRPr lang="en-US" sz="1000" dirty="0"/>
            </a:p>
            <a:p>
              <a:r>
                <a:rPr lang="en-US" sz="1000" dirty="0" smtClean="0"/>
                <a:t>moderate </a:t>
              </a:r>
              <a:r>
                <a:rPr lang="en-US" sz="1000" dirty="0"/>
                <a:t>to vigorous has 1 </a:t>
              </a:r>
              <a:r>
                <a:rPr lang="en-US" sz="1000" dirty="0" smtClean="0"/>
                <a:t>variable: step (2) -&gt; 2words</a:t>
              </a:r>
              <a:endParaRPr lang="en-US" sz="1000" dirty="0"/>
            </a:p>
          </p:txBody>
        </p:sp>
        <p:sp>
          <p:nvSpPr>
            <p:cNvPr id="6" name="Right Brace 5"/>
            <p:cNvSpPr/>
            <p:nvPr/>
          </p:nvSpPr>
          <p:spPr>
            <a:xfrm>
              <a:off x="4602481" y="4316343"/>
              <a:ext cx="45719" cy="6096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48199" y="4498032"/>
              <a:ext cx="6655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40 words</a:t>
              </a:r>
              <a:endParaRPr lang="en-US" sz="1000" dirty="0"/>
            </a:p>
          </p:txBody>
        </p:sp>
      </p:grpSp>
      <p:pic>
        <p:nvPicPr>
          <p:cNvPr id="2050" name="Picture 2" descr="C:\Users\310153563\Documents\GitHub\COPDBodyMedia_sleeping4\COPDBodyMedia_sleeping_code\Pictures\Presentation\sax_conver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6043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733800" y="2697331"/>
            <a:ext cx="1202184" cy="2308325"/>
            <a:chOff x="3733800" y="2697331"/>
            <a:chExt cx="1202184" cy="2308325"/>
          </a:xfrm>
        </p:grpSpPr>
        <p:sp>
          <p:nvSpPr>
            <p:cNvPr id="9" name="Rectangle 8"/>
            <p:cNvSpPr/>
            <p:nvPr/>
          </p:nvSpPr>
          <p:spPr>
            <a:xfrm>
              <a:off x="4021584" y="2697332"/>
              <a:ext cx="9144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3800" y="2697331"/>
              <a:ext cx="4572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 smtClean="0"/>
                <a:t>18</a:t>
              </a:r>
              <a:endParaRPr lang="en-US" sz="8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32016" y="2693634"/>
            <a:ext cx="1202184" cy="338555"/>
            <a:chOff x="6646416" y="2696658"/>
            <a:chExt cx="1202184" cy="338555"/>
          </a:xfrm>
        </p:grpSpPr>
        <p:sp>
          <p:nvSpPr>
            <p:cNvPr id="20" name="Rectangle 19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37</a:t>
              </a:r>
            </a:p>
            <a:p>
              <a:r>
                <a:rPr lang="en-US" sz="800" dirty="0" smtClean="0"/>
                <a:t>38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46416" y="2693634"/>
            <a:ext cx="1202184" cy="338555"/>
            <a:chOff x="6646416" y="2696658"/>
            <a:chExt cx="1202184" cy="338555"/>
          </a:xfrm>
        </p:grpSpPr>
        <p:sp>
          <p:nvSpPr>
            <p:cNvPr id="23" name="Rectangle 22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800600" y="2693632"/>
            <a:ext cx="1202184" cy="2308325"/>
            <a:chOff x="6646416" y="2696658"/>
            <a:chExt cx="1202184" cy="2308325"/>
          </a:xfrm>
        </p:grpSpPr>
        <p:sp>
          <p:nvSpPr>
            <p:cNvPr id="31" name="Rectangle 30"/>
            <p:cNvSpPr/>
            <p:nvPr/>
          </p:nvSpPr>
          <p:spPr>
            <a:xfrm>
              <a:off x="6934200" y="2696659"/>
              <a:ext cx="9144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46416" y="2696658"/>
              <a:ext cx="4572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  <a:p>
              <a:r>
                <a:rPr lang="en-US" sz="800" dirty="0" smtClean="0"/>
                <a:t>33</a:t>
              </a:r>
              <a:endParaRPr lang="en-US" sz="800" dirty="0"/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 smtClean="0"/>
                <a:t>36</a:t>
              </a:r>
              <a:endParaRPr lang="en-US" sz="800" dirty="0"/>
            </a:p>
          </p:txBody>
        </p:sp>
      </p:grpSp>
      <p:pic>
        <p:nvPicPr>
          <p:cNvPr id="1026" name="Picture 2_" descr="C:\Users\310153563\Documents\GitHub\COPDBodyMedia_sleeping4\COPDBodyMedia_sleeping_code\Pictures\Presentation\occurencies_words_132_SLVL_temp3_gsr3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400" y="3048000"/>
            <a:ext cx="3200000" cy="2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12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1981200"/>
            <a:ext cx="1202184" cy="2431436"/>
            <a:chOff x="3733800" y="2697331"/>
            <a:chExt cx="1202184" cy="2431436"/>
          </a:xfrm>
        </p:grpSpPr>
        <p:sp>
          <p:nvSpPr>
            <p:cNvPr id="16" name="Rectangle 15"/>
            <p:cNvSpPr/>
            <p:nvPr/>
          </p:nvSpPr>
          <p:spPr>
            <a:xfrm>
              <a:off x="4021584" y="2697332"/>
              <a:ext cx="914400" cy="24314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endParaRPr lang="en-US" sz="8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3800" y="2697331"/>
              <a:ext cx="4572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66800" y="1980527"/>
            <a:ext cx="1202184" cy="2308325"/>
            <a:chOff x="6646416" y="2696658"/>
            <a:chExt cx="1202184" cy="2308325"/>
          </a:xfrm>
        </p:grpSpPr>
        <p:sp>
          <p:nvSpPr>
            <p:cNvPr id="19" name="Rectangle 18"/>
            <p:cNvSpPr/>
            <p:nvPr/>
          </p:nvSpPr>
          <p:spPr>
            <a:xfrm>
              <a:off x="6934200" y="2696659"/>
              <a:ext cx="9144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46416" y="2696658"/>
              <a:ext cx="45720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3887" y="226397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887" y="297942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269" y="371856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27404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860613" y="5345668"/>
            <a:ext cx="49204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Some words have a very low IDF =&gt; they are in all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Words with GSR = 2 not so informative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We can remove them removing words in 80%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Increase letter for gsr?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998216" y="1977503"/>
            <a:ext cx="1202184" cy="338555"/>
            <a:chOff x="6646416" y="2696658"/>
            <a:chExt cx="1202184" cy="338555"/>
          </a:xfrm>
        </p:grpSpPr>
        <p:sp>
          <p:nvSpPr>
            <p:cNvPr id="39" name="Rectangle 38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37</a:t>
              </a:r>
            </a:p>
            <a:p>
              <a:r>
                <a:rPr lang="en-US" sz="800" dirty="0" smtClean="0"/>
                <a:t>38</a:t>
              </a:r>
              <a:endParaRPr lang="en-US" sz="800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048927" y="213228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2912616" y="1977503"/>
            <a:ext cx="1202184" cy="338555"/>
            <a:chOff x="6646416" y="2696658"/>
            <a:chExt cx="1202184" cy="338555"/>
          </a:xfrm>
        </p:grpSpPr>
        <p:sp>
          <p:nvSpPr>
            <p:cNvPr id="45" name="Rectangle 44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1120806" y="297942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80974" y="371856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:\Users\310153563\Documents\GitHub\COPDBodyMedia_sleeping4\COPDBodyMedia_sleeping_code\Pictures\Presentation\sleeping_words_132_SLVL_temp3_gsr3_tem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" y="0"/>
            <a:ext cx="2133334" cy="1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310153563\Documents\GitHub\COPDBodyMedia_sleeping4\COPDBodyMedia_sleeping_code\Pictures\Presentation\verylight_words_132_SLVL_temp3_gsr3_temp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66" y="0"/>
            <a:ext cx="2133334" cy="1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310153563\Documents\GitHub\COPDBodyMedia_sleeping4\COPDBodyMedia_sleeping_code\Pictures\Presentation\ligh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0"/>
            <a:ext cx="2276037" cy="170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310153563\Documents\GitHub\COPDBodyMedia_sleeping4\COPDBodyMedia_sleeping_code\Pictures\Presentation\MV_words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963" y="0"/>
            <a:ext cx="2276037" cy="170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887" y="1679972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0.9747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5909" y="1678186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0.7587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2285" y="1676400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0.4924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685806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0.9962</a:t>
            </a:r>
          </a:p>
        </p:txBody>
      </p:sp>
      <p:pic>
        <p:nvPicPr>
          <p:cNvPr id="43" name="Picture 2_" descr="C:\Users\310153563\Documents\GitHub\COPDBodyMedia_sleeping4\COPDBodyMedia_sleeping_code\Pictures\Presentation\occurencies_words_132_SLVL_temp3_gsr3_temp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666" y="2610200"/>
            <a:ext cx="3733334" cy="2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/>
          <p:cNvSpPr/>
          <p:nvPr/>
        </p:nvSpPr>
        <p:spPr>
          <a:xfrm>
            <a:off x="3369816" y="5429416"/>
            <a:ext cx="478517" cy="163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8" idx="2"/>
          </p:cNvCxnSpPr>
          <p:nvPr/>
        </p:nvCxnSpPr>
        <p:spPr>
          <a:xfrm>
            <a:off x="432727" y="3131820"/>
            <a:ext cx="634073" cy="19735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9" idx="2"/>
          </p:cNvCxnSpPr>
          <p:nvPr/>
        </p:nvCxnSpPr>
        <p:spPr>
          <a:xfrm>
            <a:off x="423109" y="3870960"/>
            <a:ext cx="657865" cy="1234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47" idx="2"/>
          </p:cNvCxnSpPr>
          <p:nvPr/>
        </p:nvCxnSpPr>
        <p:spPr>
          <a:xfrm flipH="1">
            <a:off x="1080974" y="3131820"/>
            <a:ext cx="418672" cy="19735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0" y="5105400"/>
            <a:ext cx="22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Occur in the 80% of the patients</a:t>
            </a:r>
            <a:endParaRPr lang="en-US" dirty="0"/>
          </a:p>
        </p:txBody>
      </p:sp>
      <p:pic>
        <p:nvPicPr>
          <p:cNvPr id="51" name="Picture 6" descr="C:\Users\310153563\Documents\GitHub\COPDBodyMedia_sleeping4\COPDBodyMedia_sleeping_code\Pictures\Presentation\idf_132_SLVL_temp3_gsr3_temp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66" y="2610200"/>
            <a:ext cx="3733334" cy="2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/>
          <p:cNvSpPr/>
          <p:nvPr/>
        </p:nvSpPr>
        <p:spPr>
          <a:xfrm>
            <a:off x="44269" y="2618656"/>
            <a:ext cx="757679" cy="1524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3340" y="2125980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3340" y="3352800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6649" y="3582236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87597" y="6436276"/>
            <a:ext cx="757679" cy="1524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96668" y="5943600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28500" y="5896689"/>
            <a:ext cx="22099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Has high IDF (more in COPD patients)</a:t>
            </a:r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990467" y="6389365"/>
            <a:ext cx="22099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Has high IDF (more in healthy patients)</a:t>
            </a:r>
            <a:endParaRPr lang="en-US" sz="1000" dirty="0"/>
          </a:p>
        </p:txBody>
      </p:sp>
      <p:sp>
        <p:nvSpPr>
          <p:cNvPr id="59" name="Rectangle 58"/>
          <p:cNvSpPr/>
          <p:nvPr/>
        </p:nvSpPr>
        <p:spPr>
          <a:xfrm>
            <a:off x="1124461" y="2606040"/>
            <a:ext cx="757679" cy="1524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19695" y="3352800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103004" y="3582236"/>
            <a:ext cx="757679" cy="152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9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routines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200400" cy="1824200"/>
          </a:xfrm>
        </p:spPr>
        <p:txBody>
          <a:bodyPr>
            <a:normAutofit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Smooth data to attenuate outliers (window=10mins)</a:t>
            </a:r>
          </a:p>
          <a:p>
            <a:r>
              <a:rPr lang="en-US" sz="1000" dirty="0" smtClean="0"/>
              <a:t>Perform PAA (at the moment window is set to 1 -&gt; not performed)</a:t>
            </a:r>
          </a:p>
          <a:p>
            <a:r>
              <a:rPr lang="en-US" sz="1000" dirty="0" smtClean="0"/>
              <a:t>Convert to SAX strings (Temperature – GSR)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NOT CONSIDERING DURATION AS 1 DIMENSION</a:t>
            </a:r>
          </a:p>
          <a:p>
            <a:endParaRPr lang="en-US" sz="10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4495800" y="1551057"/>
            <a:ext cx="4323167" cy="707886"/>
            <a:chOff x="990600" y="4267200"/>
            <a:chExt cx="4323167" cy="707886"/>
          </a:xfrm>
        </p:grpSpPr>
        <p:sp>
          <p:nvSpPr>
            <p:cNvPr id="4" name="Rectangle 3"/>
            <p:cNvSpPr/>
            <p:nvPr/>
          </p:nvSpPr>
          <p:spPr>
            <a:xfrm>
              <a:off x="990600" y="4267200"/>
              <a:ext cx="3657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 smtClean="0"/>
                <a:t>sleeping </a:t>
              </a:r>
              <a:r>
                <a:rPr lang="en-US" sz="1000" dirty="0"/>
                <a:t>has 3 </a:t>
              </a:r>
              <a:r>
                <a:rPr lang="en-US" sz="1000" dirty="0" smtClean="0"/>
                <a:t>variables: temp (4) – </a:t>
              </a:r>
              <a:r>
                <a:rPr lang="en-US" sz="1000" dirty="0"/>
                <a:t>gsr (4) </a:t>
              </a:r>
              <a:r>
                <a:rPr lang="en-US" sz="1000" dirty="0" smtClean="0"/>
                <a:t>– step (2) -&gt; 32 words</a:t>
              </a:r>
            </a:p>
            <a:p>
              <a:r>
                <a:rPr lang="en-US" sz="1000" dirty="0" smtClean="0"/>
                <a:t>very </a:t>
              </a:r>
              <a:r>
                <a:rPr lang="en-US" sz="1000" dirty="0"/>
                <a:t>light has </a:t>
              </a:r>
              <a:r>
                <a:rPr lang="en-US" sz="1000" dirty="0" smtClean="0"/>
                <a:t>3 </a:t>
              </a:r>
              <a:r>
                <a:rPr lang="en-US" sz="1000" dirty="0"/>
                <a:t>variables: temp (4) – gsr (4) – step (2</a:t>
              </a:r>
              <a:r>
                <a:rPr lang="en-US" sz="1000" dirty="0" smtClean="0"/>
                <a:t>) -&gt; </a:t>
              </a:r>
              <a:r>
                <a:rPr lang="en-US" sz="1000" dirty="0"/>
                <a:t>32 words</a:t>
              </a:r>
            </a:p>
            <a:p>
              <a:r>
                <a:rPr lang="en-US" sz="1000" dirty="0" smtClean="0"/>
                <a:t>light </a:t>
              </a:r>
              <a:r>
                <a:rPr lang="en-US" sz="1000" dirty="0"/>
                <a:t>has 1 </a:t>
              </a:r>
              <a:r>
                <a:rPr lang="en-US" sz="1000" dirty="0" smtClean="0"/>
                <a:t>variable: step (2) -&gt; 2 words</a:t>
              </a:r>
              <a:endParaRPr lang="en-US" sz="1000" dirty="0"/>
            </a:p>
            <a:p>
              <a:r>
                <a:rPr lang="en-US" sz="1000" dirty="0" smtClean="0"/>
                <a:t>moderate </a:t>
              </a:r>
              <a:r>
                <a:rPr lang="en-US" sz="1000" dirty="0"/>
                <a:t>to vigorous has 1 </a:t>
              </a:r>
              <a:r>
                <a:rPr lang="en-US" sz="1000" dirty="0" smtClean="0"/>
                <a:t>variable: step (2) -&gt; 2words</a:t>
              </a:r>
              <a:endParaRPr lang="en-US" sz="1000" dirty="0"/>
            </a:p>
          </p:txBody>
        </p:sp>
        <p:sp>
          <p:nvSpPr>
            <p:cNvPr id="6" name="Right Brace 5"/>
            <p:cNvSpPr/>
            <p:nvPr/>
          </p:nvSpPr>
          <p:spPr>
            <a:xfrm>
              <a:off x="4602481" y="4316343"/>
              <a:ext cx="45719" cy="6096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48199" y="4498032"/>
              <a:ext cx="6655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68 words</a:t>
              </a:r>
              <a:endParaRPr lang="en-US" sz="1000" dirty="0"/>
            </a:p>
          </p:txBody>
        </p:sp>
      </p:grpSp>
      <p:pic>
        <p:nvPicPr>
          <p:cNvPr id="2050" name="Picture 2" descr="C:\Users\310153563\Documents\GitHub\COPDBodyMedia_sleeping4\COPDBodyMedia_sleeping_code\Pictures\Presentation\sax_conver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6043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733800" y="2697331"/>
            <a:ext cx="1202184" cy="4031874"/>
            <a:chOff x="3733800" y="2697331"/>
            <a:chExt cx="1202184" cy="4031874"/>
          </a:xfrm>
        </p:grpSpPr>
        <p:sp>
          <p:nvSpPr>
            <p:cNvPr id="9" name="Rectangle 8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32016" y="2693634"/>
            <a:ext cx="1202184" cy="338555"/>
            <a:chOff x="6646416" y="2696658"/>
            <a:chExt cx="1202184" cy="338555"/>
          </a:xfrm>
        </p:grpSpPr>
        <p:sp>
          <p:nvSpPr>
            <p:cNvPr id="20" name="Rectangle 19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65</a:t>
              </a:r>
            </a:p>
            <a:p>
              <a:r>
                <a:rPr lang="en-US" sz="800" dirty="0" smtClean="0"/>
                <a:t>66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46416" y="2693634"/>
            <a:ext cx="1202184" cy="338555"/>
            <a:chOff x="6646416" y="2696658"/>
            <a:chExt cx="1202184" cy="338555"/>
          </a:xfrm>
        </p:grpSpPr>
        <p:sp>
          <p:nvSpPr>
            <p:cNvPr id="23" name="Rectangle 22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67</a:t>
              </a:r>
            </a:p>
            <a:p>
              <a:r>
                <a:rPr lang="en-US" sz="800" dirty="0" smtClean="0"/>
                <a:t>68</a:t>
              </a:r>
              <a:endParaRPr lang="en-US" sz="800" dirty="0"/>
            </a:p>
          </p:txBody>
        </p:sp>
      </p:grpSp>
      <p:pic>
        <p:nvPicPr>
          <p:cNvPr id="25" name="Picture 3" descr="C:\Users\310153563\Documents\GitHub\COPDBodyMedia_sleeping4\COPDBodyMedia_sleeping_code\Pictures\Presentation\occurencies_words_132_68words_VL_gsr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13" y="3771657"/>
            <a:ext cx="3716787" cy="278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/>
          <p:cNvGrpSpPr/>
          <p:nvPr/>
        </p:nvGrpSpPr>
        <p:grpSpPr>
          <a:xfrm>
            <a:off x="4800600" y="2693632"/>
            <a:ext cx="1202184" cy="4031874"/>
            <a:chOff x="6646416" y="2696658"/>
            <a:chExt cx="1202184" cy="4031874"/>
          </a:xfrm>
        </p:grpSpPr>
        <p:sp>
          <p:nvSpPr>
            <p:cNvPr id="31" name="Rectangle 30"/>
            <p:cNvSpPr/>
            <p:nvPr/>
          </p:nvSpPr>
          <p:spPr>
            <a:xfrm>
              <a:off x="6934200" y="2696659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'2_1_4_1'</a:t>
              </a:r>
            </a:p>
            <a:p>
              <a:r>
                <a:rPr lang="en-US" sz="800" dirty="0"/>
                <a:t>'2_1_4_2'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'2_2_4_1'</a:t>
              </a:r>
            </a:p>
            <a:p>
              <a:r>
                <a:rPr lang="en-US" sz="800" dirty="0"/>
                <a:t>'2_2_4_2'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  <a:p>
              <a:r>
                <a:rPr lang="en-US" sz="800" dirty="0"/>
                <a:t>'2_3_4_1'</a:t>
              </a:r>
            </a:p>
            <a:p>
              <a:r>
                <a:rPr lang="en-US" sz="800" dirty="0"/>
                <a:t>'2_3_4_2'</a:t>
              </a:r>
            </a:p>
            <a:p>
              <a:r>
                <a:rPr lang="en-US" sz="800" dirty="0"/>
                <a:t>'2_4_1_1'</a:t>
              </a:r>
            </a:p>
            <a:p>
              <a:r>
                <a:rPr lang="en-US" sz="800" dirty="0"/>
                <a:t>'2_4_1_2'</a:t>
              </a:r>
            </a:p>
            <a:p>
              <a:r>
                <a:rPr lang="en-US" sz="800" dirty="0"/>
                <a:t>'2_4_2_1'</a:t>
              </a:r>
            </a:p>
            <a:p>
              <a:r>
                <a:rPr lang="en-US" sz="800" dirty="0"/>
                <a:t>'2_4_2_2'</a:t>
              </a:r>
            </a:p>
            <a:p>
              <a:r>
                <a:rPr lang="en-US" sz="800" dirty="0"/>
                <a:t>'2_4_3_1'</a:t>
              </a:r>
            </a:p>
            <a:p>
              <a:r>
                <a:rPr lang="en-US" sz="800" dirty="0"/>
                <a:t>'2_4_3_2'</a:t>
              </a:r>
            </a:p>
            <a:p>
              <a:r>
                <a:rPr lang="en-US" sz="800" dirty="0"/>
                <a:t>'2_4_4_1'</a:t>
              </a:r>
            </a:p>
            <a:p>
              <a:r>
                <a:rPr lang="en-US" sz="800" dirty="0"/>
                <a:t>'2_4_4_2'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46416" y="2696658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/>
                <a:t>40</a:t>
              </a:r>
            </a:p>
            <a:p>
              <a:r>
                <a:rPr lang="en-US" sz="800" dirty="0"/>
                <a:t>41</a:t>
              </a:r>
            </a:p>
            <a:p>
              <a:r>
                <a:rPr lang="en-US" sz="800" dirty="0"/>
                <a:t>42</a:t>
              </a:r>
            </a:p>
            <a:p>
              <a:r>
                <a:rPr lang="en-US" sz="800" dirty="0"/>
                <a:t>43</a:t>
              </a:r>
            </a:p>
            <a:p>
              <a:r>
                <a:rPr lang="en-US" sz="800" dirty="0"/>
                <a:t>44</a:t>
              </a:r>
            </a:p>
            <a:p>
              <a:r>
                <a:rPr lang="en-US" sz="800" dirty="0"/>
                <a:t>45</a:t>
              </a:r>
            </a:p>
            <a:p>
              <a:r>
                <a:rPr lang="en-US" sz="800" dirty="0"/>
                <a:t>46</a:t>
              </a:r>
            </a:p>
            <a:p>
              <a:r>
                <a:rPr lang="en-US" sz="800" dirty="0"/>
                <a:t>47</a:t>
              </a:r>
            </a:p>
            <a:p>
              <a:r>
                <a:rPr lang="en-US" sz="800" dirty="0"/>
                <a:t>48</a:t>
              </a:r>
            </a:p>
            <a:p>
              <a:r>
                <a:rPr lang="en-US" sz="800" dirty="0"/>
                <a:t>49</a:t>
              </a:r>
            </a:p>
            <a:p>
              <a:r>
                <a:rPr lang="en-US" sz="800" dirty="0"/>
                <a:t>50</a:t>
              </a:r>
            </a:p>
            <a:p>
              <a:r>
                <a:rPr lang="en-US" sz="800" dirty="0"/>
                <a:t>51</a:t>
              </a:r>
            </a:p>
            <a:p>
              <a:r>
                <a:rPr lang="en-US" sz="800" dirty="0"/>
                <a:t>52</a:t>
              </a:r>
            </a:p>
            <a:p>
              <a:r>
                <a:rPr lang="en-US" sz="800" dirty="0"/>
                <a:t>53</a:t>
              </a:r>
            </a:p>
            <a:p>
              <a:r>
                <a:rPr lang="en-US" sz="800" dirty="0"/>
                <a:t>54</a:t>
              </a:r>
            </a:p>
            <a:p>
              <a:r>
                <a:rPr lang="en-US" sz="800" dirty="0"/>
                <a:t>55</a:t>
              </a:r>
            </a:p>
            <a:p>
              <a:r>
                <a:rPr lang="en-US" sz="800" dirty="0"/>
                <a:t>56</a:t>
              </a:r>
            </a:p>
            <a:p>
              <a:r>
                <a:rPr lang="en-US" sz="800" dirty="0"/>
                <a:t>57</a:t>
              </a:r>
            </a:p>
            <a:p>
              <a:r>
                <a:rPr lang="en-US" sz="800" dirty="0"/>
                <a:t>58</a:t>
              </a:r>
            </a:p>
            <a:p>
              <a:r>
                <a:rPr lang="en-US" sz="800" dirty="0"/>
                <a:t>59</a:t>
              </a:r>
            </a:p>
            <a:p>
              <a:r>
                <a:rPr lang="en-US" sz="800" dirty="0"/>
                <a:t>60</a:t>
              </a:r>
            </a:p>
            <a:p>
              <a:r>
                <a:rPr lang="en-US" sz="800" dirty="0"/>
                <a:t>61</a:t>
              </a:r>
            </a:p>
            <a:p>
              <a:r>
                <a:rPr lang="en-US" sz="800" dirty="0"/>
                <a:t>62</a:t>
              </a:r>
            </a:p>
            <a:p>
              <a:r>
                <a:rPr lang="en-US" sz="800" dirty="0"/>
                <a:t>63</a:t>
              </a:r>
            </a:p>
            <a:p>
              <a:r>
                <a:rPr lang="en-US" sz="800" dirty="0"/>
                <a:t>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47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6200" y="86069"/>
            <a:ext cx="9009885" cy="1742731"/>
            <a:chOff x="-182883" y="1524000"/>
            <a:chExt cx="10010987" cy="1936368"/>
          </a:xfrm>
        </p:grpSpPr>
        <p:pic>
          <p:nvPicPr>
            <p:cNvPr id="5" name="Picture 4" descr="C:\Users\310153563\Documents\GitHub\COPDBodyMedia_sleeping4\COPDBodyMedia_sleeping_code\Pictures\Presentation\ligh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2452" y="1524000"/>
              <a:ext cx="2560319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C:\Users\310153563\Documents\GitHub\COPDBodyMedia_sleeping4\COPDBodyMedia_sleeping_code\Pictures\Presentation\MV_word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86" y="1540128"/>
              <a:ext cx="2560318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C:\Users\310153563\Documents\GitHub\COPDBodyMedia_sleeping4\COPDBodyMedia_sleeping_code\Pictures\Presentation\sleeping_words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2883" y="1524000"/>
              <a:ext cx="2560320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/>
          <p:cNvGrpSpPr/>
          <p:nvPr/>
        </p:nvGrpSpPr>
        <p:grpSpPr>
          <a:xfrm>
            <a:off x="0" y="1981200"/>
            <a:ext cx="1202184" cy="4031874"/>
            <a:chOff x="3733800" y="2697331"/>
            <a:chExt cx="1202184" cy="4031874"/>
          </a:xfrm>
        </p:grpSpPr>
        <p:sp>
          <p:nvSpPr>
            <p:cNvPr id="16" name="Rectangle 15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66800" y="1980527"/>
            <a:ext cx="1202184" cy="4031874"/>
            <a:chOff x="6646416" y="2696658"/>
            <a:chExt cx="1202184" cy="4031874"/>
          </a:xfrm>
        </p:grpSpPr>
        <p:sp>
          <p:nvSpPr>
            <p:cNvPr id="19" name="Rectangle 18"/>
            <p:cNvSpPr/>
            <p:nvPr/>
          </p:nvSpPr>
          <p:spPr>
            <a:xfrm>
              <a:off x="6934200" y="2696659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'2_1_4_1'</a:t>
              </a:r>
            </a:p>
            <a:p>
              <a:r>
                <a:rPr lang="en-US" sz="800" dirty="0"/>
                <a:t>'2_1_4_2'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'2_2_4_1'</a:t>
              </a:r>
            </a:p>
            <a:p>
              <a:r>
                <a:rPr lang="en-US" sz="800" dirty="0"/>
                <a:t>'2_2_4_2'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  <a:p>
              <a:r>
                <a:rPr lang="en-US" sz="800" dirty="0"/>
                <a:t>'2_3_4_1'</a:t>
              </a:r>
            </a:p>
            <a:p>
              <a:r>
                <a:rPr lang="en-US" sz="800" dirty="0"/>
                <a:t>'2_3_4_2'</a:t>
              </a:r>
            </a:p>
            <a:p>
              <a:r>
                <a:rPr lang="en-US" sz="800" dirty="0"/>
                <a:t>'2_4_1_1'</a:t>
              </a:r>
            </a:p>
            <a:p>
              <a:r>
                <a:rPr lang="en-US" sz="800" dirty="0"/>
                <a:t>'2_4_1_2'</a:t>
              </a:r>
            </a:p>
            <a:p>
              <a:r>
                <a:rPr lang="en-US" sz="800" dirty="0"/>
                <a:t>'2_4_2_1'</a:t>
              </a:r>
            </a:p>
            <a:p>
              <a:r>
                <a:rPr lang="en-US" sz="800" dirty="0"/>
                <a:t>'2_4_2_2'</a:t>
              </a:r>
            </a:p>
            <a:p>
              <a:r>
                <a:rPr lang="en-US" sz="800" dirty="0"/>
                <a:t>'2_4_3_1'</a:t>
              </a:r>
            </a:p>
            <a:p>
              <a:r>
                <a:rPr lang="en-US" sz="800" dirty="0"/>
                <a:t>'2_4_3_2'</a:t>
              </a:r>
            </a:p>
            <a:p>
              <a:r>
                <a:rPr lang="en-US" sz="800" dirty="0"/>
                <a:t>'2_4_4_1'</a:t>
              </a:r>
            </a:p>
            <a:p>
              <a:r>
                <a:rPr lang="en-US" sz="800" dirty="0"/>
                <a:t>'2_4_4_2'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46416" y="2696658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/>
                <a:t>40</a:t>
              </a:r>
            </a:p>
            <a:p>
              <a:r>
                <a:rPr lang="en-US" sz="800" dirty="0"/>
                <a:t>41</a:t>
              </a:r>
            </a:p>
            <a:p>
              <a:r>
                <a:rPr lang="en-US" sz="800" dirty="0"/>
                <a:t>42</a:t>
              </a:r>
            </a:p>
            <a:p>
              <a:r>
                <a:rPr lang="en-US" sz="800" dirty="0"/>
                <a:t>43</a:t>
              </a:r>
            </a:p>
            <a:p>
              <a:r>
                <a:rPr lang="en-US" sz="800" dirty="0"/>
                <a:t>44</a:t>
              </a:r>
            </a:p>
            <a:p>
              <a:r>
                <a:rPr lang="en-US" sz="800" dirty="0"/>
                <a:t>45</a:t>
              </a:r>
            </a:p>
            <a:p>
              <a:r>
                <a:rPr lang="en-US" sz="800" dirty="0"/>
                <a:t>46</a:t>
              </a:r>
            </a:p>
            <a:p>
              <a:r>
                <a:rPr lang="en-US" sz="800" dirty="0"/>
                <a:t>47</a:t>
              </a:r>
            </a:p>
            <a:p>
              <a:r>
                <a:rPr lang="en-US" sz="800" dirty="0"/>
                <a:t>48</a:t>
              </a:r>
            </a:p>
            <a:p>
              <a:r>
                <a:rPr lang="en-US" sz="800" dirty="0"/>
                <a:t>49</a:t>
              </a:r>
            </a:p>
            <a:p>
              <a:r>
                <a:rPr lang="en-US" sz="800" dirty="0"/>
                <a:t>50</a:t>
              </a:r>
            </a:p>
            <a:p>
              <a:r>
                <a:rPr lang="en-US" sz="800" dirty="0"/>
                <a:t>51</a:t>
              </a:r>
            </a:p>
            <a:p>
              <a:r>
                <a:rPr lang="en-US" sz="800" dirty="0"/>
                <a:t>52</a:t>
              </a:r>
            </a:p>
            <a:p>
              <a:r>
                <a:rPr lang="en-US" sz="800" dirty="0"/>
                <a:t>53</a:t>
              </a:r>
            </a:p>
            <a:p>
              <a:r>
                <a:rPr lang="en-US" sz="800" dirty="0"/>
                <a:t>54</a:t>
              </a:r>
            </a:p>
            <a:p>
              <a:r>
                <a:rPr lang="en-US" sz="800" dirty="0"/>
                <a:t>55</a:t>
              </a:r>
            </a:p>
            <a:p>
              <a:r>
                <a:rPr lang="en-US" sz="800" dirty="0"/>
                <a:t>56</a:t>
              </a:r>
            </a:p>
            <a:p>
              <a:r>
                <a:rPr lang="en-US" sz="800" dirty="0"/>
                <a:t>57</a:t>
              </a:r>
            </a:p>
            <a:p>
              <a:r>
                <a:rPr lang="en-US" sz="800" dirty="0"/>
                <a:t>58</a:t>
              </a:r>
            </a:p>
            <a:p>
              <a:r>
                <a:rPr lang="en-US" sz="800" dirty="0"/>
                <a:t>59</a:t>
              </a:r>
            </a:p>
            <a:p>
              <a:r>
                <a:rPr lang="en-US" sz="800" dirty="0"/>
                <a:t>60</a:t>
              </a:r>
            </a:p>
            <a:p>
              <a:r>
                <a:rPr lang="en-US" sz="800" dirty="0"/>
                <a:t>61</a:t>
              </a:r>
            </a:p>
            <a:p>
              <a:r>
                <a:rPr lang="en-US" sz="800" dirty="0"/>
                <a:t>62</a:t>
              </a:r>
            </a:p>
            <a:p>
              <a:r>
                <a:rPr lang="en-US" sz="800" dirty="0"/>
                <a:t>63</a:t>
              </a:r>
            </a:p>
            <a:p>
              <a:r>
                <a:rPr lang="en-US" sz="800" dirty="0"/>
                <a:t>64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3887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887" y="321815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269" y="419987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5009" y="518439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27404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8" descr="C:\Users\310153563\Documents\GitHub\COPDBodyMedia_sleeping4\COPDBodyMedia_sleeping_code\Pictures\Presentation\idf_all_vl_temp_gsr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632" y="2214977"/>
            <a:ext cx="6597368" cy="331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860613" y="5345668"/>
            <a:ext cx="6386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words have a very low IDF =&gt; they are in all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Words with GSR = 2 not so informative (increase letter for gsr?)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37010" y="5398936"/>
            <a:ext cx="587788" cy="2608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998216" y="1977503"/>
            <a:ext cx="1202184" cy="338555"/>
            <a:chOff x="6646416" y="2696658"/>
            <a:chExt cx="1202184" cy="338555"/>
          </a:xfrm>
        </p:grpSpPr>
        <p:sp>
          <p:nvSpPr>
            <p:cNvPr id="39" name="Rectangle 38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65</a:t>
              </a:r>
            </a:p>
            <a:p>
              <a:r>
                <a:rPr lang="en-US" sz="800" dirty="0" smtClean="0"/>
                <a:t>66</a:t>
              </a:r>
              <a:endParaRPr lang="en-US" sz="800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048927" y="213228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2912616" y="1977503"/>
            <a:ext cx="1202184" cy="338555"/>
            <a:chOff x="6646416" y="2696658"/>
            <a:chExt cx="1202184" cy="338555"/>
          </a:xfrm>
        </p:grpSpPr>
        <p:sp>
          <p:nvSpPr>
            <p:cNvPr id="45" name="Rectangle 44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67</a:t>
              </a:r>
            </a:p>
            <a:p>
              <a:r>
                <a:rPr lang="en-US" sz="800" dirty="0" smtClean="0"/>
                <a:t>68</a:t>
              </a:r>
              <a:endParaRPr lang="en-US" sz="800" dirty="0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1120806" y="321815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80974" y="419987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090827" y="5181431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310153563\Documents\GitHub\COPDBodyMedia_sleeping4\COPDBodyMedia_sleeping_code\Pictures\Presentation\verylight_words_temp_gsr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130" y="76200"/>
            <a:ext cx="2353322" cy="176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9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routines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200400" cy="1824200"/>
          </a:xfrm>
        </p:spPr>
        <p:txBody>
          <a:bodyPr>
            <a:normAutofit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Smooth data to attenuate outliers (window=10mins)</a:t>
            </a:r>
          </a:p>
          <a:p>
            <a:r>
              <a:rPr lang="en-US" sz="1000" dirty="0" smtClean="0"/>
              <a:t>Perform PAA (at the moment window is set to 1 -&gt; not performed)</a:t>
            </a:r>
          </a:p>
          <a:p>
            <a:r>
              <a:rPr lang="en-US" sz="1000" dirty="0" smtClean="0"/>
              <a:t>Convert to SAX strings (Temperature – GSR)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NOT CONSIDERING DURATION AS 1 DIMENSION</a:t>
            </a:r>
          </a:p>
          <a:p>
            <a:endParaRPr lang="en-US" sz="10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4495800" y="1143000"/>
            <a:ext cx="4323167" cy="707886"/>
            <a:chOff x="990600" y="4267200"/>
            <a:chExt cx="4323167" cy="707886"/>
          </a:xfrm>
        </p:grpSpPr>
        <p:sp>
          <p:nvSpPr>
            <p:cNvPr id="4" name="Rectangle 3"/>
            <p:cNvSpPr/>
            <p:nvPr/>
          </p:nvSpPr>
          <p:spPr>
            <a:xfrm>
              <a:off x="990600" y="4267200"/>
              <a:ext cx="3657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 smtClean="0"/>
                <a:t>sleeping </a:t>
              </a:r>
              <a:r>
                <a:rPr lang="en-US" sz="1000" dirty="0"/>
                <a:t>has 3 </a:t>
              </a:r>
              <a:r>
                <a:rPr lang="en-US" sz="1000" dirty="0" smtClean="0"/>
                <a:t>variables: temp (4) – </a:t>
              </a:r>
              <a:r>
                <a:rPr lang="en-US" sz="1000" dirty="0"/>
                <a:t>gsr </a:t>
              </a:r>
              <a:r>
                <a:rPr lang="en-US" sz="1000" dirty="0" smtClean="0"/>
                <a:t>(5) – step (2) -&gt; 40 words</a:t>
              </a:r>
            </a:p>
            <a:p>
              <a:r>
                <a:rPr lang="en-US" sz="1000" dirty="0" smtClean="0"/>
                <a:t>very </a:t>
              </a:r>
              <a:r>
                <a:rPr lang="en-US" sz="1000" dirty="0"/>
                <a:t>light has </a:t>
              </a:r>
              <a:r>
                <a:rPr lang="en-US" sz="1000" dirty="0" smtClean="0"/>
                <a:t>3 </a:t>
              </a:r>
              <a:r>
                <a:rPr lang="en-US" sz="1000" dirty="0"/>
                <a:t>variables: temp (4) – gsr </a:t>
              </a:r>
              <a:r>
                <a:rPr lang="en-US" sz="1000" dirty="0" smtClean="0"/>
                <a:t>(5) </a:t>
              </a:r>
              <a:r>
                <a:rPr lang="en-US" sz="1000" dirty="0"/>
                <a:t>– step (2</a:t>
              </a:r>
              <a:r>
                <a:rPr lang="en-US" sz="1000" dirty="0" smtClean="0"/>
                <a:t>) -&gt; 40 </a:t>
              </a:r>
              <a:r>
                <a:rPr lang="en-US" sz="1000" dirty="0"/>
                <a:t>words</a:t>
              </a:r>
            </a:p>
            <a:p>
              <a:r>
                <a:rPr lang="en-US" sz="1000" dirty="0" smtClean="0"/>
                <a:t>light </a:t>
              </a:r>
              <a:r>
                <a:rPr lang="en-US" sz="1000" dirty="0"/>
                <a:t>has 1 </a:t>
              </a:r>
              <a:r>
                <a:rPr lang="en-US" sz="1000" dirty="0" smtClean="0"/>
                <a:t>variable: step (2) -&gt; 2 words</a:t>
              </a:r>
              <a:endParaRPr lang="en-US" sz="1000" dirty="0"/>
            </a:p>
            <a:p>
              <a:r>
                <a:rPr lang="en-US" sz="1000" dirty="0" smtClean="0"/>
                <a:t>moderate </a:t>
              </a:r>
              <a:r>
                <a:rPr lang="en-US" sz="1000" dirty="0"/>
                <a:t>to vigorous has 1 </a:t>
              </a:r>
              <a:r>
                <a:rPr lang="en-US" sz="1000" dirty="0" smtClean="0"/>
                <a:t>variable: step (2) -&gt; 2words</a:t>
              </a:r>
              <a:endParaRPr lang="en-US" sz="1000" dirty="0"/>
            </a:p>
          </p:txBody>
        </p:sp>
        <p:sp>
          <p:nvSpPr>
            <p:cNvPr id="6" name="Right Brace 5"/>
            <p:cNvSpPr/>
            <p:nvPr/>
          </p:nvSpPr>
          <p:spPr>
            <a:xfrm>
              <a:off x="4526281" y="4316343"/>
              <a:ext cx="45719" cy="6096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48199" y="4498032"/>
              <a:ext cx="6655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84 words</a:t>
              </a:r>
              <a:endParaRPr lang="en-US" sz="1000" dirty="0"/>
            </a:p>
          </p:txBody>
        </p:sp>
      </p:grpSp>
      <p:pic>
        <p:nvPicPr>
          <p:cNvPr id="2050" name="Picture 2" descr="C:\Users\310153563\Documents\GitHub\COPDBodyMedia_sleeping4\COPDBodyMedia_sleeping_code\Pictures\Presentation\sax_conver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6043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733800" y="1908699"/>
            <a:ext cx="1202184" cy="5016759"/>
            <a:chOff x="3733800" y="2697331"/>
            <a:chExt cx="1202184" cy="5016759"/>
          </a:xfrm>
        </p:grpSpPr>
        <p:sp>
          <p:nvSpPr>
            <p:cNvPr id="9" name="Rectangle 8"/>
            <p:cNvSpPr/>
            <p:nvPr/>
          </p:nvSpPr>
          <p:spPr>
            <a:xfrm>
              <a:off x="4021584" y="2697332"/>
              <a:ext cx="9144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'1_1_5_1'</a:t>
              </a:r>
            </a:p>
            <a:p>
              <a:r>
                <a:rPr lang="en-US" sz="800" dirty="0"/>
                <a:t>'1_1_5_2'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'1_2_5_1'</a:t>
              </a:r>
            </a:p>
            <a:p>
              <a:r>
                <a:rPr lang="en-US" sz="800" dirty="0"/>
                <a:t>'1_2_5_2'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'1_3_5_1'</a:t>
              </a:r>
            </a:p>
            <a:p>
              <a:r>
                <a:rPr lang="en-US" sz="800" dirty="0"/>
                <a:t>'1_3_5_2'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  <a:p>
              <a:r>
                <a:rPr lang="en-US" sz="800" dirty="0"/>
                <a:t>'1_4_5_1'</a:t>
              </a:r>
            </a:p>
            <a:p>
              <a:r>
                <a:rPr lang="en-US" sz="800" dirty="0"/>
                <a:t>'1_4_5_2'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3800" y="2697331"/>
              <a:ext cx="4572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/>
                <a:t>40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32016" y="1905002"/>
            <a:ext cx="1202184" cy="338555"/>
            <a:chOff x="6646416" y="2696658"/>
            <a:chExt cx="1202184" cy="338555"/>
          </a:xfrm>
        </p:grpSpPr>
        <p:sp>
          <p:nvSpPr>
            <p:cNvPr id="20" name="Rectangle 19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'3_1_0_0'</a:t>
              </a:r>
            </a:p>
            <a:p>
              <a:r>
                <a:rPr lang="en-US" sz="800" dirty="0" smtClean="0"/>
                <a:t>'3_2_0_0'</a:t>
              </a:r>
              <a:endParaRPr lang="en-US" sz="8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81</a:t>
              </a:r>
            </a:p>
            <a:p>
              <a:r>
                <a:rPr lang="en-US" sz="800" dirty="0" smtClean="0"/>
                <a:t>82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46416" y="1905002"/>
            <a:ext cx="1202184" cy="338555"/>
            <a:chOff x="6646416" y="2696658"/>
            <a:chExt cx="1202184" cy="338555"/>
          </a:xfrm>
        </p:grpSpPr>
        <p:sp>
          <p:nvSpPr>
            <p:cNvPr id="23" name="Rectangle 22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83</a:t>
              </a:r>
            </a:p>
            <a:p>
              <a:r>
                <a:rPr lang="en-US" sz="800" dirty="0" smtClean="0"/>
                <a:t>84</a:t>
              </a:r>
              <a:endParaRPr lang="en-US" sz="800" dirty="0"/>
            </a:p>
          </p:txBody>
        </p:sp>
      </p:grpSp>
      <p:pic>
        <p:nvPicPr>
          <p:cNvPr id="3074" name="Picture 2_" descr="C:\Users\310153563\Documents\GitHub\COPDBodyMedia_sleeping4\COPDBodyMedia_sleeping_code\Pictures\Presentation\occurencies_words_132_gsr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867" y="3771657"/>
            <a:ext cx="3744133" cy="278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/>
          <p:cNvGrpSpPr/>
          <p:nvPr/>
        </p:nvGrpSpPr>
        <p:grpSpPr>
          <a:xfrm>
            <a:off x="4800600" y="1905000"/>
            <a:ext cx="1202184" cy="5016759"/>
            <a:chOff x="6646416" y="2696658"/>
            <a:chExt cx="1202184" cy="5016759"/>
          </a:xfrm>
        </p:grpSpPr>
        <p:sp>
          <p:nvSpPr>
            <p:cNvPr id="27" name="Rectangle 26"/>
            <p:cNvSpPr/>
            <p:nvPr/>
          </p:nvSpPr>
          <p:spPr>
            <a:xfrm>
              <a:off x="6934200" y="2696659"/>
              <a:ext cx="9144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'2_1_4_1'</a:t>
              </a:r>
            </a:p>
            <a:p>
              <a:r>
                <a:rPr lang="en-US" sz="800" dirty="0"/>
                <a:t>'2_1_4_2'</a:t>
              </a:r>
            </a:p>
            <a:p>
              <a:r>
                <a:rPr lang="en-US" sz="800" dirty="0"/>
                <a:t>'2_1_5_1'</a:t>
              </a:r>
            </a:p>
            <a:p>
              <a:r>
                <a:rPr lang="en-US" sz="800" dirty="0"/>
                <a:t>'2_1_5_2'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'2_2_4_1'</a:t>
              </a:r>
            </a:p>
            <a:p>
              <a:r>
                <a:rPr lang="en-US" sz="800" dirty="0"/>
                <a:t>'2_2_4_2'</a:t>
              </a:r>
            </a:p>
            <a:p>
              <a:r>
                <a:rPr lang="en-US" sz="800" dirty="0"/>
                <a:t>'2_2_5_1'</a:t>
              </a:r>
            </a:p>
            <a:p>
              <a:r>
                <a:rPr lang="en-US" sz="800" dirty="0"/>
                <a:t>'2_2_5_2'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  <a:p>
              <a:r>
                <a:rPr lang="en-US" sz="800" dirty="0"/>
                <a:t>'2_3_4_1'</a:t>
              </a:r>
            </a:p>
            <a:p>
              <a:r>
                <a:rPr lang="en-US" sz="800" dirty="0"/>
                <a:t>'2_3_4_2'</a:t>
              </a:r>
            </a:p>
            <a:p>
              <a:r>
                <a:rPr lang="en-US" sz="800" dirty="0"/>
                <a:t>'2_3_5_1'</a:t>
              </a:r>
            </a:p>
            <a:p>
              <a:r>
                <a:rPr lang="en-US" sz="800" dirty="0"/>
                <a:t>'2_3_5_2'</a:t>
              </a:r>
            </a:p>
            <a:p>
              <a:r>
                <a:rPr lang="en-US" sz="800" dirty="0"/>
                <a:t>'2_4_1_1'</a:t>
              </a:r>
            </a:p>
            <a:p>
              <a:r>
                <a:rPr lang="en-US" sz="800" dirty="0"/>
                <a:t>'2_4_1_2'</a:t>
              </a:r>
            </a:p>
            <a:p>
              <a:r>
                <a:rPr lang="en-US" sz="800" dirty="0"/>
                <a:t>'2_4_2_1'</a:t>
              </a:r>
            </a:p>
            <a:p>
              <a:r>
                <a:rPr lang="en-US" sz="800" dirty="0"/>
                <a:t>'2_4_2_2'</a:t>
              </a:r>
            </a:p>
            <a:p>
              <a:r>
                <a:rPr lang="en-US" sz="800" dirty="0"/>
                <a:t>'2_4_3_1'</a:t>
              </a:r>
            </a:p>
            <a:p>
              <a:r>
                <a:rPr lang="en-US" sz="800" dirty="0"/>
                <a:t>'2_4_3_2'</a:t>
              </a:r>
            </a:p>
            <a:p>
              <a:r>
                <a:rPr lang="en-US" sz="800" dirty="0"/>
                <a:t>'2_4_4_1'</a:t>
              </a:r>
            </a:p>
            <a:p>
              <a:r>
                <a:rPr lang="en-US" sz="800" dirty="0"/>
                <a:t>'2_4_4_2'</a:t>
              </a:r>
            </a:p>
            <a:p>
              <a:r>
                <a:rPr lang="en-US" sz="800" dirty="0"/>
                <a:t>'2_4_5_1'</a:t>
              </a:r>
            </a:p>
            <a:p>
              <a:r>
                <a:rPr lang="en-US" sz="800" dirty="0"/>
                <a:t>'2_4_5_2'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46416" y="2696658"/>
              <a:ext cx="4572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41</a:t>
              </a:r>
            </a:p>
            <a:p>
              <a:r>
                <a:rPr lang="en-US" sz="800" dirty="0"/>
                <a:t>42</a:t>
              </a:r>
            </a:p>
            <a:p>
              <a:r>
                <a:rPr lang="en-US" sz="800" dirty="0"/>
                <a:t>43</a:t>
              </a:r>
            </a:p>
            <a:p>
              <a:r>
                <a:rPr lang="en-US" sz="800" dirty="0"/>
                <a:t>44</a:t>
              </a:r>
            </a:p>
            <a:p>
              <a:r>
                <a:rPr lang="en-US" sz="800" dirty="0"/>
                <a:t>45</a:t>
              </a:r>
            </a:p>
            <a:p>
              <a:r>
                <a:rPr lang="en-US" sz="800" dirty="0"/>
                <a:t>46</a:t>
              </a:r>
            </a:p>
            <a:p>
              <a:r>
                <a:rPr lang="en-US" sz="800" dirty="0"/>
                <a:t>47</a:t>
              </a:r>
            </a:p>
            <a:p>
              <a:r>
                <a:rPr lang="en-US" sz="800" dirty="0"/>
                <a:t>48</a:t>
              </a:r>
            </a:p>
            <a:p>
              <a:r>
                <a:rPr lang="en-US" sz="800" dirty="0"/>
                <a:t>49</a:t>
              </a:r>
            </a:p>
            <a:p>
              <a:r>
                <a:rPr lang="en-US" sz="800" dirty="0"/>
                <a:t>50</a:t>
              </a:r>
            </a:p>
            <a:p>
              <a:r>
                <a:rPr lang="en-US" sz="800" dirty="0"/>
                <a:t>51</a:t>
              </a:r>
            </a:p>
            <a:p>
              <a:r>
                <a:rPr lang="en-US" sz="800" dirty="0"/>
                <a:t>52</a:t>
              </a:r>
            </a:p>
            <a:p>
              <a:r>
                <a:rPr lang="en-US" sz="800" dirty="0"/>
                <a:t>53</a:t>
              </a:r>
            </a:p>
            <a:p>
              <a:r>
                <a:rPr lang="en-US" sz="800" dirty="0"/>
                <a:t>54</a:t>
              </a:r>
            </a:p>
            <a:p>
              <a:r>
                <a:rPr lang="en-US" sz="800" dirty="0"/>
                <a:t>55</a:t>
              </a:r>
            </a:p>
            <a:p>
              <a:r>
                <a:rPr lang="en-US" sz="800" dirty="0"/>
                <a:t>56</a:t>
              </a:r>
            </a:p>
            <a:p>
              <a:r>
                <a:rPr lang="en-US" sz="800" dirty="0"/>
                <a:t>57</a:t>
              </a:r>
            </a:p>
            <a:p>
              <a:r>
                <a:rPr lang="en-US" sz="800" dirty="0"/>
                <a:t>58</a:t>
              </a:r>
            </a:p>
            <a:p>
              <a:r>
                <a:rPr lang="en-US" sz="800" dirty="0"/>
                <a:t>59</a:t>
              </a:r>
            </a:p>
            <a:p>
              <a:r>
                <a:rPr lang="en-US" sz="800" dirty="0"/>
                <a:t>60</a:t>
              </a:r>
            </a:p>
            <a:p>
              <a:r>
                <a:rPr lang="en-US" sz="800" dirty="0"/>
                <a:t>61</a:t>
              </a:r>
            </a:p>
            <a:p>
              <a:r>
                <a:rPr lang="en-US" sz="800" dirty="0"/>
                <a:t>62</a:t>
              </a:r>
            </a:p>
            <a:p>
              <a:r>
                <a:rPr lang="en-US" sz="800" dirty="0"/>
                <a:t>63</a:t>
              </a:r>
            </a:p>
            <a:p>
              <a:r>
                <a:rPr lang="en-US" sz="800" dirty="0"/>
                <a:t>64</a:t>
              </a:r>
            </a:p>
            <a:p>
              <a:r>
                <a:rPr lang="en-US" sz="800" dirty="0"/>
                <a:t>65</a:t>
              </a:r>
            </a:p>
            <a:p>
              <a:r>
                <a:rPr lang="en-US" sz="800" dirty="0"/>
                <a:t>66</a:t>
              </a:r>
            </a:p>
            <a:p>
              <a:r>
                <a:rPr lang="en-US" sz="800" dirty="0"/>
                <a:t>67</a:t>
              </a:r>
            </a:p>
            <a:p>
              <a:r>
                <a:rPr lang="en-US" sz="800" dirty="0"/>
                <a:t>68</a:t>
              </a:r>
            </a:p>
            <a:p>
              <a:r>
                <a:rPr lang="en-US" sz="800" dirty="0"/>
                <a:t>69</a:t>
              </a:r>
            </a:p>
            <a:p>
              <a:r>
                <a:rPr lang="en-US" sz="800" dirty="0"/>
                <a:t>70</a:t>
              </a:r>
            </a:p>
            <a:p>
              <a:r>
                <a:rPr lang="en-US" sz="800" dirty="0"/>
                <a:t>71</a:t>
              </a:r>
            </a:p>
            <a:p>
              <a:r>
                <a:rPr lang="en-US" sz="800" dirty="0"/>
                <a:t>72</a:t>
              </a:r>
            </a:p>
            <a:p>
              <a:r>
                <a:rPr lang="en-US" sz="800" dirty="0"/>
                <a:t>73</a:t>
              </a:r>
            </a:p>
            <a:p>
              <a:r>
                <a:rPr lang="en-US" sz="800" dirty="0"/>
                <a:t>74</a:t>
              </a:r>
            </a:p>
            <a:p>
              <a:r>
                <a:rPr lang="en-US" sz="800" dirty="0"/>
                <a:t>75</a:t>
              </a:r>
            </a:p>
            <a:p>
              <a:r>
                <a:rPr lang="en-US" sz="800" dirty="0"/>
                <a:t>76</a:t>
              </a:r>
            </a:p>
            <a:p>
              <a:r>
                <a:rPr lang="en-US" sz="800" dirty="0"/>
                <a:t>77</a:t>
              </a:r>
            </a:p>
            <a:p>
              <a:r>
                <a:rPr lang="en-US" sz="800" dirty="0"/>
                <a:t>78</a:t>
              </a:r>
            </a:p>
            <a:p>
              <a:r>
                <a:rPr lang="en-US" sz="800" dirty="0"/>
                <a:t>79</a:t>
              </a:r>
            </a:p>
            <a:p>
              <a:r>
                <a:rPr lang="en-US" sz="800" dirty="0"/>
                <a:t>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0" y="86069"/>
            <a:ext cx="4514085" cy="1742731"/>
            <a:chOff x="4812452" y="1524000"/>
            <a:chExt cx="5015652" cy="1936368"/>
          </a:xfrm>
        </p:grpSpPr>
        <p:pic>
          <p:nvPicPr>
            <p:cNvPr id="5" name="Picture 4" descr="C:\Users\310153563\Documents\GitHub\COPDBodyMedia_sleeping4\COPDBodyMedia_sleeping_code\Pictures\Presentation\ligh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2452" y="1524000"/>
              <a:ext cx="2560319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C:\Users\310153563\Documents\GitHub\COPDBodyMedia_sleeping4\COPDBodyMedia_sleeping_code\Pictures\Presentation\MV_word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86" y="1540128"/>
              <a:ext cx="2560318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/>
          <p:cNvGrpSpPr/>
          <p:nvPr/>
        </p:nvGrpSpPr>
        <p:grpSpPr>
          <a:xfrm>
            <a:off x="0" y="1917441"/>
            <a:ext cx="1202184" cy="5016759"/>
            <a:chOff x="3733800" y="2697331"/>
            <a:chExt cx="1202184" cy="5016759"/>
          </a:xfrm>
        </p:grpSpPr>
        <p:sp>
          <p:nvSpPr>
            <p:cNvPr id="16" name="Rectangle 15"/>
            <p:cNvSpPr/>
            <p:nvPr/>
          </p:nvSpPr>
          <p:spPr>
            <a:xfrm>
              <a:off x="4021584" y="2697332"/>
              <a:ext cx="9144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'1_1_5_1'</a:t>
              </a:r>
            </a:p>
            <a:p>
              <a:r>
                <a:rPr lang="en-US" sz="800" dirty="0"/>
                <a:t>'1_1_5_2'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'1_2_5_1'</a:t>
              </a:r>
            </a:p>
            <a:p>
              <a:r>
                <a:rPr lang="en-US" sz="800" dirty="0"/>
                <a:t>'1_2_5_2'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'1_3_5_1'</a:t>
              </a:r>
            </a:p>
            <a:p>
              <a:r>
                <a:rPr lang="en-US" sz="800" dirty="0"/>
                <a:t>'1_3_5_2'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  <a:p>
              <a:r>
                <a:rPr lang="en-US" sz="800" dirty="0"/>
                <a:t>'1_4_5_1'</a:t>
              </a:r>
            </a:p>
            <a:p>
              <a:r>
                <a:rPr lang="en-US" sz="800" dirty="0"/>
                <a:t>'1_4_5_2'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3800" y="2697331"/>
              <a:ext cx="4572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/>
                <a:t>40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66800" y="1916768"/>
            <a:ext cx="1202184" cy="5016759"/>
            <a:chOff x="6646416" y="2696658"/>
            <a:chExt cx="1202184" cy="5016759"/>
          </a:xfrm>
        </p:grpSpPr>
        <p:sp>
          <p:nvSpPr>
            <p:cNvPr id="19" name="Rectangle 18"/>
            <p:cNvSpPr/>
            <p:nvPr/>
          </p:nvSpPr>
          <p:spPr>
            <a:xfrm>
              <a:off x="6934200" y="2696659"/>
              <a:ext cx="9144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'2_1_1_1'</a:t>
              </a:r>
            </a:p>
            <a:p>
              <a:r>
                <a:rPr lang="en-US" sz="800" dirty="0"/>
                <a:t>'2_1_1_2'</a:t>
              </a:r>
            </a:p>
            <a:p>
              <a:r>
                <a:rPr lang="en-US" sz="800" dirty="0"/>
                <a:t>'2_1_2_1'</a:t>
              </a:r>
            </a:p>
            <a:p>
              <a:r>
                <a:rPr lang="en-US" sz="800" dirty="0"/>
                <a:t>'2_1_2_2'</a:t>
              </a:r>
            </a:p>
            <a:p>
              <a:r>
                <a:rPr lang="en-US" sz="800" dirty="0"/>
                <a:t>'2_1_3_1'</a:t>
              </a:r>
            </a:p>
            <a:p>
              <a:r>
                <a:rPr lang="en-US" sz="800" dirty="0"/>
                <a:t>'2_1_3_2'</a:t>
              </a:r>
            </a:p>
            <a:p>
              <a:r>
                <a:rPr lang="en-US" sz="800" dirty="0"/>
                <a:t>'2_1_4_1'</a:t>
              </a:r>
            </a:p>
            <a:p>
              <a:r>
                <a:rPr lang="en-US" sz="800" dirty="0"/>
                <a:t>'2_1_4_2'</a:t>
              </a:r>
            </a:p>
            <a:p>
              <a:r>
                <a:rPr lang="en-US" sz="800" dirty="0"/>
                <a:t>'2_1_5_1'</a:t>
              </a:r>
            </a:p>
            <a:p>
              <a:r>
                <a:rPr lang="en-US" sz="800" dirty="0"/>
                <a:t>'2_1_5_2'</a:t>
              </a:r>
            </a:p>
            <a:p>
              <a:r>
                <a:rPr lang="en-US" sz="800" dirty="0"/>
                <a:t>'2_2_1_1'</a:t>
              </a:r>
            </a:p>
            <a:p>
              <a:r>
                <a:rPr lang="en-US" sz="800" dirty="0"/>
                <a:t>'2_2_1_2'</a:t>
              </a:r>
            </a:p>
            <a:p>
              <a:r>
                <a:rPr lang="en-US" sz="800" dirty="0"/>
                <a:t>'2_2_2_1'</a:t>
              </a:r>
            </a:p>
            <a:p>
              <a:r>
                <a:rPr lang="en-US" sz="800" dirty="0"/>
                <a:t>'2_2_2_2'</a:t>
              </a:r>
            </a:p>
            <a:p>
              <a:r>
                <a:rPr lang="en-US" sz="800" dirty="0"/>
                <a:t>'2_2_3_1'</a:t>
              </a:r>
            </a:p>
            <a:p>
              <a:r>
                <a:rPr lang="en-US" sz="800" dirty="0"/>
                <a:t>'2_2_3_2'</a:t>
              </a:r>
            </a:p>
            <a:p>
              <a:r>
                <a:rPr lang="en-US" sz="800" dirty="0"/>
                <a:t>'2_2_4_1'</a:t>
              </a:r>
            </a:p>
            <a:p>
              <a:r>
                <a:rPr lang="en-US" sz="800" dirty="0"/>
                <a:t>'2_2_4_2'</a:t>
              </a:r>
            </a:p>
            <a:p>
              <a:r>
                <a:rPr lang="en-US" sz="800" dirty="0"/>
                <a:t>'2_2_5_1'</a:t>
              </a:r>
            </a:p>
            <a:p>
              <a:r>
                <a:rPr lang="en-US" sz="800" dirty="0"/>
                <a:t>'2_2_5_2'</a:t>
              </a:r>
            </a:p>
            <a:p>
              <a:r>
                <a:rPr lang="en-US" sz="800" dirty="0"/>
                <a:t>'2_3_1_1'</a:t>
              </a:r>
            </a:p>
            <a:p>
              <a:r>
                <a:rPr lang="en-US" sz="800" dirty="0"/>
                <a:t>'2_3_1_2'</a:t>
              </a:r>
            </a:p>
            <a:p>
              <a:r>
                <a:rPr lang="en-US" sz="800" dirty="0"/>
                <a:t>'2_3_2_1'</a:t>
              </a:r>
            </a:p>
            <a:p>
              <a:r>
                <a:rPr lang="en-US" sz="800" dirty="0"/>
                <a:t>'2_3_2_2'</a:t>
              </a:r>
            </a:p>
            <a:p>
              <a:r>
                <a:rPr lang="en-US" sz="800" dirty="0"/>
                <a:t>'2_3_3_1'</a:t>
              </a:r>
            </a:p>
            <a:p>
              <a:r>
                <a:rPr lang="en-US" sz="800" dirty="0"/>
                <a:t>'2_3_3_2'</a:t>
              </a:r>
            </a:p>
            <a:p>
              <a:r>
                <a:rPr lang="en-US" sz="800" dirty="0"/>
                <a:t>'2_3_4_1'</a:t>
              </a:r>
            </a:p>
            <a:p>
              <a:r>
                <a:rPr lang="en-US" sz="800" dirty="0"/>
                <a:t>'2_3_4_2'</a:t>
              </a:r>
            </a:p>
            <a:p>
              <a:r>
                <a:rPr lang="en-US" sz="800" dirty="0"/>
                <a:t>'2_3_5_1'</a:t>
              </a:r>
            </a:p>
            <a:p>
              <a:r>
                <a:rPr lang="en-US" sz="800" dirty="0"/>
                <a:t>'2_3_5_2'</a:t>
              </a:r>
            </a:p>
            <a:p>
              <a:r>
                <a:rPr lang="en-US" sz="800" dirty="0"/>
                <a:t>'2_4_1_1'</a:t>
              </a:r>
            </a:p>
            <a:p>
              <a:r>
                <a:rPr lang="en-US" sz="800" dirty="0"/>
                <a:t>'2_4_1_2'</a:t>
              </a:r>
            </a:p>
            <a:p>
              <a:r>
                <a:rPr lang="en-US" sz="800" dirty="0"/>
                <a:t>'2_4_2_1'</a:t>
              </a:r>
            </a:p>
            <a:p>
              <a:r>
                <a:rPr lang="en-US" sz="800" dirty="0"/>
                <a:t>'2_4_2_2'</a:t>
              </a:r>
            </a:p>
            <a:p>
              <a:r>
                <a:rPr lang="en-US" sz="800" dirty="0"/>
                <a:t>'2_4_3_1'</a:t>
              </a:r>
            </a:p>
            <a:p>
              <a:r>
                <a:rPr lang="en-US" sz="800" dirty="0"/>
                <a:t>'2_4_3_2'</a:t>
              </a:r>
            </a:p>
            <a:p>
              <a:r>
                <a:rPr lang="en-US" sz="800" dirty="0"/>
                <a:t>'2_4_4_1'</a:t>
              </a:r>
            </a:p>
            <a:p>
              <a:r>
                <a:rPr lang="en-US" sz="800" dirty="0"/>
                <a:t>'2_4_4_2'</a:t>
              </a:r>
            </a:p>
            <a:p>
              <a:r>
                <a:rPr lang="en-US" sz="800" dirty="0"/>
                <a:t>'2_4_5_1'</a:t>
              </a:r>
            </a:p>
            <a:p>
              <a:r>
                <a:rPr lang="en-US" sz="800" dirty="0"/>
                <a:t>'2_4_5_2'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46416" y="2696658"/>
              <a:ext cx="457200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41</a:t>
              </a:r>
            </a:p>
            <a:p>
              <a:r>
                <a:rPr lang="en-US" sz="800" dirty="0"/>
                <a:t>42</a:t>
              </a:r>
            </a:p>
            <a:p>
              <a:r>
                <a:rPr lang="en-US" sz="800" dirty="0"/>
                <a:t>43</a:t>
              </a:r>
            </a:p>
            <a:p>
              <a:r>
                <a:rPr lang="en-US" sz="800" dirty="0"/>
                <a:t>44</a:t>
              </a:r>
            </a:p>
            <a:p>
              <a:r>
                <a:rPr lang="en-US" sz="800" dirty="0"/>
                <a:t>45</a:t>
              </a:r>
            </a:p>
            <a:p>
              <a:r>
                <a:rPr lang="en-US" sz="800" dirty="0"/>
                <a:t>46</a:t>
              </a:r>
            </a:p>
            <a:p>
              <a:r>
                <a:rPr lang="en-US" sz="800" dirty="0"/>
                <a:t>47</a:t>
              </a:r>
            </a:p>
            <a:p>
              <a:r>
                <a:rPr lang="en-US" sz="800" dirty="0"/>
                <a:t>48</a:t>
              </a:r>
            </a:p>
            <a:p>
              <a:r>
                <a:rPr lang="en-US" sz="800" dirty="0"/>
                <a:t>49</a:t>
              </a:r>
            </a:p>
            <a:p>
              <a:r>
                <a:rPr lang="en-US" sz="800" dirty="0"/>
                <a:t>50</a:t>
              </a:r>
            </a:p>
            <a:p>
              <a:r>
                <a:rPr lang="en-US" sz="800" dirty="0"/>
                <a:t>51</a:t>
              </a:r>
            </a:p>
            <a:p>
              <a:r>
                <a:rPr lang="en-US" sz="800" dirty="0"/>
                <a:t>52</a:t>
              </a:r>
            </a:p>
            <a:p>
              <a:r>
                <a:rPr lang="en-US" sz="800" dirty="0"/>
                <a:t>53</a:t>
              </a:r>
            </a:p>
            <a:p>
              <a:r>
                <a:rPr lang="en-US" sz="800" dirty="0"/>
                <a:t>54</a:t>
              </a:r>
            </a:p>
            <a:p>
              <a:r>
                <a:rPr lang="en-US" sz="800" dirty="0"/>
                <a:t>55</a:t>
              </a:r>
            </a:p>
            <a:p>
              <a:r>
                <a:rPr lang="en-US" sz="800" dirty="0"/>
                <a:t>56</a:t>
              </a:r>
            </a:p>
            <a:p>
              <a:r>
                <a:rPr lang="en-US" sz="800" dirty="0"/>
                <a:t>57</a:t>
              </a:r>
            </a:p>
            <a:p>
              <a:r>
                <a:rPr lang="en-US" sz="800" dirty="0"/>
                <a:t>58</a:t>
              </a:r>
            </a:p>
            <a:p>
              <a:r>
                <a:rPr lang="en-US" sz="800" dirty="0"/>
                <a:t>59</a:t>
              </a:r>
            </a:p>
            <a:p>
              <a:r>
                <a:rPr lang="en-US" sz="800" dirty="0"/>
                <a:t>60</a:t>
              </a:r>
            </a:p>
            <a:p>
              <a:r>
                <a:rPr lang="en-US" sz="800" dirty="0"/>
                <a:t>61</a:t>
              </a:r>
            </a:p>
            <a:p>
              <a:r>
                <a:rPr lang="en-US" sz="800" dirty="0"/>
                <a:t>62</a:t>
              </a:r>
            </a:p>
            <a:p>
              <a:r>
                <a:rPr lang="en-US" sz="800" dirty="0"/>
                <a:t>63</a:t>
              </a:r>
            </a:p>
            <a:p>
              <a:r>
                <a:rPr lang="en-US" sz="800" dirty="0"/>
                <a:t>64</a:t>
              </a:r>
            </a:p>
            <a:p>
              <a:r>
                <a:rPr lang="en-US" sz="800" dirty="0"/>
                <a:t>65</a:t>
              </a:r>
            </a:p>
            <a:p>
              <a:r>
                <a:rPr lang="en-US" sz="800" dirty="0"/>
                <a:t>66</a:t>
              </a:r>
            </a:p>
            <a:p>
              <a:r>
                <a:rPr lang="en-US" sz="800" dirty="0"/>
                <a:t>67</a:t>
              </a:r>
            </a:p>
            <a:p>
              <a:r>
                <a:rPr lang="en-US" sz="800" dirty="0"/>
                <a:t>68</a:t>
              </a:r>
            </a:p>
            <a:p>
              <a:r>
                <a:rPr lang="en-US" sz="800" dirty="0"/>
                <a:t>69</a:t>
              </a:r>
            </a:p>
            <a:p>
              <a:r>
                <a:rPr lang="en-US" sz="800" dirty="0"/>
                <a:t>70</a:t>
              </a:r>
            </a:p>
            <a:p>
              <a:r>
                <a:rPr lang="en-US" sz="800" dirty="0"/>
                <a:t>71</a:t>
              </a:r>
            </a:p>
            <a:p>
              <a:r>
                <a:rPr lang="en-US" sz="800" dirty="0"/>
                <a:t>72</a:t>
              </a:r>
            </a:p>
            <a:p>
              <a:r>
                <a:rPr lang="en-US" sz="800" dirty="0"/>
                <a:t>73</a:t>
              </a:r>
            </a:p>
            <a:p>
              <a:r>
                <a:rPr lang="en-US" sz="800" dirty="0"/>
                <a:t>74</a:t>
              </a:r>
            </a:p>
            <a:p>
              <a:r>
                <a:rPr lang="en-US" sz="800" dirty="0"/>
                <a:t>75</a:t>
              </a:r>
            </a:p>
            <a:p>
              <a:r>
                <a:rPr lang="en-US" sz="800" dirty="0"/>
                <a:t>76</a:t>
              </a:r>
            </a:p>
            <a:p>
              <a:r>
                <a:rPr lang="en-US" sz="800" dirty="0"/>
                <a:t>77</a:t>
              </a:r>
            </a:p>
            <a:p>
              <a:r>
                <a:rPr lang="en-US" sz="800" dirty="0"/>
                <a:t>78</a:t>
              </a:r>
            </a:p>
            <a:p>
              <a:r>
                <a:rPr lang="en-US" sz="800" dirty="0"/>
                <a:t>79</a:t>
              </a:r>
            </a:p>
            <a:p>
              <a:r>
                <a:rPr lang="en-US" sz="800" dirty="0"/>
                <a:t>80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3887" y="24384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887" y="36576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269" y="48768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5009" y="60960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27404" y="24384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998216" y="1913744"/>
            <a:ext cx="1202184" cy="338555"/>
            <a:chOff x="6646416" y="2696658"/>
            <a:chExt cx="1202184" cy="338555"/>
          </a:xfrm>
        </p:grpSpPr>
        <p:sp>
          <p:nvSpPr>
            <p:cNvPr id="39" name="Rectangle 38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81</a:t>
              </a:r>
            </a:p>
            <a:p>
              <a:r>
                <a:rPr lang="en-US" sz="800" dirty="0" smtClean="0"/>
                <a:t>82</a:t>
              </a:r>
              <a:endParaRPr lang="en-US" sz="800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048927" y="2068527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2912616" y="1913744"/>
            <a:ext cx="1202184" cy="338555"/>
            <a:chOff x="6646416" y="2696658"/>
            <a:chExt cx="1202184" cy="338555"/>
          </a:xfrm>
        </p:grpSpPr>
        <p:sp>
          <p:nvSpPr>
            <p:cNvPr id="45" name="Rectangle 44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83</a:t>
              </a:r>
            </a:p>
            <a:p>
              <a:r>
                <a:rPr lang="en-US" sz="800" dirty="0" smtClean="0"/>
                <a:t>84</a:t>
              </a:r>
              <a:endParaRPr lang="en-US" sz="800" dirty="0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1120806" y="36576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80974" y="48768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090827" y="609600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C:\Users\310153563\Documents\GitHub\COPDBodyMedia_sleeping4\COPDBodyMedia_sleeping_code\Pictures\Presentation\idf_all_gsr_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317" y="2293729"/>
            <a:ext cx="6828112" cy="329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/>
          <p:cNvSpPr txBox="1"/>
          <p:nvPr/>
        </p:nvSpPr>
        <p:spPr>
          <a:xfrm>
            <a:off x="2860613" y="5345668"/>
            <a:ext cx="6386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words have a very low IDF =&gt; they are in all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Words with GSR = 3 not so informative (increase letter for gsr?)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37010" y="5398936"/>
            <a:ext cx="587788" cy="2608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C:\Users\310153563\Documents\GitHub\COPDBodyMedia_sleeping4\COPDBodyMedia_sleeping_code\Pictures\Presentation\verylight_words_gsr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6" y="164592"/>
            <a:ext cx="21336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310153563\Documents\GitHub\COPDBodyMedia_sleeping4\COPDBodyMedia_sleeping_code\Pictures\Presentation\verylight_words_gsr5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373" y="164792"/>
            <a:ext cx="2133334" cy="1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22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310153563\Documents\GitHub\COPDBodyMedia_sleeping4\COPDBodyMedia_sleeping_code\Pictures\Presentation\occurencies_words_132_68words_VL_gsr_tem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3" y="169834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C:\Users\310153563\Documents\GitHub\COPDBodyMedia_sleeping4\COPDBodyMedia_sleeping_code\Pictures\Presentation\idf_all_vl_temp_gs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1252"/>
            <a:ext cx="4480560" cy="22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7315200" y="627219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S       1.2048</a:t>
            </a:r>
          </a:p>
          <a:p>
            <a:r>
              <a:rPr lang="en-US" sz="1000" dirty="0"/>
              <a:t>VL </a:t>
            </a:r>
            <a:r>
              <a:rPr lang="en-US" sz="1000" dirty="0" smtClean="0"/>
              <a:t>    0.9714</a:t>
            </a:r>
          </a:p>
          <a:p>
            <a:r>
              <a:rPr lang="en-US" sz="1000" dirty="0"/>
              <a:t>L  </a:t>
            </a:r>
            <a:r>
              <a:rPr lang="en-US" sz="1000" dirty="0" smtClean="0"/>
              <a:t>     0.4924</a:t>
            </a:r>
          </a:p>
          <a:p>
            <a:r>
              <a:rPr lang="en-US" sz="1000" dirty="0" smtClean="0"/>
              <a:t>MV  0.9962</a:t>
            </a:r>
            <a:endParaRPr lang="en-US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S=temp(4) gsr(4) step(2) - VL=</a:t>
            </a:r>
            <a:r>
              <a:rPr lang="en-US" sz="1400" dirty="0"/>
              <a:t> temp(4) gsr(4) </a:t>
            </a:r>
            <a:r>
              <a:rPr lang="en-US" sz="1400" dirty="0" smtClean="0"/>
              <a:t>step(2) - L= step(2) - MV= step(2)</a:t>
            </a:r>
            <a:endParaRPr lang="en-US" sz="1400" dirty="0"/>
          </a:p>
        </p:txBody>
      </p:sp>
      <p:pic>
        <p:nvPicPr>
          <p:cNvPr id="5123" name="Picture 3_" descr="C:\Users\310153563\Documents\GitHub\COPDBodyMedia_sleeping4\COPDBodyMedia_sleeping_code\Pictures\Presentation\idf_all_gsr_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958" y="2473452"/>
            <a:ext cx="4495801" cy="22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310153563\Documents\GitHub\COPDBodyMedia_sleeping4\COPDBodyMedia_sleeping_code\Pictures\Presentation\occurencies_words_132_gsr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2" y="2532034"/>
            <a:ext cx="2768848" cy="2133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0" y="2303619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S=temp(4) gsr(4) step(2) - VL=</a:t>
            </a:r>
            <a:r>
              <a:rPr lang="en-US" sz="1400" dirty="0"/>
              <a:t> temp(4) </a:t>
            </a:r>
            <a:r>
              <a:rPr lang="en-US" sz="1400" dirty="0" smtClean="0"/>
              <a:t>gsr(5) step(2) - L= step(2) - MV= step(2)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7315200" y="3244983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S       1.2691</a:t>
            </a:r>
          </a:p>
          <a:p>
            <a:r>
              <a:rPr lang="en-US" sz="1000" dirty="0" smtClean="0"/>
              <a:t>VL     1.0294</a:t>
            </a:r>
          </a:p>
          <a:p>
            <a:r>
              <a:rPr lang="en-US" sz="1000" dirty="0" smtClean="0"/>
              <a:t>L       0.4924</a:t>
            </a:r>
          </a:p>
          <a:p>
            <a:r>
              <a:rPr lang="en-US" sz="1000" dirty="0" smtClean="0"/>
              <a:t>MV  0.9962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79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routines (</a:t>
            </a:r>
            <a:r>
              <a:rPr lang="en-US" dirty="0" err="1" smtClean="0"/>
              <a:t>vl_temp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200400" cy="1824200"/>
          </a:xfrm>
        </p:spPr>
        <p:txBody>
          <a:bodyPr>
            <a:normAutofit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Smooth data to attenuate outliers (window=10mins)</a:t>
            </a:r>
          </a:p>
          <a:p>
            <a:r>
              <a:rPr lang="en-US" sz="1000" dirty="0" smtClean="0"/>
              <a:t>Perform PAA (at the moment window is set to 1 -&gt; not performed)</a:t>
            </a:r>
          </a:p>
          <a:p>
            <a:r>
              <a:rPr lang="en-US" sz="1000" dirty="0" smtClean="0"/>
              <a:t>Convert to SAX strings (Temperature – GSR)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NOT CONSIDERING DURATION AS 1 DIMENSION</a:t>
            </a:r>
          </a:p>
          <a:p>
            <a:endParaRPr lang="en-US" sz="10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4495800" y="1551057"/>
            <a:ext cx="4323167" cy="707886"/>
            <a:chOff x="990600" y="4267200"/>
            <a:chExt cx="4323167" cy="707886"/>
          </a:xfrm>
        </p:grpSpPr>
        <p:sp>
          <p:nvSpPr>
            <p:cNvPr id="4" name="Rectangle 3"/>
            <p:cNvSpPr/>
            <p:nvPr/>
          </p:nvSpPr>
          <p:spPr>
            <a:xfrm>
              <a:off x="990600" y="4267200"/>
              <a:ext cx="3657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 smtClean="0"/>
                <a:t>sleeping </a:t>
              </a:r>
              <a:r>
                <a:rPr lang="en-US" sz="1000" dirty="0"/>
                <a:t>has 3 letters: </a:t>
              </a:r>
              <a:r>
                <a:rPr lang="en-US" sz="1000" dirty="0" smtClean="0"/>
                <a:t>temperature – gsr – step -&gt; 32 words</a:t>
              </a:r>
            </a:p>
            <a:p>
              <a:r>
                <a:rPr lang="en-US" sz="1000" dirty="0" smtClean="0"/>
                <a:t>very </a:t>
              </a:r>
              <a:r>
                <a:rPr lang="en-US" sz="1000" dirty="0"/>
                <a:t>light has </a:t>
              </a:r>
              <a:r>
                <a:rPr lang="en-US" sz="1000" dirty="0" smtClean="0"/>
                <a:t>2 letters: </a:t>
              </a:r>
              <a:r>
                <a:rPr lang="en-US" sz="1000" dirty="0" smtClean="0">
                  <a:solidFill>
                    <a:srgbClr val="FF0000"/>
                  </a:solidFill>
                </a:rPr>
                <a:t>temp</a:t>
              </a:r>
              <a:r>
                <a:rPr lang="en-US" sz="1000" dirty="0" smtClean="0"/>
                <a:t>– step -&gt; 8 words</a:t>
              </a:r>
              <a:endParaRPr lang="en-US" sz="1000" dirty="0"/>
            </a:p>
            <a:p>
              <a:r>
                <a:rPr lang="en-US" sz="1000" dirty="0" smtClean="0"/>
                <a:t>light </a:t>
              </a:r>
              <a:r>
                <a:rPr lang="en-US" sz="1000" dirty="0"/>
                <a:t>has 1 </a:t>
              </a:r>
              <a:r>
                <a:rPr lang="en-US" sz="1000" dirty="0" smtClean="0"/>
                <a:t>letter: step -&gt; 2 words</a:t>
              </a:r>
              <a:endParaRPr lang="en-US" sz="1000" dirty="0"/>
            </a:p>
            <a:p>
              <a:r>
                <a:rPr lang="en-US" sz="1000" dirty="0" smtClean="0"/>
                <a:t>moderate </a:t>
              </a:r>
              <a:r>
                <a:rPr lang="en-US" sz="1000" dirty="0"/>
                <a:t>to vigorous has 1 </a:t>
              </a:r>
              <a:r>
                <a:rPr lang="en-US" sz="1000" dirty="0" smtClean="0"/>
                <a:t>letter: step -&gt; 2words</a:t>
              </a:r>
              <a:endParaRPr lang="en-US" sz="1000" dirty="0"/>
            </a:p>
          </p:txBody>
        </p:sp>
        <p:sp>
          <p:nvSpPr>
            <p:cNvPr id="6" name="Right Brace 5"/>
            <p:cNvSpPr/>
            <p:nvPr/>
          </p:nvSpPr>
          <p:spPr>
            <a:xfrm>
              <a:off x="4332968" y="4316343"/>
              <a:ext cx="45719" cy="6096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48200" y="4498032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44 words</a:t>
              </a:r>
              <a:endParaRPr lang="en-US" sz="1000" dirty="0"/>
            </a:p>
          </p:txBody>
        </p:sp>
      </p:grpSp>
      <p:pic>
        <p:nvPicPr>
          <p:cNvPr id="2050" name="Picture 2" descr="C:\Users\310153563\Documents\GitHub\COPDBodyMedia_sleeping4\COPDBodyMedia_sleeping_code\Pictures\Presentation\sax_conver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6043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733800" y="2697331"/>
            <a:ext cx="1202184" cy="4031874"/>
            <a:chOff x="3733800" y="2697331"/>
            <a:chExt cx="1202184" cy="4031874"/>
          </a:xfrm>
        </p:grpSpPr>
        <p:sp>
          <p:nvSpPr>
            <p:cNvPr id="9" name="Rectangle 8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00600" y="2696658"/>
            <a:ext cx="1202184" cy="1077219"/>
            <a:chOff x="6646416" y="2696658"/>
            <a:chExt cx="1202184" cy="1077219"/>
          </a:xfrm>
        </p:grpSpPr>
        <p:sp>
          <p:nvSpPr>
            <p:cNvPr id="15" name="Rectangle 14"/>
            <p:cNvSpPr/>
            <p:nvPr/>
          </p:nvSpPr>
          <p:spPr>
            <a:xfrm>
              <a:off x="6934200" y="2696659"/>
              <a:ext cx="9144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'2_1_1_0'</a:t>
              </a:r>
            </a:p>
            <a:p>
              <a:r>
                <a:rPr lang="en-US" sz="800" dirty="0"/>
                <a:t>'2_1_2_0'</a:t>
              </a:r>
            </a:p>
            <a:p>
              <a:r>
                <a:rPr lang="en-US" sz="800" dirty="0"/>
                <a:t>'2_2_1_0'</a:t>
              </a:r>
            </a:p>
            <a:p>
              <a:r>
                <a:rPr lang="en-US" sz="800" dirty="0"/>
                <a:t>'2_2_2_0'</a:t>
              </a:r>
            </a:p>
            <a:p>
              <a:r>
                <a:rPr lang="en-US" sz="800" dirty="0"/>
                <a:t>'2_3_1_0'</a:t>
              </a:r>
            </a:p>
            <a:p>
              <a:r>
                <a:rPr lang="en-US" sz="800" dirty="0"/>
                <a:t>'2_3_2_0'</a:t>
              </a:r>
            </a:p>
            <a:p>
              <a:r>
                <a:rPr lang="en-US" sz="800" dirty="0"/>
                <a:t>'2_4_1_0'</a:t>
              </a:r>
            </a:p>
            <a:p>
              <a:r>
                <a:rPr lang="en-US" sz="800" dirty="0"/>
                <a:t>'2_4_2_0'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46416" y="2696658"/>
              <a:ext cx="4572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32016" y="2693634"/>
            <a:ext cx="1202184" cy="338555"/>
            <a:chOff x="6646416" y="2696658"/>
            <a:chExt cx="1202184" cy="338555"/>
          </a:xfrm>
        </p:grpSpPr>
        <p:sp>
          <p:nvSpPr>
            <p:cNvPr id="20" name="Rectangle 19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41</a:t>
              </a:r>
            </a:p>
            <a:p>
              <a:r>
                <a:rPr lang="en-US" sz="800" dirty="0" smtClean="0"/>
                <a:t>42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46416" y="2693634"/>
            <a:ext cx="1202184" cy="338555"/>
            <a:chOff x="6646416" y="2696658"/>
            <a:chExt cx="1202184" cy="338555"/>
          </a:xfrm>
        </p:grpSpPr>
        <p:sp>
          <p:nvSpPr>
            <p:cNvPr id="23" name="Rectangle 22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43</a:t>
              </a:r>
            </a:p>
            <a:p>
              <a:r>
                <a:rPr lang="en-US" sz="800" dirty="0" smtClean="0"/>
                <a:t>44</a:t>
              </a:r>
              <a:endParaRPr lang="en-US" sz="800" dirty="0"/>
            </a:p>
          </p:txBody>
        </p:sp>
      </p:grpSp>
      <p:pic>
        <p:nvPicPr>
          <p:cNvPr id="26" name="Picture 2_" descr="C:\Users\310153563\Documents\GitHub\COPDBodyMedia_sleeping4\COPDBodyMedia_sleeping_code\Pictures\Presentation\occurencies_words_132_VL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984" y="3773876"/>
            <a:ext cx="3741938" cy="284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7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6200" y="86069"/>
            <a:ext cx="9009885" cy="1742731"/>
            <a:chOff x="-182883" y="1524000"/>
            <a:chExt cx="10010987" cy="1936368"/>
          </a:xfrm>
        </p:grpSpPr>
        <p:pic>
          <p:nvPicPr>
            <p:cNvPr id="5" name="Picture 4" descr="C:\Users\310153563\Documents\GitHub\COPDBodyMedia_sleeping4\COPDBodyMedia_sleeping_code\Pictures\Presentation\ligh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2452" y="1524000"/>
              <a:ext cx="2560319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C:\Users\310153563\Documents\GitHub\COPDBodyMedia_sleeping4\COPDBodyMedia_sleeping_code\Pictures\Presentation\MV_word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86" y="1540128"/>
              <a:ext cx="2560318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C:\Users\310153563\Documents\GitHub\COPDBodyMedia_sleeping4\COPDBodyMedia_sleeping_code\Pictures\Presentation\sleeping_words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2883" y="1524000"/>
              <a:ext cx="2560320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/>
          <p:cNvGrpSpPr/>
          <p:nvPr/>
        </p:nvGrpSpPr>
        <p:grpSpPr>
          <a:xfrm>
            <a:off x="0" y="1981200"/>
            <a:ext cx="1202184" cy="4031874"/>
            <a:chOff x="3733800" y="2697331"/>
            <a:chExt cx="1202184" cy="4031874"/>
          </a:xfrm>
        </p:grpSpPr>
        <p:sp>
          <p:nvSpPr>
            <p:cNvPr id="16" name="Rectangle 15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66800" y="1980527"/>
            <a:ext cx="1202184" cy="1077219"/>
            <a:chOff x="6646416" y="2696658"/>
            <a:chExt cx="1202184" cy="1077219"/>
          </a:xfrm>
        </p:grpSpPr>
        <p:sp>
          <p:nvSpPr>
            <p:cNvPr id="19" name="Rectangle 18"/>
            <p:cNvSpPr/>
            <p:nvPr/>
          </p:nvSpPr>
          <p:spPr>
            <a:xfrm>
              <a:off x="6934200" y="2696659"/>
              <a:ext cx="9144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'2_1_1_0'</a:t>
              </a:r>
            </a:p>
            <a:p>
              <a:r>
                <a:rPr lang="en-US" sz="800" dirty="0"/>
                <a:t>'2_1_2_0'</a:t>
              </a:r>
            </a:p>
            <a:p>
              <a:r>
                <a:rPr lang="en-US" sz="800" dirty="0"/>
                <a:t>'2_2_1_0'</a:t>
              </a:r>
            </a:p>
            <a:p>
              <a:r>
                <a:rPr lang="en-US" sz="800" dirty="0"/>
                <a:t>'2_2_2_0'</a:t>
              </a:r>
            </a:p>
            <a:p>
              <a:r>
                <a:rPr lang="en-US" sz="800" dirty="0"/>
                <a:t>'2_3_1_0'</a:t>
              </a:r>
            </a:p>
            <a:p>
              <a:r>
                <a:rPr lang="en-US" sz="800" dirty="0"/>
                <a:t>'2_3_2_0'</a:t>
              </a:r>
            </a:p>
            <a:p>
              <a:r>
                <a:rPr lang="en-US" sz="800" dirty="0"/>
                <a:t>'2_4_1_0'</a:t>
              </a:r>
            </a:p>
            <a:p>
              <a:r>
                <a:rPr lang="en-US" sz="800" dirty="0"/>
                <a:t>'2_4_2_0'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46416" y="2696658"/>
              <a:ext cx="4572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1998216" y="1977503"/>
            <a:ext cx="457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41</a:t>
            </a:r>
          </a:p>
          <a:p>
            <a:r>
              <a:rPr lang="en-US" sz="800" dirty="0" smtClean="0"/>
              <a:t>42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53887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887" y="321815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269" y="419987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5009" y="518439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_" descr="C:\Users\310153563\Documents\GitHub\COPDBodyMedia_sleeping4\COPDBodyMedia_sleeping_code\Pictures\Presentation\verylight_words_temp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224" y="86069"/>
            <a:ext cx="2345183" cy="175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" descr="C:\Users\310153563\Documents\GitHub\COPDBodyMedia_sleeping4\COPDBodyMedia_sleeping_code\Pictures\Presentation\idf_all_vl_temp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132286"/>
            <a:ext cx="6828112" cy="343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2860613" y="5345668"/>
            <a:ext cx="6283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words have a very low IDF =&gt; they are in all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number of letters of </a:t>
            </a:r>
            <a:r>
              <a:rPr lang="en-US" dirty="0" smtClean="0"/>
              <a:t>temp?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smtClean="0"/>
              <a:t>GSR </a:t>
            </a:r>
            <a:r>
              <a:rPr lang="en-US" dirty="0"/>
              <a:t>instead of </a:t>
            </a:r>
            <a:r>
              <a:rPr lang="en-US" dirty="0" smtClean="0"/>
              <a:t>temp </a:t>
            </a:r>
            <a:r>
              <a:rPr lang="en-US" dirty="0"/>
              <a:t>for VL?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37010" y="5398936"/>
            <a:ext cx="587788" cy="2608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286000" y="1977504"/>
            <a:ext cx="914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'3_1_0_0'</a:t>
            </a:r>
          </a:p>
          <a:p>
            <a:r>
              <a:rPr lang="en-US" sz="800" dirty="0"/>
              <a:t>'3_2_0_0'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48927" y="212340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200400" y="1977504"/>
            <a:ext cx="914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'4_1_0_0'</a:t>
            </a:r>
          </a:p>
          <a:p>
            <a:r>
              <a:rPr lang="en-US" sz="800" dirty="0"/>
              <a:t>'4_2_0_0'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12616" y="1977503"/>
            <a:ext cx="457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43</a:t>
            </a:r>
          </a:p>
          <a:p>
            <a:r>
              <a:rPr lang="en-US" sz="800" dirty="0" smtClean="0"/>
              <a:t>44</a:t>
            </a:r>
            <a:endParaRPr lang="en-US" sz="800" dirty="0"/>
          </a:p>
        </p:txBody>
      </p:sp>
      <p:sp>
        <p:nvSpPr>
          <p:cNvPr id="45" name="Rectangle 44"/>
          <p:cNvSpPr/>
          <p:nvPr/>
        </p:nvSpPr>
        <p:spPr>
          <a:xfrm>
            <a:off x="1129565" y="1998957"/>
            <a:ext cx="757679" cy="9905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3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routines (</a:t>
            </a:r>
            <a:r>
              <a:rPr lang="en-US" dirty="0" err="1" smtClean="0"/>
              <a:t>vl_gsr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200400" cy="1824200"/>
          </a:xfrm>
        </p:spPr>
        <p:txBody>
          <a:bodyPr>
            <a:normAutofit/>
          </a:bodyPr>
          <a:lstStyle/>
          <a:p>
            <a:r>
              <a:rPr lang="en-US" sz="1000" dirty="0"/>
              <a:t>Remove data out of range: temperature [24-40] , gsr: [-inf-8</a:t>
            </a:r>
            <a:r>
              <a:rPr lang="en-US" sz="1000" dirty="0" smtClean="0"/>
              <a:t>]</a:t>
            </a:r>
          </a:p>
          <a:p>
            <a:r>
              <a:rPr lang="en-US" sz="1000" dirty="0" smtClean="0"/>
              <a:t>Center data of a patients according to the mean across all the assessed days</a:t>
            </a:r>
          </a:p>
          <a:p>
            <a:r>
              <a:rPr lang="en-US" sz="1000" dirty="0" smtClean="0"/>
              <a:t>Smooth data to attenuate outliers (window=10mins)</a:t>
            </a:r>
          </a:p>
          <a:p>
            <a:r>
              <a:rPr lang="en-US" sz="1000" dirty="0" smtClean="0"/>
              <a:t>Perform PAA (at the moment window is set to 1 -&gt; not performed)</a:t>
            </a:r>
          </a:p>
          <a:p>
            <a:r>
              <a:rPr lang="en-US" sz="1000" dirty="0" smtClean="0"/>
              <a:t>Convert to SAX strings (Temperature – GSR)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NOT CONSIDERING DURATION AS 1 DIMENSION</a:t>
            </a:r>
          </a:p>
          <a:p>
            <a:endParaRPr lang="en-US" sz="10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4495800" y="1551057"/>
            <a:ext cx="4323167" cy="707886"/>
            <a:chOff x="990600" y="4267200"/>
            <a:chExt cx="4323167" cy="707886"/>
          </a:xfrm>
        </p:grpSpPr>
        <p:sp>
          <p:nvSpPr>
            <p:cNvPr id="4" name="Rectangle 3"/>
            <p:cNvSpPr/>
            <p:nvPr/>
          </p:nvSpPr>
          <p:spPr>
            <a:xfrm>
              <a:off x="990600" y="4267200"/>
              <a:ext cx="3657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 smtClean="0"/>
                <a:t>sleeping </a:t>
              </a:r>
              <a:r>
                <a:rPr lang="en-US" sz="1000" dirty="0"/>
                <a:t>has 3 letters: </a:t>
              </a:r>
              <a:r>
                <a:rPr lang="en-US" sz="1000" dirty="0" smtClean="0"/>
                <a:t>temperature – gsr – step -&gt; 32 words</a:t>
              </a:r>
            </a:p>
            <a:p>
              <a:r>
                <a:rPr lang="en-US" sz="1000" dirty="0" smtClean="0"/>
                <a:t>very </a:t>
              </a:r>
              <a:r>
                <a:rPr lang="en-US" sz="1000" dirty="0"/>
                <a:t>light has </a:t>
              </a:r>
              <a:r>
                <a:rPr lang="en-US" sz="1000" dirty="0" smtClean="0"/>
                <a:t>2 letters: gsr – step -&gt; 8 words</a:t>
              </a:r>
              <a:endParaRPr lang="en-US" sz="1000" dirty="0"/>
            </a:p>
            <a:p>
              <a:r>
                <a:rPr lang="en-US" sz="1000" dirty="0" smtClean="0"/>
                <a:t>light </a:t>
              </a:r>
              <a:r>
                <a:rPr lang="en-US" sz="1000" dirty="0"/>
                <a:t>has 1 </a:t>
              </a:r>
              <a:r>
                <a:rPr lang="en-US" sz="1000" dirty="0" smtClean="0"/>
                <a:t>letter: step -&gt; 2 words</a:t>
              </a:r>
              <a:endParaRPr lang="en-US" sz="1000" dirty="0"/>
            </a:p>
            <a:p>
              <a:r>
                <a:rPr lang="en-US" sz="1000" dirty="0" smtClean="0"/>
                <a:t>moderate </a:t>
              </a:r>
              <a:r>
                <a:rPr lang="en-US" sz="1000" dirty="0"/>
                <a:t>to vigorous has 1 </a:t>
              </a:r>
              <a:r>
                <a:rPr lang="en-US" sz="1000" dirty="0" smtClean="0"/>
                <a:t>letter: step -&gt; 2words</a:t>
              </a:r>
              <a:endParaRPr lang="en-US" sz="1000" dirty="0"/>
            </a:p>
          </p:txBody>
        </p:sp>
        <p:sp>
          <p:nvSpPr>
            <p:cNvPr id="6" name="Right Brace 5"/>
            <p:cNvSpPr/>
            <p:nvPr/>
          </p:nvSpPr>
          <p:spPr>
            <a:xfrm>
              <a:off x="4332968" y="4316343"/>
              <a:ext cx="45719" cy="6096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48200" y="4498032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44 words</a:t>
              </a:r>
              <a:endParaRPr lang="en-US" sz="1000" dirty="0"/>
            </a:p>
          </p:txBody>
        </p:sp>
      </p:grpSp>
      <p:pic>
        <p:nvPicPr>
          <p:cNvPr id="2050" name="Picture 2" descr="C:\Users\310153563\Documents\GitHub\COPDBodyMedia_sleeping4\COPDBodyMedia_sleeping_code\Pictures\Presentation\sax_conver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6043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733800" y="2697331"/>
            <a:ext cx="1202184" cy="4031874"/>
            <a:chOff x="3733800" y="2697331"/>
            <a:chExt cx="1202184" cy="4031874"/>
          </a:xfrm>
        </p:grpSpPr>
        <p:sp>
          <p:nvSpPr>
            <p:cNvPr id="9" name="Rectangle 8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00600" y="2696658"/>
            <a:ext cx="1202184" cy="1077219"/>
            <a:chOff x="6646416" y="2696658"/>
            <a:chExt cx="1202184" cy="1077219"/>
          </a:xfrm>
        </p:grpSpPr>
        <p:sp>
          <p:nvSpPr>
            <p:cNvPr id="15" name="Rectangle 14"/>
            <p:cNvSpPr/>
            <p:nvPr/>
          </p:nvSpPr>
          <p:spPr>
            <a:xfrm>
              <a:off x="6934200" y="2696659"/>
              <a:ext cx="9144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'2_1_1_0'</a:t>
              </a:r>
            </a:p>
            <a:p>
              <a:r>
                <a:rPr lang="en-US" sz="800" dirty="0"/>
                <a:t>'2_1_2_0'</a:t>
              </a:r>
            </a:p>
            <a:p>
              <a:r>
                <a:rPr lang="en-US" sz="800" dirty="0"/>
                <a:t>'2_2_1_0'</a:t>
              </a:r>
            </a:p>
            <a:p>
              <a:r>
                <a:rPr lang="en-US" sz="800" dirty="0"/>
                <a:t>'2_2_2_0'</a:t>
              </a:r>
            </a:p>
            <a:p>
              <a:r>
                <a:rPr lang="en-US" sz="800" dirty="0"/>
                <a:t>'2_3_1_0'</a:t>
              </a:r>
            </a:p>
            <a:p>
              <a:r>
                <a:rPr lang="en-US" sz="800" dirty="0"/>
                <a:t>'2_3_2_0'</a:t>
              </a:r>
            </a:p>
            <a:p>
              <a:r>
                <a:rPr lang="en-US" sz="800" dirty="0"/>
                <a:t>'2_4_1_0'</a:t>
              </a:r>
            </a:p>
            <a:p>
              <a:r>
                <a:rPr lang="en-US" sz="800" dirty="0"/>
                <a:t>'2_4_2_0'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46416" y="2696658"/>
              <a:ext cx="4572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32016" y="2693634"/>
            <a:ext cx="1202184" cy="338555"/>
            <a:chOff x="6646416" y="2696658"/>
            <a:chExt cx="1202184" cy="338555"/>
          </a:xfrm>
        </p:grpSpPr>
        <p:sp>
          <p:nvSpPr>
            <p:cNvPr id="20" name="Rectangle 19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41</a:t>
              </a:r>
            </a:p>
            <a:p>
              <a:r>
                <a:rPr lang="en-US" sz="800" dirty="0" smtClean="0"/>
                <a:t>42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46416" y="2693634"/>
            <a:ext cx="1202184" cy="338555"/>
            <a:chOff x="6646416" y="2696658"/>
            <a:chExt cx="1202184" cy="338555"/>
          </a:xfrm>
        </p:grpSpPr>
        <p:sp>
          <p:nvSpPr>
            <p:cNvPr id="23" name="Rectangle 22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43</a:t>
              </a:r>
            </a:p>
            <a:p>
              <a:r>
                <a:rPr lang="en-US" sz="800" dirty="0" smtClean="0"/>
                <a:t>44</a:t>
              </a:r>
              <a:endParaRPr lang="en-US" sz="800" dirty="0"/>
            </a:p>
          </p:txBody>
        </p:sp>
      </p:grpSp>
      <p:pic>
        <p:nvPicPr>
          <p:cNvPr id="2051" name="Picture 3" descr="C:\Users\310153563\Documents\GitHub\COPDBodyMedia_sleeping4\COPDBodyMedia_sleeping_code\Pictures\Presentation\occurencies_words_13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369" y="3773876"/>
            <a:ext cx="3742431" cy="280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96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6200" y="86069"/>
            <a:ext cx="9009885" cy="1742731"/>
            <a:chOff x="-182883" y="1524000"/>
            <a:chExt cx="10010987" cy="1936368"/>
          </a:xfrm>
        </p:grpSpPr>
        <p:pic>
          <p:nvPicPr>
            <p:cNvPr id="5" name="Picture 4" descr="C:\Users\310153563\Documents\GitHub\COPDBodyMedia_sleeping4\COPDBodyMedia_sleeping_code\Pictures\Presentation\ligh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2452" y="1524000"/>
              <a:ext cx="2560319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C:\Users\310153563\Documents\GitHub\COPDBodyMedia_sleeping4\COPDBodyMedia_sleeping_code\Pictures\Presentation\MV_word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86" y="1540128"/>
              <a:ext cx="2560318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C:\Users\310153563\Documents\GitHub\COPDBodyMedia_sleeping4\COPDBodyMedia_sleeping_code\Pictures\Presentation\sleeping_words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2883" y="1524000"/>
              <a:ext cx="2560320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C:\Users\310153563\Documents\GitHub\COPDBodyMedia_sleeping4\COPDBodyMedia_sleeping_code\Pictures\Presentation\verylight_words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451" y="1524000"/>
              <a:ext cx="2560320" cy="192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C:\Users\310153563\Documents\GitHub\COPDBodyMedia_sleeping4\COPDBodyMedia_sleeping_code\Pictures\Presentation\idf_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132286"/>
            <a:ext cx="6828112" cy="343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0" y="1981200"/>
            <a:ext cx="1202184" cy="4031874"/>
            <a:chOff x="3733800" y="2697331"/>
            <a:chExt cx="1202184" cy="4031874"/>
          </a:xfrm>
        </p:grpSpPr>
        <p:sp>
          <p:nvSpPr>
            <p:cNvPr id="16" name="Rectangle 15"/>
            <p:cNvSpPr/>
            <p:nvPr/>
          </p:nvSpPr>
          <p:spPr>
            <a:xfrm>
              <a:off x="4021584" y="2697332"/>
              <a:ext cx="9144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'1_1_1_1'</a:t>
              </a:r>
            </a:p>
            <a:p>
              <a:r>
                <a:rPr lang="en-US" sz="800" dirty="0"/>
                <a:t>'1_1_1_2'</a:t>
              </a:r>
            </a:p>
            <a:p>
              <a:r>
                <a:rPr lang="en-US" sz="800" dirty="0"/>
                <a:t>'1_1_2_1'</a:t>
              </a:r>
            </a:p>
            <a:p>
              <a:r>
                <a:rPr lang="en-US" sz="800" dirty="0"/>
                <a:t>'1_1_2_2'</a:t>
              </a:r>
            </a:p>
            <a:p>
              <a:r>
                <a:rPr lang="en-US" sz="800" dirty="0"/>
                <a:t>'1_1_3_1'</a:t>
              </a:r>
            </a:p>
            <a:p>
              <a:r>
                <a:rPr lang="en-US" sz="800" dirty="0"/>
                <a:t>'1_1_3_2'</a:t>
              </a:r>
            </a:p>
            <a:p>
              <a:r>
                <a:rPr lang="en-US" sz="800" dirty="0"/>
                <a:t>'1_1_4_1'</a:t>
              </a:r>
            </a:p>
            <a:p>
              <a:r>
                <a:rPr lang="en-US" sz="800" dirty="0"/>
                <a:t>'1_1_4_2'</a:t>
              </a:r>
            </a:p>
            <a:p>
              <a:r>
                <a:rPr lang="en-US" sz="800" dirty="0"/>
                <a:t>'1_2_1_1'</a:t>
              </a:r>
            </a:p>
            <a:p>
              <a:r>
                <a:rPr lang="en-US" sz="800" dirty="0"/>
                <a:t>'1_2_1_2'</a:t>
              </a:r>
            </a:p>
            <a:p>
              <a:r>
                <a:rPr lang="en-US" sz="800" dirty="0"/>
                <a:t>'1_2_2_1'</a:t>
              </a:r>
            </a:p>
            <a:p>
              <a:r>
                <a:rPr lang="en-US" sz="800" dirty="0"/>
                <a:t>'1_2_2_2'</a:t>
              </a:r>
            </a:p>
            <a:p>
              <a:r>
                <a:rPr lang="en-US" sz="800" dirty="0"/>
                <a:t>'1_2_3_1'</a:t>
              </a:r>
            </a:p>
            <a:p>
              <a:r>
                <a:rPr lang="en-US" sz="800" dirty="0"/>
                <a:t>'1_2_3_2'</a:t>
              </a:r>
            </a:p>
            <a:p>
              <a:r>
                <a:rPr lang="en-US" sz="800" dirty="0"/>
                <a:t>'1_2_4_1'</a:t>
              </a:r>
            </a:p>
            <a:p>
              <a:r>
                <a:rPr lang="en-US" sz="800" dirty="0"/>
                <a:t>'1_2_4_2'</a:t>
              </a:r>
            </a:p>
            <a:p>
              <a:r>
                <a:rPr lang="en-US" sz="800" dirty="0"/>
                <a:t>'1_3_1_1'</a:t>
              </a:r>
            </a:p>
            <a:p>
              <a:r>
                <a:rPr lang="en-US" sz="800" dirty="0"/>
                <a:t>'1_3_1_2'</a:t>
              </a:r>
            </a:p>
            <a:p>
              <a:r>
                <a:rPr lang="en-US" sz="800" dirty="0"/>
                <a:t>'1_3_2_1'</a:t>
              </a:r>
            </a:p>
            <a:p>
              <a:r>
                <a:rPr lang="en-US" sz="800" dirty="0"/>
                <a:t>'1_3_2_2'</a:t>
              </a:r>
            </a:p>
            <a:p>
              <a:r>
                <a:rPr lang="en-US" sz="800" dirty="0"/>
                <a:t>'1_3_3_1'</a:t>
              </a:r>
            </a:p>
            <a:p>
              <a:r>
                <a:rPr lang="en-US" sz="800" dirty="0"/>
                <a:t>'1_3_3_2'</a:t>
              </a:r>
            </a:p>
            <a:p>
              <a:r>
                <a:rPr lang="en-US" sz="800" dirty="0"/>
                <a:t>'1_3_4_1'</a:t>
              </a:r>
            </a:p>
            <a:p>
              <a:r>
                <a:rPr lang="en-US" sz="800" dirty="0"/>
                <a:t>'1_3_4_2'</a:t>
              </a:r>
            </a:p>
            <a:p>
              <a:r>
                <a:rPr lang="en-US" sz="800" dirty="0"/>
                <a:t>'1_4_1_1'</a:t>
              </a:r>
            </a:p>
            <a:p>
              <a:r>
                <a:rPr lang="en-US" sz="800" dirty="0"/>
                <a:t>'1_4_1_2'</a:t>
              </a:r>
            </a:p>
            <a:p>
              <a:r>
                <a:rPr lang="en-US" sz="800" dirty="0"/>
                <a:t>'1_4_2_1'</a:t>
              </a:r>
            </a:p>
            <a:p>
              <a:r>
                <a:rPr lang="en-US" sz="800" dirty="0"/>
                <a:t>'1_4_2_2'</a:t>
              </a:r>
            </a:p>
            <a:p>
              <a:r>
                <a:rPr lang="en-US" sz="800" dirty="0"/>
                <a:t>'1_4_3_1'</a:t>
              </a:r>
            </a:p>
            <a:p>
              <a:r>
                <a:rPr lang="en-US" sz="800" dirty="0"/>
                <a:t>'1_4_3_2'</a:t>
              </a:r>
            </a:p>
            <a:p>
              <a:r>
                <a:rPr lang="en-US" sz="800" dirty="0"/>
                <a:t>'1_4_4_1'</a:t>
              </a:r>
            </a:p>
            <a:p>
              <a:r>
                <a:rPr lang="en-US" sz="800" dirty="0"/>
                <a:t>'1_4_4_2'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3800" y="2697331"/>
              <a:ext cx="457200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1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9</a:t>
              </a:r>
            </a:p>
            <a:p>
              <a:r>
                <a:rPr lang="en-US" sz="800" dirty="0"/>
                <a:t>10</a:t>
              </a:r>
            </a:p>
            <a:p>
              <a:r>
                <a:rPr lang="en-US" sz="800" dirty="0"/>
                <a:t>11</a:t>
              </a:r>
            </a:p>
            <a:p>
              <a:r>
                <a:rPr lang="en-US" sz="800" dirty="0"/>
                <a:t>12</a:t>
              </a:r>
            </a:p>
            <a:p>
              <a:r>
                <a:rPr lang="en-US" sz="800" dirty="0"/>
                <a:t>13</a:t>
              </a:r>
            </a:p>
            <a:p>
              <a:r>
                <a:rPr lang="en-US" sz="800" dirty="0"/>
                <a:t>14</a:t>
              </a:r>
            </a:p>
            <a:p>
              <a:r>
                <a:rPr lang="en-US" sz="800" dirty="0"/>
                <a:t>15</a:t>
              </a:r>
            </a:p>
            <a:p>
              <a:r>
                <a:rPr lang="en-US" sz="800" dirty="0"/>
                <a:t>16</a:t>
              </a:r>
            </a:p>
            <a:p>
              <a:r>
                <a:rPr lang="en-US" sz="800" dirty="0"/>
                <a:t>17</a:t>
              </a:r>
            </a:p>
            <a:p>
              <a:r>
                <a:rPr lang="en-US" sz="800" dirty="0"/>
                <a:t>18</a:t>
              </a:r>
            </a:p>
            <a:p>
              <a:r>
                <a:rPr lang="en-US" sz="800" dirty="0"/>
                <a:t>19</a:t>
              </a:r>
            </a:p>
            <a:p>
              <a:r>
                <a:rPr lang="en-US" sz="800" dirty="0"/>
                <a:t>20</a:t>
              </a:r>
            </a:p>
            <a:p>
              <a:r>
                <a:rPr lang="en-US" sz="800" dirty="0"/>
                <a:t>21</a:t>
              </a:r>
            </a:p>
            <a:p>
              <a:r>
                <a:rPr lang="en-US" sz="800" dirty="0"/>
                <a:t>22</a:t>
              </a:r>
            </a:p>
            <a:p>
              <a:r>
                <a:rPr lang="en-US" sz="800" dirty="0"/>
                <a:t>23</a:t>
              </a:r>
            </a:p>
            <a:p>
              <a:r>
                <a:rPr lang="en-US" sz="800" dirty="0"/>
                <a:t>24</a:t>
              </a:r>
            </a:p>
            <a:p>
              <a:r>
                <a:rPr lang="en-US" sz="800" dirty="0"/>
                <a:t>25</a:t>
              </a:r>
            </a:p>
            <a:p>
              <a:r>
                <a:rPr lang="en-US" sz="800" dirty="0"/>
                <a:t>26</a:t>
              </a:r>
            </a:p>
            <a:p>
              <a:r>
                <a:rPr lang="en-US" sz="800" dirty="0"/>
                <a:t>27</a:t>
              </a:r>
            </a:p>
            <a:p>
              <a:r>
                <a:rPr lang="en-US" sz="800" dirty="0"/>
                <a:t>28</a:t>
              </a:r>
            </a:p>
            <a:p>
              <a:r>
                <a:rPr lang="en-US" sz="800" dirty="0"/>
                <a:t>29</a:t>
              </a:r>
            </a:p>
            <a:p>
              <a:r>
                <a:rPr lang="en-US" sz="800" dirty="0"/>
                <a:t>30</a:t>
              </a:r>
            </a:p>
            <a:p>
              <a:r>
                <a:rPr lang="en-US" sz="800" dirty="0"/>
                <a:t>31</a:t>
              </a:r>
            </a:p>
            <a:p>
              <a:r>
                <a:rPr lang="en-US" sz="800" dirty="0"/>
                <a:t>32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66800" y="1980527"/>
            <a:ext cx="1202184" cy="1077219"/>
            <a:chOff x="6646416" y="2696658"/>
            <a:chExt cx="1202184" cy="1077219"/>
          </a:xfrm>
        </p:grpSpPr>
        <p:sp>
          <p:nvSpPr>
            <p:cNvPr id="19" name="Rectangle 18"/>
            <p:cNvSpPr/>
            <p:nvPr/>
          </p:nvSpPr>
          <p:spPr>
            <a:xfrm>
              <a:off x="6934200" y="2696659"/>
              <a:ext cx="9144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'2_1_1_0'</a:t>
              </a:r>
            </a:p>
            <a:p>
              <a:r>
                <a:rPr lang="en-US" sz="800" dirty="0"/>
                <a:t>'2_1_2_0'</a:t>
              </a:r>
            </a:p>
            <a:p>
              <a:r>
                <a:rPr lang="en-US" sz="800" dirty="0"/>
                <a:t>'2_2_1_0'</a:t>
              </a:r>
            </a:p>
            <a:p>
              <a:r>
                <a:rPr lang="en-US" sz="800" dirty="0"/>
                <a:t>'2_2_2_0'</a:t>
              </a:r>
            </a:p>
            <a:p>
              <a:r>
                <a:rPr lang="en-US" sz="800" dirty="0"/>
                <a:t>'2_3_1_0'</a:t>
              </a:r>
            </a:p>
            <a:p>
              <a:r>
                <a:rPr lang="en-US" sz="800" dirty="0"/>
                <a:t>'2_3_2_0'</a:t>
              </a:r>
            </a:p>
            <a:p>
              <a:r>
                <a:rPr lang="en-US" sz="800" dirty="0"/>
                <a:t>'2_4_1_0'</a:t>
              </a:r>
            </a:p>
            <a:p>
              <a:r>
                <a:rPr lang="en-US" sz="800" dirty="0"/>
                <a:t>'2_4_2_0'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46416" y="2696658"/>
              <a:ext cx="4572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33</a:t>
              </a:r>
            </a:p>
            <a:p>
              <a:r>
                <a:rPr lang="en-US" sz="800" dirty="0"/>
                <a:t>34</a:t>
              </a:r>
            </a:p>
            <a:p>
              <a:r>
                <a:rPr lang="en-US" sz="800" dirty="0"/>
                <a:t>35</a:t>
              </a:r>
            </a:p>
            <a:p>
              <a:r>
                <a:rPr lang="en-US" sz="800" dirty="0"/>
                <a:t>36</a:t>
              </a:r>
            </a:p>
            <a:p>
              <a:r>
                <a:rPr lang="en-US" sz="800" dirty="0"/>
                <a:t>37</a:t>
              </a:r>
            </a:p>
            <a:p>
              <a:r>
                <a:rPr lang="en-US" sz="800" dirty="0"/>
                <a:t>38</a:t>
              </a:r>
            </a:p>
            <a:p>
              <a:r>
                <a:rPr lang="en-US" sz="800" dirty="0"/>
                <a:t>39</a:t>
              </a:r>
            </a:p>
            <a:p>
              <a:r>
                <a:rPr lang="en-US" sz="800" dirty="0" smtClean="0"/>
                <a:t>40</a:t>
              </a:r>
              <a:endParaRPr lang="en-US" sz="8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998216" y="1977503"/>
            <a:ext cx="1202184" cy="338555"/>
            <a:chOff x="6646416" y="2696658"/>
            <a:chExt cx="1202184" cy="338555"/>
          </a:xfrm>
        </p:grpSpPr>
        <p:sp>
          <p:nvSpPr>
            <p:cNvPr id="22" name="Rectangle 21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'3_1_0_0'</a:t>
              </a:r>
            </a:p>
            <a:p>
              <a:r>
                <a:rPr lang="en-US" sz="800" dirty="0"/>
                <a:t>'3_2_0_0'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41</a:t>
              </a:r>
            </a:p>
            <a:p>
              <a:r>
                <a:rPr lang="en-US" sz="800" dirty="0" smtClean="0"/>
                <a:t>42</a:t>
              </a:r>
              <a:endParaRPr lang="en-US" sz="8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912616" y="1977503"/>
            <a:ext cx="1202184" cy="338555"/>
            <a:chOff x="6646416" y="2696658"/>
            <a:chExt cx="1202184" cy="338555"/>
          </a:xfrm>
        </p:grpSpPr>
        <p:sp>
          <p:nvSpPr>
            <p:cNvPr id="25" name="Rectangle 24"/>
            <p:cNvSpPr/>
            <p:nvPr/>
          </p:nvSpPr>
          <p:spPr>
            <a:xfrm>
              <a:off x="6934200" y="2696659"/>
              <a:ext cx="9144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/>
                <a:t>'4_1_0_0'</a:t>
              </a:r>
            </a:p>
            <a:p>
              <a:r>
                <a:rPr lang="en-US" sz="800" dirty="0"/>
                <a:t>'4_2_0_0'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46416" y="2696658"/>
              <a:ext cx="4572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 smtClean="0"/>
                <a:t>43</a:t>
              </a:r>
            </a:p>
            <a:p>
              <a:r>
                <a:rPr lang="en-US" sz="800" dirty="0" smtClean="0"/>
                <a:t>44</a:t>
              </a:r>
              <a:endParaRPr lang="en-US" sz="800" dirty="0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3887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887" y="321815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269" y="419987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5009" y="5184390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27404" y="2248736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048927" y="2123408"/>
            <a:ext cx="757679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860613" y="5345668"/>
            <a:ext cx="6283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words have a very low IDF =&gt; they are in all the documents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37010" y="5398936"/>
            <a:ext cx="587788" cy="2608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0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:\Users\310153563\Documents\GitHub\COPDBodyMedia_sleeping4\COPDBodyMedia_sleeping_code\Pictures\Presentation\occurencies_words_132_vl_gs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2" y="4741834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:\Users\310153563\Documents\GitHub\COPDBodyMedia_sleeping4\COPDBodyMedia_sleeping_code\Pictures\Presentation\occurencies_words_132_VL_te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3" y="2455834"/>
            <a:ext cx="2845047" cy="213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:\Users\310153563\Documents\GitHub\COPDBodyMedia_sleeping4\COPDBodyMedia_sleeping_code\Pictures\Presentation\idf_al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683252"/>
            <a:ext cx="4480560" cy="22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C:\Users\310153563\Documents\GitHub\COPDBodyMedia_sleeping4\COPDBodyMedia_sleeping_code\Pictures\Presentation\idf_all_vl_temp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97252"/>
            <a:ext cx="4480560" cy="22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7315200" y="5378583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S       1.2048</a:t>
            </a:r>
          </a:p>
          <a:p>
            <a:r>
              <a:rPr lang="en-US" sz="1000" dirty="0" smtClean="0"/>
              <a:t>VL     0.6489</a:t>
            </a:r>
          </a:p>
          <a:p>
            <a:r>
              <a:rPr lang="en-US" sz="1000" dirty="0" smtClean="0"/>
              <a:t>L       0.4924</a:t>
            </a:r>
          </a:p>
          <a:p>
            <a:r>
              <a:rPr lang="en-US" sz="1000" dirty="0" smtClean="0"/>
              <a:t>MV  0.9962</a:t>
            </a:r>
            <a:endParaRPr lang="en-US" sz="1000" dirty="0"/>
          </a:p>
        </p:txBody>
      </p:sp>
      <p:sp>
        <p:nvSpPr>
          <p:cNvPr id="16" name="Rectangle 15"/>
          <p:cNvSpPr/>
          <p:nvPr/>
        </p:nvSpPr>
        <p:spPr>
          <a:xfrm>
            <a:off x="7315200" y="3092583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S       1.2048</a:t>
            </a:r>
          </a:p>
          <a:p>
            <a:r>
              <a:rPr lang="en-US" sz="1000" dirty="0"/>
              <a:t>VL     </a:t>
            </a:r>
            <a:r>
              <a:rPr lang="en-US" sz="1000" dirty="0" smtClean="0"/>
              <a:t>0.2117</a:t>
            </a:r>
          </a:p>
          <a:p>
            <a:r>
              <a:rPr lang="en-US" sz="1000" dirty="0" smtClean="0"/>
              <a:t>L       0.4924</a:t>
            </a:r>
          </a:p>
          <a:p>
            <a:r>
              <a:rPr lang="en-US" sz="1000" dirty="0" smtClean="0"/>
              <a:t>MV  0.9962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2283023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S=temp(4) gsr(4) step(2) - VL=</a:t>
            </a:r>
            <a:r>
              <a:rPr lang="en-US" sz="1400" dirty="0"/>
              <a:t> temp(4</a:t>
            </a:r>
            <a:r>
              <a:rPr lang="en-US" sz="1400" dirty="0" smtClean="0"/>
              <a:t>) step(2) - L= step(2) - MV= step(2)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4572000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S=temp(4) gsr(4) step(2) - VL=</a:t>
            </a:r>
            <a:r>
              <a:rPr lang="en-US" sz="1400" dirty="0"/>
              <a:t> </a:t>
            </a:r>
            <a:r>
              <a:rPr lang="en-US" sz="1400" dirty="0" smtClean="0"/>
              <a:t>gsr (4) step(2) - L= step(2) - MV= step(2)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064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310153563\Documents\GitHub\COPDBodyMedia_sleeping4\COPDBodyMedia_sleeping_code\Pictures\Presentation\patient1_sta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51808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310153563\Documents\GitHub\COPDBodyMedia_sleeping4\COPDBodyMedia_sleeping_code\Pictures\Presentation\patient7_not_sta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80" y="32551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310153563\Documents\GitHub\COPDBodyMedia_sleeping4\COPDBodyMedia_sleeping_code\Pictures\Presentation\patient7_stan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80" y="3551808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310153563\Documents\GitHub\COPDBodyMedia_sleeping4\COPDBodyMedia_sleeping_code\Pictures\Presentation\patient1_not_stan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551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" y="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1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628640" y="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7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4038600" y="1372182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….</a:t>
            </a:r>
            <a:endParaRPr lang="en-US" sz="1400" dirty="0"/>
          </a:p>
        </p:txBody>
      </p:sp>
      <p:sp>
        <p:nvSpPr>
          <p:cNvPr id="6" name="Down Arrow 5"/>
          <p:cNvSpPr/>
          <p:nvPr/>
        </p:nvSpPr>
        <p:spPr>
          <a:xfrm>
            <a:off x="1981200" y="3019591"/>
            <a:ext cx="304800" cy="53221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85800" y="3124200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Standardize ( - mean_S1_alldays / std_S1_alldays)</a:t>
            </a:r>
            <a:endParaRPr lang="en-US" sz="1000" dirty="0"/>
          </a:p>
        </p:txBody>
      </p:sp>
      <p:sp>
        <p:nvSpPr>
          <p:cNvPr id="18" name="Down Arrow 17"/>
          <p:cNvSpPr/>
          <p:nvPr/>
        </p:nvSpPr>
        <p:spPr>
          <a:xfrm>
            <a:off x="7000240" y="3118212"/>
            <a:ext cx="304800" cy="53221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628640" y="3138100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Standardize ( - </a:t>
            </a:r>
            <a:r>
              <a:rPr lang="en-US" sz="1000" dirty="0" smtClean="0"/>
              <a:t>mean_S7_alldays </a:t>
            </a:r>
            <a:r>
              <a:rPr lang="en-US" sz="1000" dirty="0"/>
              <a:t>/ std_S7_alldays)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33800" y="3048000"/>
            <a:ext cx="189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Is standardization necessary/helpful?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70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310153563\Documents\GitHub\COPDBodyMedia_sleeping4\COPDBodyMedia_sleeping_code\Pictures\Presentation\patient1_sta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51808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310153563\Documents\GitHub\COPDBodyMedia_sleeping4\COPDBodyMedia_sleeping_code\Pictures\Presentation\patient7_not_sta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80" y="32551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310153563\Documents\GitHub\COPDBodyMedia_sleeping4\COPDBodyMedia_sleeping_code\Pictures\Presentation\patient7_stan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80" y="3551808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310153563\Documents\GitHub\COPDBodyMedia_sleeping4\COPDBodyMedia_sleeping_code\Pictures\Presentation\patient1_not_stan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551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" y="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1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628640" y="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7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4038600" y="1372182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….</a:t>
            </a:r>
            <a:endParaRPr lang="en-US" sz="1400" dirty="0"/>
          </a:p>
        </p:txBody>
      </p:sp>
      <p:sp>
        <p:nvSpPr>
          <p:cNvPr id="6" name="Down Arrow 5"/>
          <p:cNvSpPr/>
          <p:nvPr/>
        </p:nvSpPr>
        <p:spPr>
          <a:xfrm>
            <a:off x="1981200" y="3019591"/>
            <a:ext cx="304800" cy="53221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85800" y="3124200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Centering ( - mean_S1_alldays)</a:t>
            </a:r>
            <a:endParaRPr lang="en-US" sz="1000" dirty="0"/>
          </a:p>
        </p:txBody>
      </p:sp>
      <p:sp>
        <p:nvSpPr>
          <p:cNvPr id="18" name="Down Arrow 17"/>
          <p:cNvSpPr/>
          <p:nvPr/>
        </p:nvSpPr>
        <p:spPr>
          <a:xfrm>
            <a:off x="7000240" y="3118212"/>
            <a:ext cx="304800" cy="53221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628640" y="3138100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Centering ( </a:t>
            </a:r>
            <a:r>
              <a:rPr lang="en-US" sz="1000" dirty="0"/>
              <a:t>- </a:t>
            </a:r>
            <a:r>
              <a:rPr lang="en-US" sz="1000" dirty="0" smtClean="0"/>
              <a:t>mean_S7_alldays)</a:t>
            </a:r>
            <a:endParaRPr lang="en-US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3733800" y="3048000"/>
            <a:ext cx="189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Is centering necessary/helpful?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1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310153563\Documents\GitHub\COPDBodyMedia_sleeping4\COPDBodyMedia_sleeping_code\Pictures\Presentation\patient1_sta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6337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310153563\Documents\GitHub\COPDBodyMedia_sleeping4\COPDBodyMedia_sleeping_code\Pictures\Presentation\patient7_sta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3600212"/>
            <a:ext cx="398272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" y="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1 standardized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3416749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Subject n </a:t>
            </a:r>
            <a:r>
              <a:rPr lang="en-US" sz="1400" dirty="0"/>
              <a:t>standardized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1242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….</a:t>
            </a:r>
            <a:endParaRPr lang="en-US" sz="1400" dirty="0"/>
          </a:p>
        </p:txBody>
      </p:sp>
      <p:grpSp>
        <p:nvGrpSpPr>
          <p:cNvPr id="7" name="Group 6"/>
          <p:cNvGrpSpPr/>
          <p:nvPr/>
        </p:nvGrpSpPr>
        <p:grpSpPr>
          <a:xfrm>
            <a:off x="4419600" y="307777"/>
            <a:ext cx="2819400" cy="6532191"/>
            <a:chOff x="228600" y="3270481"/>
            <a:chExt cx="2819400" cy="3764405"/>
          </a:xfrm>
        </p:grpSpPr>
        <p:sp>
          <p:nvSpPr>
            <p:cNvPr id="2" name="Rectangle 1"/>
            <p:cNvSpPr/>
            <p:nvPr/>
          </p:nvSpPr>
          <p:spPr>
            <a:xfrm>
              <a:off x="304800" y="3611701"/>
              <a:ext cx="1295400" cy="3423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-1.23863617021723</a:t>
              </a:r>
            </a:p>
            <a:p>
              <a:r>
                <a:rPr lang="en-US" sz="1000" dirty="0"/>
                <a:t>-1.21734742377123</a:t>
              </a:r>
            </a:p>
            <a:p>
              <a:r>
                <a:rPr lang="en-US" sz="1000" dirty="0"/>
                <a:t>-1.21734742377123</a:t>
              </a:r>
            </a:p>
            <a:p>
              <a:r>
                <a:rPr lang="en-US" sz="1000" dirty="0"/>
                <a:t>-1.19605128539942</a:t>
              </a:r>
            </a:p>
            <a:p>
              <a:r>
                <a:rPr lang="en-US" sz="1000" dirty="0"/>
                <a:t>-1.19605128539942</a:t>
              </a:r>
            </a:p>
            <a:p>
              <a:r>
                <a:rPr lang="en-US" sz="1000" dirty="0"/>
                <a:t>-1.19605128539942</a:t>
              </a:r>
            </a:p>
            <a:p>
              <a:r>
                <a:rPr lang="en-US" sz="1000" dirty="0"/>
                <a:t>-1.25991937271884</a:t>
              </a:r>
            </a:p>
            <a:p>
              <a:r>
                <a:rPr lang="en-US" sz="1000" dirty="0"/>
                <a:t>-1.32372832463151</a:t>
              </a:r>
            </a:p>
            <a:p>
              <a:r>
                <a:rPr lang="en-US" sz="1000" dirty="0"/>
                <a:t>-1.36623559422788</a:t>
              </a:r>
            </a:p>
            <a:p>
              <a:r>
                <a:rPr lang="en-US" sz="1000" dirty="0"/>
                <a:t>-1.38747998911877</a:t>
              </a:r>
            </a:p>
            <a:p>
              <a:r>
                <a:rPr lang="en-US" sz="1000" dirty="0"/>
                <a:t>-1.38747998911877</a:t>
              </a:r>
            </a:p>
            <a:p>
              <a:r>
                <a:rPr lang="en-US" sz="1000" dirty="0"/>
                <a:t>-1.36623559422788</a:t>
              </a:r>
            </a:p>
            <a:p>
              <a:r>
                <a:rPr lang="en-US" sz="1000" dirty="0"/>
                <a:t>-1.32372832463151</a:t>
              </a:r>
            </a:p>
            <a:p>
              <a:r>
                <a:rPr lang="en-US" sz="1000" dirty="0"/>
                <a:t>-1.30246544992593</a:t>
              </a:r>
            </a:p>
            <a:p>
              <a:r>
                <a:rPr lang="en-US" sz="1000" dirty="0"/>
                <a:t>-1.28119518329462</a:t>
              </a:r>
            </a:p>
            <a:p>
              <a:r>
                <a:rPr lang="en-US" sz="1000" dirty="0"/>
                <a:t>-1.23863617021723</a:t>
              </a:r>
            </a:p>
            <a:p>
              <a:r>
                <a:rPr lang="en-US" sz="1000" dirty="0"/>
                <a:t>-1.28119518329462</a:t>
              </a:r>
            </a:p>
            <a:p>
              <a:r>
                <a:rPr lang="en-US" sz="1000" dirty="0"/>
                <a:t>-1.45117436618081</a:t>
              </a:r>
            </a:p>
            <a:p>
              <a:r>
                <a:rPr lang="en-US" sz="1000" dirty="0"/>
                <a:t>-1.66307316055837</a:t>
              </a:r>
            </a:p>
            <a:p>
              <a:r>
                <a:rPr lang="en-US" sz="1000" dirty="0"/>
                <a:t>-1.62074329718234</a:t>
              </a:r>
            </a:p>
            <a:p>
              <a:r>
                <a:rPr lang="en-US" sz="1000" dirty="0"/>
                <a:t>-1.57838941004732</a:t>
              </a:r>
            </a:p>
            <a:p>
              <a:r>
                <a:rPr lang="en-US" sz="1000" dirty="0"/>
                <a:t>-1.68422885233914</a:t>
              </a:r>
            </a:p>
            <a:p>
              <a:r>
                <a:rPr lang="en-US" sz="1000" dirty="0"/>
                <a:t>-1.78991306418809</a:t>
              </a:r>
            </a:p>
            <a:p>
              <a:r>
                <a:rPr lang="en-US" sz="1000" dirty="0"/>
                <a:t>-1.76878878809222</a:t>
              </a:r>
            </a:p>
            <a:p>
              <a:r>
                <a:rPr lang="en-US" sz="1000" dirty="0"/>
                <a:t>-1.72652175608589</a:t>
              </a:r>
            </a:p>
            <a:p>
              <a:r>
                <a:rPr lang="en-US" sz="1000" dirty="0"/>
                <a:t>-1.64191192483331</a:t>
              </a:r>
            </a:p>
            <a:p>
              <a:r>
                <a:rPr lang="en-US" sz="1000" dirty="0"/>
                <a:t>-1.55720230258174</a:t>
              </a:r>
            </a:p>
            <a:p>
              <a:r>
                <a:rPr lang="en-US" sz="1000" dirty="0"/>
                <a:t>-1.45117436618081</a:t>
              </a:r>
            </a:p>
            <a:p>
              <a:r>
                <a:rPr lang="en-US" sz="1000" dirty="0"/>
                <a:t>-1.36623559422788</a:t>
              </a:r>
            </a:p>
            <a:p>
              <a:r>
                <a:rPr lang="en-US" sz="1000" dirty="0"/>
                <a:t>-1.28119518329462</a:t>
              </a:r>
            </a:p>
            <a:p>
              <a:r>
                <a:rPr lang="en-US" sz="1000" dirty="0"/>
                <a:t>-1.19605128539942</a:t>
              </a:r>
            </a:p>
            <a:p>
              <a:r>
                <a:rPr lang="en-US" sz="1000" dirty="0"/>
                <a:t>-1.11080390054226</a:t>
              </a:r>
            </a:p>
            <a:p>
              <a:r>
                <a:rPr lang="en-US" sz="1000" dirty="0"/>
                <a:t>-1.02544933276039</a:t>
              </a:r>
            </a:p>
            <a:p>
              <a:r>
                <a:rPr lang="en-US" sz="1000" dirty="0"/>
                <a:t>-0.961361335646870</a:t>
              </a:r>
            </a:p>
            <a:p>
              <a:r>
                <a:rPr lang="en-US" sz="1000" dirty="0"/>
                <a:t>-0.897217899089556</a:t>
              </a:r>
            </a:p>
            <a:p>
              <a:r>
                <a:rPr lang="en-US" sz="1000" dirty="0"/>
                <a:t>-0.833011631162536</a:t>
              </a:r>
            </a:p>
            <a:p>
              <a:r>
                <a:rPr lang="en-US" sz="1000" dirty="0"/>
                <a:t>-0.790171724902853</a:t>
              </a:r>
            </a:p>
            <a:p>
              <a:pPr algn="ctr"/>
              <a:r>
                <a:rPr lang="en-US" sz="1000" dirty="0" smtClean="0"/>
                <a:t>……..</a:t>
              </a:r>
              <a:endParaRPr lang="en-US" sz="1000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8600" y="3270481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Temperature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76400" y="3611701"/>
              <a:ext cx="1295400" cy="3423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-0.881936296374597</a:t>
              </a:r>
            </a:p>
            <a:p>
              <a:r>
                <a:rPr lang="en-US" sz="1000" dirty="0"/>
                <a:t>-0.861510598491489</a:t>
              </a:r>
            </a:p>
            <a:p>
              <a:r>
                <a:rPr lang="en-US" sz="1000" dirty="0"/>
                <a:t>-0.851297645753430</a:t>
              </a:r>
            </a:p>
            <a:p>
              <a:r>
                <a:rPr lang="en-US" sz="1000" dirty="0"/>
                <a:t>-0.810445834801209</a:t>
              </a:r>
            </a:p>
            <a:p>
              <a:r>
                <a:rPr lang="en-US" sz="1000" dirty="0"/>
                <a:t>-0.769593401070001</a:t>
              </a:r>
            </a:p>
            <a:p>
              <a:r>
                <a:rPr lang="en-US" sz="1000" dirty="0"/>
                <a:t>-0.769593401070001</a:t>
              </a:r>
            </a:p>
            <a:p>
              <a:r>
                <a:rPr lang="en-US" sz="1000" dirty="0"/>
                <a:t>-0.759380240738946</a:t>
              </a:r>
            </a:p>
            <a:p>
              <a:r>
                <a:rPr lang="en-US" sz="1000" dirty="0"/>
                <a:t>-0.749167080407892</a:t>
              </a:r>
            </a:p>
            <a:p>
              <a:r>
                <a:rPr lang="en-US" sz="1000" dirty="0"/>
                <a:t>-0.749167080407892</a:t>
              </a:r>
            </a:p>
            <a:p>
              <a:r>
                <a:rPr lang="en-US" sz="1000" dirty="0"/>
                <a:t>-0.749167080407892</a:t>
              </a:r>
            </a:p>
            <a:p>
              <a:r>
                <a:rPr lang="en-US" sz="1000" dirty="0"/>
                <a:t>-0.759380240738946</a:t>
              </a:r>
            </a:p>
            <a:p>
              <a:r>
                <a:rPr lang="en-US" sz="1000" dirty="0"/>
                <a:t>-0.749167080407892</a:t>
              </a:r>
            </a:p>
            <a:p>
              <a:r>
                <a:rPr lang="en-US" sz="1000" dirty="0"/>
                <a:t>-0.759380240738946</a:t>
              </a:r>
            </a:p>
            <a:p>
              <a:r>
                <a:rPr lang="en-US" sz="1000" dirty="0"/>
                <a:t>-0.820658787539268</a:t>
              </a:r>
            </a:p>
            <a:p>
              <a:r>
                <a:rPr lang="en-US" sz="1000" dirty="0"/>
                <a:t>-0.790019721732109</a:t>
              </a:r>
            </a:p>
            <a:p>
              <a:r>
                <a:rPr lang="en-US" sz="1000" dirty="0"/>
                <a:t>0.466418632379658</a:t>
              </a:r>
            </a:p>
            <a:p>
              <a:r>
                <a:rPr lang="en-US" sz="1000" dirty="0"/>
                <a:t>-0.340614095261985</a:t>
              </a:r>
            </a:p>
            <a:p>
              <a:r>
                <a:rPr lang="en-US" sz="1000" dirty="0"/>
                <a:t>-0.698100448380638</a:t>
              </a:r>
            </a:p>
            <a:p>
              <a:r>
                <a:rPr lang="en-US" sz="1000" dirty="0"/>
                <a:t>-0.769593401070001</a:t>
              </a:r>
            </a:p>
            <a:p>
              <a:r>
                <a:rPr lang="en-US" sz="1000" dirty="0"/>
                <a:t>-0.698100448380638</a:t>
              </a:r>
            </a:p>
            <a:p>
              <a:r>
                <a:rPr lang="en-US" sz="1000" dirty="0"/>
                <a:t>-0.790019721732109</a:t>
              </a:r>
            </a:p>
            <a:p>
              <a:r>
                <a:rPr lang="en-US" sz="1000" dirty="0"/>
                <a:t>-0.851297645753430</a:t>
              </a:r>
            </a:p>
            <a:p>
              <a:r>
                <a:rPr lang="en-US" sz="1000" dirty="0"/>
                <a:t>-0.881936296374597</a:t>
              </a:r>
            </a:p>
            <a:p>
              <a:r>
                <a:rPr lang="en-US" sz="1000" dirty="0"/>
                <a:t>-0.892149249112656</a:t>
              </a:r>
            </a:p>
            <a:p>
              <a:r>
                <a:rPr lang="en-US" sz="1000" dirty="0"/>
                <a:t>-0.902361994257719</a:t>
              </a:r>
            </a:p>
            <a:p>
              <a:r>
                <a:rPr lang="en-US" sz="1000" dirty="0"/>
                <a:t>-0.902361994257719</a:t>
              </a:r>
            </a:p>
            <a:p>
              <a:r>
                <a:rPr lang="en-US" sz="1000" dirty="0"/>
                <a:t>-0.912574739402768</a:t>
              </a:r>
            </a:p>
            <a:p>
              <a:r>
                <a:rPr lang="en-US" sz="1000" dirty="0"/>
                <a:t>-0.902361994257719</a:t>
              </a:r>
            </a:p>
            <a:p>
              <a:r>
                <a:rPr lang="en-US" sz="1000" dirty="0"/>
                <a:t>-0.902361994257719</a:t>
              </a:r>
            </a:p>
            <a:p>
              <a:r>
                <a:rPr lang="en-US" sz="1000" dirty="0"/>
                <a:t>-0.902361994257719</a:t>
              </a:r>
            </a:p>
            <a:p>
              <a:r>
                <a:rPr lang="en-US" sz="1000" dirty="0"/>
                <a:t>-0.912574739402768</a:t>
              </a:r>
            </a:p>
            <a:p>
              <a:r>
                <a:rPr lang="en-US" sz="1000" dirty="0"/>
                <a:t>-0.922787484547831</a:t>
              </a:r>
            </a:p>
            <a:p>
              <a:r>
                <a:rPr lang="en-US" sz="1000" dirty="0"/>
                <a:t>-0.922787484547831</a:t>
              </a:r>
            </a:p>
            <a:p>
              <a:r>
                <a:rPr lang="en-US" sz="1000" dirty="0"/>
                <a:t>-0.922787484547831</a:t>
              </a:r>
            </a:p>
            <a:p>
              <a:r>
                <a:rPr lang="en-US" sz="1000" dirty="0"/>
                <a:t>-0.922787484547831</a:t>
              </a:r>
            </a:p>
            <a:p>
              <a:r>
                <a:rPr lang="en-US" sz="1000" dirty="0"/>
                <a:t>-0.933000229692880</a:t>
              </a:r>
            </a:p>
            <a:p>
              <a:r>
                <a:rPr lang="en-US" sz="1000" dirty="0"/>
                <a:t>-0.943212767244934</a:t>
              </a:r>
            </a:p>
            <a:p>
              <a:pPr algn="ctr"/>
              <a:r>
                <a:rPr lang="en-US" sz="1000" dirty="0" smtClean="0"/>
                <a:t>……….</a:t>
              </a:r>
              <a:endParaRPr lang="en-US" sz="10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00200" y="3270481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GSR</a:t>
              </a:r>
              <a:endParaRPr lang="en-US" dirty="0"/>
            </a:p>
          </p:txBody>
        </p:sp>
      </p:grpSp>
      <p:sp>
        <p:nvSpPr>
          <p:cNvPr id="4" name="Right Arrow 3"/>
          <p:cNvSpPr/>
          <p:nvPr/>
        </p:nvSpPr>
        <p:spPr>
          <a:xfrm>
            <a:off x="3782060" y="3109795"/>
            <a:ext cx="685800" cy="521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0" y="321206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cdf</a:t>
            </a:r>
            <a:endParaRPr lang="en-US" dirty="0"/>
          </a:p>
        </p:txBody>
      </p:sp>
      <p:cxnSp>
        <p:nvCxnSpPr>
          <p:cNvPr id="9" name="Straight Arrow Connector 8"/>
          <p:cNvCxnSpPr>
            <a:stCxn id="17" idx="2"/>
          </p:cNvCxnSpPr>
          <p:nvPr/>
        </p:nvCxnSpPr>
        <p:spPr>
          <a:xfrm flipH="1">
            <a:off x="7239002" y="1752600"/>
            <a:ext cx="1001915" cy="1252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78917" y="1506379"/>
            <a:ext cx="152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Standardize again?</a:t>
            </a:r>
            <a:endParaRPr lang="en-US" sz="1000" dirty="0"/>
          </a:p>
        </p:txBody>
      </p:sp>
      <p:sp>
        <p:nvSpPr>
          <p:cNvPr id="25" name="Right Arrow 24"/>
          <p:cNvSpPr/>
          <p:nvPr/>
        </p:nvSpPr>
        <p:spPr>
          <a:xfrm>
            <a:off x="7397059" y="3079063"/>
            <a:ext cx="685800" cy="521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3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C:\Users\310153563\Documents\GitHub\COPDBodyMedia_sleeping4\COPDBodyMedia_sleeping_code\Pictures\Presentation\cdf_132_subjects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58" y="0"/>
            <a:ext cx="4480560" cy="33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310153563\Documents\GitHub\COPDBodyMedia_sleeping4\COPDBodyMedia_sleeping_code\Pictures\Presentation\cdf_1000_subjects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7580"/>
            <a:ext cx="4480560" cy="33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4343400" y="621268"/>
            <a:ext cx="4671132" cy="4712732"/>
            <a:chOff x="4343400" y="621268"/>
            <a:chExt cx="4671132" cy="4712732"/>
          </a:xfrm>
        </p:grpSpPr>
        <p:sp>
          <p:nvSpPr>
            <p:cNvPr id="8" name="Rectangle 7"/>
            <p:cNvSpPr/>
            <p:nvPr/>
          </p:nvSpPr>
          <p:spPr>
            <a:xfrm>
              <a:off x="4343400" y="4410670"/>
              <a:ext cx="4572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endParaRPr lang="en-US" dirty="0"/>
            </a:p>
            <a:p>
              <a:r>
                <a:rPr lang="en-US" dirty="0"/>
                <a:t>   -0.6426    0.1283    0.7378</a:t>
              </a:r>
            </a:p>
            <a:p>
              <a:r>
                <a:rPr lang="en-US" dirty="0"/>
                <a:t>   -0.7091   -0.2005    0.5936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42532" y="1524000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-0.6134    0.1627    0.7257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-</a:t>
              </a:r>
              <a:r>
                <a:rPr lang="en-US" dirty="0"/>
                <a:t>0.7305   -0.2310    0.6387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54623" y="1154668"/>
              <a:ext cx="2983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               B              C             D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57454" y="4267200"/>
              <a:ext cx="2983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               B              C             D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42532" y="621268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Breakpoints 132 subjects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42532" y="3745468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Breakpoints 1000 subjects</a:t>
              </a:r>
              <a:endParaRPr lang="en-US" dirty="0"/>
            </a:p>
          </p:txBody>
        </p:sp>
        <p:sp>
          <p:nvSpPr>
            <p:cNvPr id="19" name="Right Bracket 18"/>
            <p:cNvSpPr/>
            <p:nvPr/>
          </p:nvSpPr>
          <p:spPr>
            <a:xfrm>
              <a:off x="7109532" y="1752600"/>
              <a:ext cx="228600" cy="3200400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340963" y="2875002"/>
            <a:ext cx="1726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 smtClean="0"/>
              <a:t>Different breakpoints -&gt; adding more patients distributions change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6050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310153563\Documents\GitHub\COPDBodyMedia_sleeping4\COPDBodyMedia_sleeping_code\Pictures\Presentation\cdf_64_subjects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39"/>
            <a:ext cx="4448748" cy="333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:\Users\310153563\Documents\GitHub\COPDBodyMedia_sleeping4\COPDBodyMedia_sleeping_code\Pictures\Presentation\cdf_1000_subjects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7580"/>
            <a:ext cx="4480560" cy="33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320468" y="621268"/>
            <a:ext cx="4671132" cy="4712732"/>
            <a:chOff x="4777668" y="621268"/>
            <a:chExt cx="4671132" cy="4712732"/>
          </a:xfrm>
        </p:grpSpPr>
        <p:sp>
          <p:nvSpPr>
            <p:cNvPr id="7" name="Rectangle 6"/>
            <p:cNvSpPr/>
            <p:nvPr/>
          </p:nvSpPr>
          <p:spPr>
            <a:xfrm>
              <a:off x="4777668" y="4410670"/>
              <a:ext cx="4572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endParaRPr lang="en-US" dirty="0"/>
            </a:p>
            <a:p>
              <a:r>
                <a:rPr lang="en-US" dirty="0"/>
                <a:t>   -0.6426    0.1283    0.7378</a:t>
              </a:r>
            </a:p>
            <a:p>
              <a:r>
                <a:rPr lang="en-US" dirty="0"/>
                <a:t>   -0.7091   -0.2005    0.5936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91722" y="4267200"/>
              <a:ext cx="2983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               B              C             D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76800" y="3745468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Breakpoints 1000 subjects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88891" y="1154668"/>
              <a:ext cx="2983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               B              C             D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76800" y="621268"/>
              <a:ext cx="335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Breakpoints 64 subjects (8-8-8-8)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76800" y="1524000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-0.5973    0.1667    0.7154</a:t>
              </a:r>
            </a:p>
            <a:p>
              <a:r>
                <a:rPr lang="en-US" dirty="0"/>
                <a:t> -0.7279   -0.2229    0.6438</a:t>
              </a:r>
            </a:p>
          </p:txBody>
        </p:sp>
      </p:grpSp>
      <p:sp>
        <p:nvSpPr>
          <p:cNvPr id="14" name="Right Bracket 13"/>
          <p:cNvSpPr/>
          <p:nvPr/>
        </p:nvSpPr>
        <p:spPr>
          <a:xfrm>
            <a:off x="7109532" y="1752600"/>
            <a:ext cx="228600" cy="320040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340963" y="2875002"/>
            <a:ext cx="1726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 smtClean="0"/>
              <a:t>Different breakpoints -&gt; adding more patients distributions change, even if the first distribution is evaluated using a </a:t>
            </a:r>
            <a:r>
              <a:rPr lang="en-US" sz="1000" smtClean="0"/>
              <a:t>balanced dataset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6321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Effect of smoothing on data (moving average window = 10min -&gt; removing outliers)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0" y="11447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132 no smoothing</a:t>
            </a:r>
          </a:p>
          <a:p>
            <a:endParaRPr lang="en-US" dirty="0" smtClean="0"/>
          </a:p>
          <a:p>
            <a:r>
              <a:rPr lang="en-US" dirty="0" err="1" smtClean="0"/>
              <a:t>breakpoints_values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-1.6853   -0.2754    0.8194</a:t>
            </a:r>
          </a:p>
          <a:p>
            <a:r>
              <a:rPr lang="en-US" dirty="0"/>
              <a:t>   -0.3430    0.2213    0.9093</a:t>
            </a:r>
          </a:p>
          <a:p>
            <a:endParaRPr lang="en-US" dirty="0"/>
          </a:p>
          <a:p>
            <a:r>
              <a:rPr lang="en-US" dirty="0" err="1" smtClean="0"/>
              <a:t>breakpoints_codebook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   </a:t>
            </a:r>
            <a:r>
              <a:rPr lang="en-US" dirty="0"/>
              <a:t>-2.5354   -0.8353    0.2846    1.3541</a:t>
            </a:r>
          </a:p>
          <a:p>
            <a:r>
              <a:rPr lang="en-US" dirty="0"/>
              <a:t>   -0.6543   -0.0316    0.4742    1.3444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430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132 after smoothing</a:t>
            </a:r>
          </a:p>
          <a:p>
            <a:endParaRPr lang="en-US" dirty="0" smtClean="0"/>
          </a:p>
          <a:p>
            <a:r>
              <a:rPr lang="en-US" dirty="0" err="1" smtClean="0"/>
              <a:t>breakpoints_values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 -1.6276   -0.2610    0.8000</a:t>
            </a:r>
          </a:p>
          <a:p>
            <a:r>
              <a:rPr lang="en-US" dirty="0"/>
              <a:t> </a:t>
            </a:r>
            <a:r>
              <a:rPr lang="en-US" dirty="0" smtClean="0"/>
              <a:t>-</a:t>
            </a:r>
            <a:r>
              <a:rPr lang="en-US" dirty="0"/>
              <a:t>0.3393    0.2187    </a:t>
            </a:r>
            <a:r>
              <a:rPr lang="en-US" dirty="0" smtClean="0"/>
              <a:t>0.9005</a:t>
            </a:r>
          </a:p>
          <a:p>
            <a:endParaRPr lang="en-US" dirty="0"/>
          </a:p>
          <a:p>
            <a:r>
              <a:rPr lang="en-US" dirty="0" err="1" smtClean="0"/>
              <a:t>breakpoints_codebook</a:t>
            </a:r>
            <a:endParaRPr lang="en-US" dirty="0"/>
          </a:p>
          <a:p>
            <a:endParaRPr lang="en-US" dirty="0"/>
          </a:p>
          <a:p>
            <a:r>
              <a:rPr lang="en-US" dirty="0"/>
              <a:t> -2.4546   -0.8006    0.2786    1.3213</a:t>
            </a:r>
          </a:p>
          <a:p>
            <a:r>
              <a:rPr lang="en-US" dirty="0"/>
              <a:t> </a:t>
            </a:r>
            <a:r>
              <a:rPr lang="en-US" dirty="0" smtClean="0"/>
              <a:t>-</a:t>
            </a:r>
            <a:r>
              <a:rPr lang="en-US" dirty="0"/>
              <a:t>0.6475   -0.0312    0.4686    1.3325</a:t>
            </a:r>
          </a:p>
        </p:txBody>
      </p:sp>
    </p:spTree>
    <p:extLst>
      <p:ext uri="{BB962C8B-B14F-4D97-AF65-F5344CB8AC3E}">
        <p14:creationId xmlns:p14="http://schemas.microsoft.com/office/powerpoint/2010/main" val="337064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3613</TotalTime>
  <Words>4769</Words>
  <Application>Microsoft Office PowerPoint</Application>
  <PresentationFormat>On-screen Show (4:3)</PresentationFormat>
  <Paragraphs>1609</Paragraphs>
  <Slides>33</Slides>
  <Notes>0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Equip. region (sax approach)</vt:lpstr>
      <vt:lpstr>Initial codebooks (sax approach)</vt:lpstr>
      <vt:lpstr>Llyod’s partitions and codebooks</vt:lpstr>
      <vt:lpstr>Mean partitions and codebooks</vt:lpstr>
      <vt:lpstr>SAX 1000 subjects</vt:lpstr>
      <vt:lpstr>Llyod’s partitions and codebooks</vt:lpstr>
      <vt:lpstr>Mean partitions and codebooks</vt:lpstr>
      <vt:lpstr>Linux 132 -1000 subjects</vt:lpstr>
      <vt:lpstr>PowerPoint Presentation</vt:lpstr>
      <vt:lpstr>Create all possible words</vt:lpstr>
      <vt:lpstr>Extract routines</vt:lpstr>
      <vt:lpstr>PowerPoint Presentation</vt:lpstr>
      <vt:lpstr>Extract routines</vt:lpstr>
      <vt:lpstr>PowerPoint Presentation</vt:lpstr>
      <vt:lpstr>Extract routines</vt:lpstr>
      <vt:lpstr>PowerPoint Presentation</vt:lpstr>
      <vt:lpstr>PowerPoint Presentation</vt:lpstr>
      <vt:lpstr>Extract routines (vl_temp)</vt:lpstr>
      <vt:lpstr>PowerPoint Presentation</vt:lpstr>
      <vt:lpstr>Extract routines (vl_gsr)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Effect of smoothing on data (moving average window = 10min -&gt; removing outliers)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Spina, Gabriele</dc:creator>
  <cp:lastModifiedBy>Philips</cp:lastModifiedBy>
  <cp:revision>272</cp:revision>
  <dcterms:created xsi:type="dcterms:W3CDTF">2006-08-16T00:00:00Z</dcterms:created>
  <dcterms:modified xsi:type="dcterms:W3CDTF">2015-06-30T17:07:08Z</dcterms:modified>
</cp:coreProperties>
</file>