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77" r:id="rId3"/>
    <p:sldId id="337" r:id="rId4"/>
    <p:sldId id="338" r:id="rId5"/>
    <p:sldId id="339" r:id="rId6"/>
    <p:sldId id="340" r:id="rId7"/>
    <p:sldId id="341" r:id="rId8"/>
    <p:sldId id="342" r:id="rId9"/>
    <p:sldId id="343" r:id="rId10"/>
    <p:sldId id="303" r:id="rId11"/>
    <p:sldId id="304" r:id="rId12"/>
    <p:sldId id="295" r:id="rId13"/>
    <p:sldId id="322" r:id="rId14"/>
    <p:sldId id="323" r:id="rId15"/>
    <p:sldId id="283" r:id="rId16"/>
    <p:sldId id="334" r:id="rId17"/>
    <p:sldId id="335" r:id="rId18"/>
    <p:sldId id="330" r:id="rId19"/>
    <p:sldId id="331" r:id="rId20"/>
    <p:sldId id="332" r:id="rId21"/>
    <p:sldId id="333" r:id="rId22"/>
    <p:sldId id="329" r:id="rId23"/>
    <p:sldId id="301" r:id="rId24"/>
    <p:sldId id="324" r:id="rId25"/>
    <p:sldId id="328" r:id="rId26"/>
    <p:sldId id="325" r:id="rId27"/>
    <p:sldId id="326" r:id="rId28"/>
    <p:sldId id="327" r:id="rId29"/>
    <p:sldId id="262" r:id="rId30"/>
  </p:sldIdLst>
  <p:sldSz cx="9144000" cy="6858000" type="screen4x3"/>
  <p:notesSz cx="6858000" cy="9144000"/>
  <p:defaultTextStyle>
    <a:defPPr>
      <a:defRPr lang="de-D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79" autoAdjust="0"/>
    <p:restoredTop sz="93254" autoAdjust="0"/>
  </p:normalViewPr>
  <p:slideViewPr>
    <p:cSldViewPr>
      <p:cViewPr varScale="1">
        <p:scale>
          <a:sx n="69" d="100"/>
          <a:sy n="69" d="100"/>
        </p:scale>
        <p:origin x="-1650" y="-9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F207D806-EC0F-453C-BC29-DB4D6E191795}" type="datetimeFigureOut">
              <a:rPr lang="en-US"/>
              <a:pPr>
                <a:defRPr/>
              </a:pPr>
              <a:t>2/24/2015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637F81A1-9ED6-4669-A3D8-34DFF824124C}" type="slidenum">
              <a:rPr lang="en-US"/>
              <a:pPr>
                <a:defRPr/>
              </a:pPr>
              <a:t>‹#›</a:t>
            </a:fld>
            <a:endParaRPr lang="en-US" dirty="0"/>
          </a:p>
        </p:txBody>
      </p:sp>
    </p:spTree>
    <p:extLst>
      <p:ext uri="{BB962C8B-B14F-4D97-AF65-F5344CB8AC3E}">
        <p14:creationId xmlns:p14="http://schemas.microsoft.com/office/powerpoint/2010/main" val="16082611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it-IT" smtClean="0"/>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C382387-3E42-4AEB-8A24-6F31FDE26860}" type="slidenum">
              <a:rPr lang="en-US" altLang="it-IT" smtClean="0"/>
              <a:pPr eaLnBrk="1" hangingPunct="1">
                <a:spcBef>
                  <a:spcPct val="0"/>
                </a:spcBef>
              </a:pPr>
              <a:t>1</a:t>
            </a:fld>
            <a:endParaRPr lang="en-US" altLang="it-IT"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it-IT" smtClean="0"/>
              <a:t>Investigate the feasibility of using unobtrusive technologies (smartphones, sensor network technology) in order to provide useful and modular patient training and monitoring methodologies that allow to capture physiological information (i.e., heart activity, oxygen saturation, breathing sounds), physical activity, patient data, and environmental context.</a:t>
            </a:r>
          </a:p>
          <a:p>
            <a:endParaRPr lang="en-US" altLang="it-IT" smtClean="0"/>
          </a:p>
          <a:p>
            <a:r>
              <a:rPr lang="en-US" altLang="it-IT" smtClean="0"/>
              <a:t>Signal processing and machine learning methods will be investigated to develop reliable algorithms to derive COPD relevant indicators and trends including patient characteristics, physical state, activity and behavior patterns. The information extracted will be mapped to clinically meaningful metrics of the overall physiologic and functional status of COPD patients. The development of daily routine analysis and automatic segmentation based on physiological information will be used to obtain objective patient's behavioral assessment and new markers of patient's improvements under laboratory (pulmonary rehabilitation) and (if possible) free living conditions. The algorithms will be the basis for risk classification of patients for developing an exacerbation and continuous home coaching and training.</a:t>
            </a:r>
          </a:p>
        </p:txBody>
      </p:sp>
      <p:sp>
        <p:nvSpPr>
          <p:cNvPr id="32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0DE0E56-2AC5-4903-B3BC-D814D2533F19}" type="slidenum">
              <a:rPr lang="en-US" altLang="it-IT" smtClean="0"/>
              <a:pPr eaLnBrk="1" hangingPunct="1">
                <a:spcBef>
                  <a:spcPct val="0"/>
                </a:spcBef>
              </a:pPr>
              <a:t>2</a:t>
            </a:fld>
            <a:endParaRPr lang="en-US" altLang="it-IT"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3</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4</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5</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6</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7</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8</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sp>
        <p:nvSpPr>
          <p:cNvPr id="6" name="Rechteck 10"/>
          <p:cNvSpPr>
            <a:spLocks/>
          </p:cNvSpPr>
          <p:nvPr userDrawn="1">
            <p:custDataLst>
              <p:tags r:id="rId1"/>
            </p:custDataLst>
          </p:nvPr>
        </p:nvSpPr>
        <p:spPr bwMode="auto">
          <a:xfrm>
            <a:off x="233363" y="233363"/>
            <a:ext cx="8685212" cy="5637212"/>
          </a:xfrm>
          <a:custGeom>
            <a:avLst/>
            <a:gdLst>
              <a:gd name="T0" fmla="*/ 0 w 8684843"/>
              <a:gd name="T1" fmla="*/ 5642591 h 5636316"/>
              <a:gd name="T2" fmla="*/ 0 w 8684843"/>
              <a:gd name="T3" fmla="*/ 0 h 5636316"/>
              <a:gd name="T4" fmla="*/ 8687404 w 8684843"/>
              <a:gd name="T5" fmla="*/ 0 h 5636316"/>
              <a:gd name="T6" fmla="*/ 8687404 w 8684843"/>
              <a:gd name="T7" fmla="*/ 4417508 h 5636316"/>
              <a:gd name="T8" fmla="*/ 7088892 w 8684843"/>
              <a:gd name="T9" fmla="*/ 5642591 h 5636316"/>
              <a:gd name="T10" fmla="*/ 0 w 8684843"/>
              <a:gd name="T11" fmla="*/ 5642591 h 5636316"/>
              <a:gd name="T12" fmla="*/ 0 w 8684843"/>
              <a:gd name="T13" fmla="*/ 0 h 56363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84843" h="5636316">
                <a:moveTo>
                  <a:pt x="0" y="5636316"/>
                </a:moveTo>
                <a:lnTo>
                  <a:pt x="0" y="0"/>
                </a:lnTo>
                <a:lnTo>
                  <a:pt x="8684821" y="0"/>
                </a:lnTo>
                <a:lnTo>
                  <a:pt x="8684821" y="4412595"/>
                </a:lnTo>
                <a:cubicBezTo>
                  <a:pt x="8684821" y="4412595"/>
                  <a:pt x="8710016" y="5571530"/>
                  <a:pt x="7086785" y="5636316"/>
                </a:cubicBezTo>
                <a:lnTo>
                  <a:pt x="0" y="5636316"/>
                </a:lnTo>
                <a:lnTo>
                  <a:pt x="0" y="0"/>
                </a:lnTo>
                <a:lnTo>
                  <a:pt x="0" y="5636316"/>
                </a:lnTo>
                <a:close/>
              </a:path>
            </a:pathLst>
          </a:custGeom>
          <a:gradFill rotWithShape="1">
            <a:gsLst>
              <a:gs pos="0">
                <a:srgbClr val="0089C4"/>
              </a:gs>
              <a:gs pos="17999">
                <a:srgbClr val="0089C4"/>
              </a:gs>
              <a:gs pos="100000">
                <a:srgbClr val="629FD5"/>
              </a:gs>
            </a:gsLst>
            <a:lin ang="2100000" scaled="1"/>
          </a:gradFill>
          <a:ln>
            <a:no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a:lstStyle/>
          <a:p>
            <a:endParaRPr lang="en-US"/>
          </a:p>
        </p:txBody>
      </p:sp>
      <p:pic>
        <p:nvPicPr>
          <p:cNvPr id="7" name="Picture 6"/>
          <p:cNvPicPr>
            <a:picLocks/>
          </p:cNvPicPr>
          <p:nvPr userDrawn="1">
            <p:custDataLst>
              <p:tags r:id="rId2"/>
            </p:custDataLst>
          </p:nvPr>
        </p:nvPicPr>
        <p:blipFill>
          <a:blip r:embed="rId4"/>
          <a:stretch>
            <a:fillRect/>
          </a:stretch>
        </p:blipFill>
        <p:spPr>
          <a:xfrm>
            <a:off x="7110413" y="6329363"/>
            <a:ext cx="1601787" cy="295275"/>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Rectangle 7"/>
          <p:cNvSpPr/>
          <p:nvPr userDrawn="1"/>
        </p:nvSpPr>
        <p:spPr>
          <a:xfrm>
            <a:off x="107950" y="6237288"/>
            <a:ext cx="5759450" cy="576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DE"/>
          </a:p>
        </p:txBody>
      </p:sp>
      <p:sp>
        <p:nvSpPr>
          <p:cNvPr id="17" name="Text Placeholder 3"/>
          <p:cNvSpPr>
            <a:spLocks noGrp="1"/>
          </p:cNvSpPr>
          <p:nvPr>
            <p:ph type="body" sz="quarter" idx="10"/>
          </p:nvPr>
        </p:nvSpPr>
        <p:spPr>
          <a:xfrm>
            <a:off x="828674" y="2052000"/>
            <a:ext cx="7488000" cy="1620000"/>
          </a:xfrm>
          <a:prstGeom prst="rect">
            <a:avLst/>
          </a:prstGeom>
        </p:spPr>
        <p:txBody>
          <a:bodyPr lIns="0" tIns="0" rIns="0" bIns="0"/>
          <a:lstStyle>
            <a:lvl1pPr marL="0" indent="0" algn="l">
              <a:spcBef>
                <a:spcPts val="0"/>
              </a:spcBef>
              <a:buFontTx/>
              <a:buNone/>
              <a:defRPr sz="4800">
                <a:solidFill>
                  <a:schemeClr val="bg1"/>
                </a:solidFill>
              </a:defRPr>
            </a:lvl1pPr>
            <a:lvl2pPr>
              <a:defRPr sz="4800"/>
            </a:lvl2pPr>
            <a:lvl3pPr>
              <a:defRPr sz="4800"/>
            </a:lvl3pPr>
            <a:lvl4pPr>
              <a:defRPr sz="4800"/>
            </a:lvl4pPr>
            <a:lvl5pPr>
              <a:defRPr sz="4800"/>
            </a:lvl5pPr>
          </a:lstStyle>
          <a:p>
            <a:pPr lvl="0"/>
            <a:r>
              <a:rPr lang="en-US" smtClean="0"/>
              <a:t>Click to edit Master text styles</a:t>
            </a:r>
          </a:p>
        </p:txBody>
      </p:sp>
      <p:sp>
        <p:nvSpPr>
          <p:cNvPr id="4" name="Text Placeholder 3"/>
          <p:cNvSpPr>
            <a:spLocks noGrp="1"/>
          </p:cNvSpPr>
          <p:nvPr>
            <p:ph type="body" sz="quarter" idx="11"/>
          </p:nvPr>
        </p:nvSpPr>
        <p:spPr>
          <a:xfrm>
            <a:off x="828000" y="4608000"/>
            <a:ext cx="4320000" cy="252000"/>
          </a:xfrm>
          <a:prstGeom prst="rect">
            <a:avLst/>
          </a:prstGeom>
        </p:spPr>
        <p:txBody>
          <a:bodyPr lIns="0" tIns="0" rIns="0" bIns="0"/>
          <a:lstStyle>
            <a:lvl1pPr marL="0" indent="0">
              <a:spcBef>
                <a:spcPts val="0"/>
              </a:spcBef>
              <a:buFontTx/>
              <a:buNone/>
              <a:defRPr sz="1800" b="1">
                <a:solidFill>
                  <a:schemeClr val="bg1"/>
                </a:solidFill>
              </a:defRPr>
            </a:lvl1pPr>
          </a:lstStyle>
          <a:p>
            <a:pPr lvl="0"/>
            <a:r>
              <a:rPr lang="en-US" smtClean="0"/>
              <a:t>Click to edit Master text styles</a:t>
            </a:r>
          </a:p>
        </p:txBody>
      </p:sp>
      <p:sp>
        <p:nvSpPr>
          <p:cNvPr id="16" name="Text Placeholder 3"/>
          <p:cNvSpPr>
            <a:spLocks noGrp="1"/>
          </p:cNvSpPr>
          <p:nvPr>
            <p:ph type="body" sz="quarter" idx="12"/>
          </p:nvPr>
        </p:nvSpPr>
        <p:spPr>
          <a:xfrm>
            <a:off x="828000" y="4878000"/>
            <a:ext cx="4320000" cy="252000"/>
          </a:xfrm>
          <a:prstGeom prst="rect">
            <a:avLst/>
          </a:prstGeom>
        </p:spPr>
        <p:txBody>
          <a:bodyPr lIns="0" tIns="0" rIns="0" bIns="0"/>
          <a:lstStyle>
            <a:lvl1pPr marL="0" indent="0">
              <a:spcBef>
                <a:spcPts val="0"/>
              </a:spcBef>
              <a:buFontTx/>
              <a:buNone/>
              <a:defRPr sz="1600" b="0">
                <a:solidFill>
                  <a:schemeClr val="bg1"/>
                </a:solidFill>
              </a:defRPr>
            </a:lvl1pPr>
          </a:lstStyle>
          <a:p>
            <a:pPr lvl="0"/>
            <a:r>
              <a:rPr lang="en-US" smtClean="0"/>
              <a:t>Click to edit Master text styles</a:t>
            </a:r>
          </a:p>
        </p:txBody>
      </p:sp>
      <p:sp>
        <p:nvSpPr>
          <p:cNvPr id="18" name="Text Placeholder 3"/>
          <p:cNvSpPr>
            <a:spLocks noGrp="1"/>
          </p:cNvSpPr>
          <p:nvPr>
            <p:ph type="body" sz="quarter" idx="13"/>
          </p:nvPr>
        </p:nvSpPr>
        <p:spPr>
          <a:xfrm>
            <a:off x="828000" y="5148000"/>
            <a:ext cx="4320000" cy="252000"/>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Tx/>
              <a:buNone/>
              <a:tabLst/>
              <a:defRPr sz="1600" b="0">
                <a:solidFill>
                  <a:schemeClr val="bg1"/>
                </a:solidFill>
              </a:defRPr>
            </a:lvl1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3962417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text">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3"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4"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5" name="Textplatzhalter 4"/>
          <p:cNvSpPr>
            <a:spLocks noGrp="1"/>
          </p:cNvSpPr>
          <p:nvPr>
            <p:ph type="body" sz="quarter" idx="13"/>
          </p:nvPr>
        </p:nvSpPr>
        <p:spPr>
          <a:xfrm>
            <a:off x="828673" y="2124000"/>
            <a:ext cx="7488000" cy="3960000"/>
          </a:xfrm>
          <a:prstGeom prst="rect">
            <a:avLst/>
          </a:prstGeom>
        </p:spPr>
        <p:txBody>
          <a:bodyPr lIns="0" tIns="0" rIns="0" bIns="0" spcCol="432000"/>
          <a:lstStyle>
            <a:lvl1pPr marL="216000" indent="-216000">
              <a:spcBef>
                <a:spcPts val="0"/>
              </a:spcBef>
              <a:defRPr sz="1800"/>
            </a:lvl1pPr>
            <a:lvl2pPr marL="432000" indent="-216000">
              <a:spcBef>
                <a:spcPts val="0"/>
              </a:spcBef>
              <a:defRPr sz="1800"/>
            </a:lvl2pPr>
            <a:lvl3pPr marL="648000" indent="-216000">
              <a:spcBef>
                <a:spcPts val="0"/>
              </a:spcBef>
              <a:buFont typeface="Wingdings" panose="05000000000000000000" pitchFamily="2" charset="2"/>
              <a:buChar char="§"/>
              <a:defRPr sz="1800"/>
            </a:lvl3pPr>
            <a:lvl4pPr marL="864000" indent="-216000">
              <a:spcBef>
                <a:spcPts val="0"/>
              </a:spcBef>
              <a:buFont typeface="Arial" panose="020B0604020202020204" pitchFamily="34" charset="0"/>
              <a:buChar char="•"/>
              <a:defRPr sz="1800"/>
            </a:lvl4pPr>
            <a:lvl5pPr marL="1080000" indent="-228600">
              <a:spcBef>
                <a:spcPts val="0"/>
              </a:spcBef>
              <a:buFont typeface="Calibri" panose="020F0502020204030204" pitchFamily="34" charset="0"/>
              <a:buChar char="─"/>
              <a:defRPr sz="1800"/>
            </a:lvl5pPr>
            <a:lvl6pPr marL="1296000" indent="-228600">
              <a:spcBef>
                <a:spcPts val="0"/>
              </a:spcBef>
              <a:buFont typeface="Calibri" panose="020F0502020204030204" pitchFamily="34" charset="0"/>
              <a:buChar char="─"/>
              <a:defRPr sz="1800"/>
            </a:lvl6pPr>
            <a:lvl7pPr marL="1512000" indent="-216000">
              <a:spcBef>
                <a:spcPts val="0"/>
              </a:spcBef>
              <a:buFont typeface="Calibri" panose="020F0502020204030204" pitchFamily="34" charset="0"/>
              <a:buChar char="─"/>
              <a:defRPr sz="1800"/>
            </a:lvl7pPr>
            <a:lvl8pPr marL="1728000" indent="-216000">
              <a:spcBef>
                <a:spcPts val="0"/>
              </a:spcBef>
              <a:buFont typeface="Calibri" panose="020F0502020204030204" pitchFamily="34" charset="0"/>
              <a:buChar char="─"/>
              <a:defRPr sz="1800"/>
            </a:lvl8pPr>
            <a:lvl9pPr marL="1944000" indent="-216000">
              <a:spcBef>
                <a:spcPts val="0"/>
              </a:spcBef>
              <a:buFont typeface="Calibri" panose="020F0502020204030204" pitchFamily="34" charset="0"/>
              <a:buChar cha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0028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ertical image">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Inhaltsplatzhalter 6"/>
          <p:cNvSpPr>
            <a:spLocks noGrp="1"/>
          </p:cNvSpPr>
          <p:nvPr>
            <p:ph sz="half" idx="2"/>
          </p:nvPr>
        </p:nvSpPr>
        <p:spPr>
          <a:xfrm>
            <a:off x="1" y="-1"/>
            <a:ext cx="3487293" cy="6858000"/>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solidFill>
                  <a:schemeClr val="tx1"/>
                </a:solidFill>
              </a:defRPr>
            </a:lvl1pPr>
          </a:lstStyle>
          <a:p>
            <a:pPr lvl="0"/>
            <a:r>
              <a:rPr lang="en-US" smtClean="0"/>
              <a:t>Click to edit Master text styles</a:t>
            </a:r>
          </a:p>
        </p:txBody>
      </p:sp>
      <p:sp>
        <p:nvSpPr>
          <p:cNvPr id="13" name="Textplatzhalter 12"/>
          <p:cNvSpPr>
            <a:spLocks noGrp="1"/>
          </p:cNvSpPr>
          <p:nvPr>
            <p:ph type="body" sz="quarter" idx="11"/>
          </p:nvPr>
        </p:nvSpPr>
        <p:spPr>
          <a:xfrm>
            <a:off x="3996000" y="828000"/>
            <a:ext cx="4320000" cy="540006"/>
          </a:xfrm>
          <a:prstGeom prst="rect">
            <a:avLst/>
          </a:prstGeom>
        </p:spPr>
        <p:txBody>
          <a:bodyPr lIns="0" tIns="0" rIns="0" bIns="0"/>
          <a:lstStyle>
            <a:lvl1pPr marL="0" indent="0">
              <a:spcBef>
                <a:spcPts val="0"/>
              </a:spcBef>
              <a:buFontTx/>
              <a:buNone/>
              <a:defRPr/>
            </a:lvl1pPr>
          </a:lstStyle>
          <a:p>
            <a:pPr lvl="0"/>
            <a:r>
              <a:rPr lang="en-US" smtClean="0"/>
              <a:t>Click to edit Master text styles</a:t>
            </a:r>
          </a:p>
        </p:txBody>
      </p:sp>
      <p:sp>
        <p:nvSpPr>
          <p:cNvPr id="3" name="Textplatzhalter 2"/>
          <p:cNvSpPr>
            <a:spLocks noGrp="1"/>
          </p:cNvSpPr>
          <p:nvPr>
            <p:ph type="body" sz="quarter" idx="12"/>
          </p:nvPr>
        </p:nvSpPr>
        <p:spPr>
          <a:xfrm>
            <a:off x="3996000" y="1368000"/>
            <a:ext cx="4320000" cy="414054"/>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4" name="Textplatzhalter 3"/>
          <p:cNvSpPr>
            <a:spLocks noGrp="1"/>
          </p:cNvSpPr>
          <p:nvPr>
            <p:ph type="body" sz="quarter" idx="13"/>
          </p:nvPr>
        </p:nvSpPr>
        <p:spPr>
          <a:xfrm>
            <a:off x="3996000" y="2123999"/>
            <a:ext cx="4320000" cy="3960000"/>
          </a:xfrm>
          <a:prstGeom prst="rect">
            <a:avLst/>
          </a:prstGeom>
        </p:spPr>
        <p:txBody>
          <a:bodyPr/>
          <a:lstStyle>
            <a:lvl1pPr marL="216000" indent="-216000">
              <a:spcBef>
                <a:spcPts val="0"/>
              </a:spcBef>
              <a:defRPr sz="1800"/>
            </a:lvl1pPr>
            <a:lvl2pPr marL="432000" indent="-216000">
              <a:spcBef>
                <a:spcPts val="0"/>
              </a:spcBef>
              <a:defRPr sz="1800"/>
            </a:lvl2pPr>
            <a:lvl3pPr marL="648000" indent="-216000">
              <a:spcBef>
                <a:spcPts val="0"/>
              </a:spcBef>
              <a:buFont typeface="Wingdings" panose="05000000000000000000" pitchFamily="2" charset="2"/>
              <a:buChar char="§"/>
              <a:defRPr sz="1800"/>
            </a:lvl3pPr>
            <a:lvl4pPr marL="864000" indent="-216000">
              <a:spcBef>
                <a:spcPts val="0"/>
              </a:spcBef>
              <a:buFont typeface="Arial" panose="020B0604020202020204" pitchFamily="34" charset="0"/>
              <a:buChar char="•"/>
              <a:defRPr sz="1800"/>
            </a:lvl4pPr>
            <a:lvl5pPr marL="1080000" indent="-216000">
              <a:spcBef>
                <a:spcPts val="0"/>
              </a:spcBef>
              <a:buFont typeface="Calibri" panose="020F0502020204030204" pitchFamily="34" charset="0"/>
              <a:buChar char="─"/>
              <a:defRPr sz="1800"/>
            </a:lvl5pPr>
            <a:lvl6pPr marL="1296000" indent="-216000">
              <a:spcBef>
                <a:spcPts val="0"/>
              </a:spcBef>
              <a:buFont typeface="Calibri" panose="020F0502020204030204" pitchFamily="34" charset="0"/>
              <a:buChar char="─"/>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08873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orizontal image">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Inhaltsplatzhalter 6"/>
          <p:cNvSpPr>
            <a:spLocks noGrp="1"/>
          </p:cNvSpPr>
          <p:nvPr>
            <p:ph sz="half" idx="2"/>
          </p:nvPr>
        </p:nvSpPr>
        <p:spPr>
          <a:xfrm>
            <a:off x="0" y="2123999"/>
            <a:ext cx="5655945" cy="3960000"/>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solidFill>
                  <a:schemeClr val="tx1"/>
                </a:solidFill>
              </a:defRPr>
            </a:lvl1pPr>
          </a:lstStyle>
          <a:p>
            <a:pPr lvl="0"/>
            <a:r>
              <a:rPr lang="en-US" smtClean="0"/>
              <a:t>Click to edit Master text styles</a:t>
            </a:r>
          </a:p>
        </p:txBody>
      </p:sp>
      <p:sp>
        <p:nvSpPr>
          <p:cNvPr id="7"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12"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9" name="Textplatzhalter 2"/>
          <p:cNvSpPr>
            <a:spLocks noGrp="1"/>
          </p:cNvSpPr>
          <p:nvPr>
            <p:ph type="body" sz="quarter" idx="14"/>
          </p:nvPr>
        </p:nvSpPr>
        <p:spPr>
          <a:xfrm>
            <a:off x="5904000" y="2124000"/>
            <a:ext cx="2412000" cy="3960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Tree>
    <p:extLst>
      <p:ext uri="{BB962C8B-B14F-4D97-AF65-F5344CB8AC3E}">
        <p14:creationId xmlns:p14="http://schemas.microsoft.com/office/powerpoint/2010/main" val="3881062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column images">
    <p:spTree>
      <p:nvGrpSpPr>
        <p:cNvPr id="1" name=""/>
        <p:cNvGrpSpPr/>
        <p:nvPr/>
      </p:nvGrpSpPr>
      <p:grpSpPr>
        <a:xfrm>
          <a:off x="0" y="0"/>
          <a:ext cx="0" cy="0"/>
          <a:chOff x="0" y="0"/>
          <a:chExt cx="0" cy="0"/>
        </a:xfrm>
      </p:grpSpPr>
      <p:pic>
        <p:nvPicPr>
          <p:cNvPr id="8" name="Picture 7"/>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10" name="Inhaltsplatzhalter 13"/>
          <p:cNvSpPr>
            <a:spLocks noGrp="1"/>
          </p:cNvSpPr>
          <p:nvPr>
            <p:ph sz="quarter" idx="2"/>
          </p:nvPr>
        </p:nvSpPr>
        <p:spPr>
          <a:xfrm>
            <a:off x="4788003" y="2123999"/>
            <a:ext cx="3527997" cy="262799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lvl1pPr>
          </a:lstStyle>
          <a:p>
            <a:pPr lvl="0"/>
            <a:r>
              <a:rPr lang="en-US" smtClean="0"/>
              <a:t>Click to edit Master text styles</a:t>
            </a:r>
          </a:p>
        </p:txBody>
      </p:sp>
      <p:sp>
        <p:nvSpPr>
          <p:cNvPr id="12" name="Inhaltsplatzhalter 14"/>
          <p:cNvSpPr>
            <a:spLocks noGrp="1"/>
          </p:cNvSpPr>
          <p:nvPr>
            <p:ph sz="quarter" idx="1"/>
          </p:nvPr>
        </p:nvSpPr>
        <p:spPr>
          <a:xfrm>
            <a:off x="828003" y="2123999"/>
            <a:ext cx="3527997" cy="262799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lvl1pPr>
          </a:lstStyle>
          <a:p>
            <a:pPr lvl="0"/>
            <a:r>
              <a:rPr lang="en-US" smtClean="0"/>
              <a:t>Click to edit Master text styles</a:t>
            </a:r>
          </a:p>
        </p:txBody>
      </p:sp>
      <p:sp>
        <p:nvSpPr>
          <p:cNvPr id="14"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15"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3" name="Textplatzhalter 2"/>
          <p:cNvSpPr>
            <a:spLocks noGrp="1"/>
          </p:cNvSpPr>
          <p:nvPr>
            <p:ph type="body" sz="quarter" idx="13"/>
          </p:nvPr>
        </p:nvSpPr>
        <p:spPr>
          <a:xfrm>
            <a:off x="828674" y="5004000"/>
            <a:ext cx="3528000" cy="1116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
        <p:nvSpPr>
          <p:cNvPr id="9" name="Textplatzhalter 2"/>
          <p:cNvSpPr>
            <a:spLocks noGrp="1"/>
          </p:cNvSpPr>
          <p:nvPr>
            <p:ph type="body" sz="quarter" idx="14"/>
          </p:nvPr>
        </p:nvSpPr>
        <p:spPr>
          <a:xfrm>
            <a:off x="4788000" y="5004000"/>
            <a:ext cx="3528000" cy="1116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Tree>
    <p:extLst>
      <p:ext uri="{BB962C8B-B14F-4D97-AF65-F5344CB8AC3E}">
        <p14:creationId xmlns:p14="http://schemas.microsoft.com/office/powerpoint/2010/main" val="2748038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white">
    <p:spTree>
      <p:nvGrpSpPr>
        <p:cNvPr id="1" name=""/>
        <p:cNvGrpSpPr/>
        <p:nvPr/>
      </p:nvGrpSpPr>
      <p:grpSpPr>
        <a:xfrm>
          <a:off x="0" y="0"/>
          <a:ext cx="0" cy="0"/>
          <a:chOff x="0" y="0"/>
          <a:chExt cx="0" cy="0"/>
        </a:xfrm>
      </p:grpSpPr>
      <p:pic>
        <p:nvPicPr>
          <p:cNvPr id="5" name="Picture 4"/>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4" name="Text Placeholder 3"/>
          <p:cNvSpPr>
            <a:spLocks noGrp="1"/>
          </p:cNvSpPr>
          <p:nvPr>
            <p:ph type="body" sz="quarter" idx="10"/>
          </p:nvPr>
        </p:nvSpPr>
        <p:spPr>
          <a:xfrm>
            <a:off x="828674" y="2052000"/>
            <a:ext cx="7488000" cy="1620000"/>
          </a:xfrm>
          <a:prstGeom prst="rect">
            <a:avLst/>
          </a:prstGeom>
        </p:spPr>
        <p:txBody>
          <a:bodyPr lIns="0" tIns="0" rIns="0" bIns="0"/>
          <a:lstStyle>
            <a:lvl1pPr marL="0" indent="0" algn="l">
              <a:spcBef>
                <a:spcPts val="0"/>
              </a:spcBef>
              <a:buFontTx/>
              <a:buNone/>
              <a:defRPr sz="4800">
                <a:solidFill>
                  <a:schemeClr val="tx1"/>
                </a:solidFill>
              </a:defRPr>
            </a:lvl1pPr>
            <a:lvl2pPr>
              <a:defRPr sz="4800"/>
            </a:lvl2pPr>
            <a:lvl3pPr>
              <a:defRPr sz="4800"/>
            </a:lvl3pPr>
            <a:lvl4pPr>
              <a:defRPr sz="4800"/>
            </a:lvl4pPr>
            <a:lvl5pPr>
              <a:defRPr sz="4800"/>
            </a:lvl5pPr>
          </a:lstStyle>
          <a:p>
            <a:pPr lvl="0"/>
            <a:r>
              <a:rPr lang="en-US" smtClean="0"/>
              <a:t>Click to edit Master text styles</a:t>
            </a:r>
          </a:p>
        </p:txBody>
      </p:sp>
      <p:sp>
        <p:nvSpPr>
          <p:cNvPr id="6" name="Text Placeholder 5"/>
          <p:cNvSpPr>
            <a:spLocks noGrp="1"/>
          </p:cNvSpPr>
          <p:nvPr>
            <p:ph type="body" sz="quarter" idx="11"/>
          </p:nvPr>
        </p:nvSpPr>
        <p:spPr>
          <a:xfrm>
            <a:off x="828675" y="1368000"/>
            <a:ext cx="7488238" cy="404816"/>
          </a:xfrm>
          <a:prstGeom prst="rect">
            <a:avLst/>
          </a:prstGeom>
        </p:spPr>
        <p:txBody>
          <a:bodyPr lIns="0" tIns="0" rIns="0" bIns="0"/>
          <a:lstStyle>
            <a:lvl1pPr marL="0" indent="0">
              <a:spcBef>
                <a:spcPts val="0"/>
              </a:spcBef>
              <a:buFontTx/>
              <a:buNone/>
              <a:defRPr sz="2000">
                <a:solidFill>
                  <a:schemeClr val="tx1"/>
                </a:solidFill>
              </a:defRPr>
            </a:lvl1pPr>
          </a:lstStyle>
          <a:p>
            <a:pPr lvl="0"/>
            <a:r>
              <a:rPr lang="en-US" smtClean="0"/>
              <a:t>Click to edit Master text styles</a:t>
            </a:r>
          </a:p>
        </p:txBody>
      </p:sp>
    </p:spTree>
    <p:extLst>
      <p:ext uri="{BB962C8B-B14F-4D97-AF65-F5344CB8AC3E}">
        <p14:creationId xmlns:p14="http://schemas.microsoft.com/office/powerpoint/2010/main" val="1523504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2" name="Freeform 3"/>
          <p:cNvSpPr>
            <a:spLocks/>
          </p:cNvSpPr>
          <p:nvPr userDrawn="1">
            <p:custDataLst>
              <p:tags r:id="rId1"/>
            </p:custDataLst>
          </p:nvPr>
        </p:nvSpPr>
        <p:spPr bwMode="auto">
          <a:xfrm>
            <a:off x="0" y="0"/>
            <a:ext cx="9144000" cy="6858000"/>
          </a:xfrm>
          <a:custGeom>
            <a:avLst/>
            <a:gdLst>
              <a:gd name="T0" fmla="*/ 0 w 9144001"/>
              <a:gd name="T1" fmla="*/ 0 h 6858001"/>
              <a:gd name="T2" fmla="*/ 9143993 w 9144001"/>
              <a:gd name="T3" fmla="*/ 0 h 6858001"/>
              <a:gd name="T4" fmla="*/ 9143993 w 9144001"/>
              <a:gd name="T5" fmla="*/ 6857993 h 6858001"/>
              <a:gd name="T6" fmla="*/ 9143993 w 9144001"/>
              <a:gd name="T7" fmla="*/ 6857993 h 6858001"/>
              <a:gd name="T8" fmla="*/ 0 w 9144001"/>
              <a:gd name="T9" fmla="*/ 6857993 h 6858001"/>
              <a:gd name="T10" fmla="*/ 0 w 9144001"/>
              <a:gd name="T11" fmla="*/ 0 h 6858001"/>
              <a:gd name="T12" fmla="*/ 0 60000 65536"/>
              <a:gd name="T13" fmla="*/ 0 60000 65536"/>
              <a:gd name="T14" fmla="*/ 0 60000 65536"/>
              <a:gd name="T15" fmla="*/ 0 60000 65536"/>
              <a:gd name="T16" fmla="*/ 0 60000 65536"/>
              <a:gd name="T17" fmla="*/ 0 60000 65536"/>
              <a:gd name="T18" fmla="*/ 0 w 9144001"/>
              <a:gd name="T19" fmla="*/ 0 h 6858001"/>
              <a:gd name="T20" fmla="*/ 9144001 w 9144001"/>
              <a:gd name="T21" fmla="*/ 6858001 h 6858001"/>
            </a:gdLst>
            <a:ahLst/>
            <a:cxnLst>
              <a:cxn ang="T12">
                <a:pos x="T0" y="T1"/>
              </a:cxn>
              <a:cxn ang="T13">
                <a:pos x="T2" y="T3"/>
              </a:cxn>
              <a:cxn ang="T14">
                <a:pos x="T4" y="T5"/>
              </a:cxn>
              <a:cxn ang="T15">
                <a:pos x="T6" y="T7"/>
              </a:cxn>
              <a:cxn ang="T16">
                <a:pos x="T8" y="T9"/>
              </a:cxn>
              <a:cxn ang="T17">
                <a:pos x="T10" y="T11"/>
              </a:cxn>
            </a:cxnLst>
            <a:rect l="T18" t="T19" r="T20" b="T21"/>
            <a:pathLst>
              <a:path w="9144001" h="6858001">
                <a:moveTo>
                  <a:pt x="0" y="0"/>
                </a:moveTo>
                <a:lnTo>
                  <a:pt x="9144000" y="0"/>
                </a:lnTo>
                <a:lnTo>
                  <a:pt x="9144000" y="6858000"/>
                </a:lnTo>
                <a:lnTo>
                  <a:pt x="0" y="6858000"/>
                </a:lnTo>
                <a:lnTo>
                  <a:pt x="0" y="0"/>
                </a:lnTo>
                <a:close/>
              </a:path>
            </a:pathLst>
          </a:custGeom>
          <a:solidFill>
            <a:schemeClr val="bg1"/>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pic>
        <p:nvPicPr>
          <p:cNvPr id="3" name="Picture 6"/>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941763" y="2627313"/>
            <a:ext cx="1260475"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8877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6481" y="273629"/>
            <a:ext cx="8226720" cy="1143480"/>
          </a:xfrm>
          <a:prstGeom prst="rect">
            <a:avLst/>
          </a:prstGeom>
        </p:spPr>
        <p:txBody>
          <a:bodyPr lIns="82945" tIns="41473" rIns="82945" bIns="41473"/>
          <a:lstStyle/>
          <a:p>
            <a:r>
              <a:rPr lang="en-US" smtClean="0"/>
              <a:t>Click to edit Master title style</a:t>
            </a:r>
            <a:endParaRPr lang="it-IT"/>
          </a:p>
        </p:txBody>
      </p:sp>
      <p:sp>
        <p:nvSpPr>
          <p:cNvPr id="3" name="Content Placeholder 2"/>
          <p:cNvSpPr>
            <a:spLocks noGrp="1"/>
          </p:cNvSpPr>
          <p:nvPr>
            <p:ph idx="1"/>
          </p:nvPr>
        </p:nvSpPr>
        <p:spPr>
          <a:xfrm>
            <a:off x="456481" y="1604328"/>
            <a:ext cx="8226720" cy="3976258"/>
          </a:xfrm>
          <a:prstGeom prst="rect">
            <a:avLst/>
          </a:prstGeom>
        </p:spPr>
        <p:txBody>
          <a:bodyPr lIns="82945" tIns="41473" rIns="82945" bIns="41473"/>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t-IT"/>
          </a:p>
        </p:txBody>
      </p:sp>
      <p:sp>
        <p:nvSpPr>
          <p:cNvPr id="4" name="Date Placeholder 3"/>
          <p:cNvSpPr>
            <a:spLocks noGrp="1"/>
          </p:cNvSpPr>
          <p:nvPr>
            <p:ph type="dt" idx="10"/>
          </p:nvPr>
        </p:nvSpPr>
        <p:spPr>
          <a:xfrm>
            <a:off x="456481" y="6247376"/>
            <a:ext cx="2128320" cy="470930"/>
          </a:xfrm>
          <a:prstGeom prst="rect">
            <a:avLst/>
          </a:prstGeom>
        </p:spPr>
        <p:txBody>
          <a:bodyPr lIns="82945" tIns="41473" rIns="82945" bIns="41473"/>
          <a:lstStyle>
            <a:lvl1pPr>
              <a:defRPr/>
            </a:lvl1pPr>
          </a:lstStyle>
          <a:p>
            <a:endParaRPr lang="en-US" altLang="it-IT"/>
          </a:p>
        </p:txBody>
      </p:sp>
      <p:sp>
        <p:nvSpPr>
          <p:cNvPr id="5" name="Footer Placeholder 4"/>
          <p:cNvSpPr>
            <a:spLocks noGrp="1"/>
          </p:cNvSpPr>
          <p:nvPr>
            <p:ph type="ftr" idx="11"/>
          </p:nvPr>
        </p:nvSpPr>
        <p:spPr>
          <a:xfrm>
            <a:off x="3127680" y="6247376"/>
            <a:ext cx="2897280" cy="470930"/>
          </a:xfrm>
          <a:prstGeom prst="rect">
            <a:avLst/>
          </a:prstGeom>
        </p:spPr>
        <p:txBody>
          <a:bodyPr lIns="82945" tIns="41473" rIns="82945" bIns="41473"/>
          <a:lstStyle>
            <a:lvl1pPr>
              <a:defRPr/>
            </a:lvl1pPr>
          </a:lstStyle>
          <a:p>
            <a:endParaRPr lang="en-US" altLang="it-IT"/>
          </a:p>
        </p:txBody>
      </p:sp>
      <p:sp>
        <p:nvSpPr>
          <p:cNvPr id="6" name="Slide Number Placeholder 5"/>
          <p:cNvSpPr>
            <a:spLocks noGrp="1"/>
          </p:cNvSpPr>
          <p:nvPr>
            <p:ph type="sldNum" idx="12"/>
          </p:nvPr>
        </p:nvSpPr>
        <p:spPr>
          <a:xfrm>
            <a:off x="6556321" y="6247376"/>
            <a:ext cx="2128320" cy="470930"/>
          </a:xfrm>
          <a:prstGeom prst="rect">
            <a:avLst/>
          </a:prstGeom>
        </p:spPr>
        <p:txBody>
          <a:bodyPr lIns="82945" tIns="41473" rIns="82945" bIns="41473"/>
          <a:lstStyle>
            <a:lvl1pPr>
              <a:defRPr/>
            </a:lvl1pPr>
          </a:lstStyle>
          <a:p>
            <a:fld id="{E1844D8F-A47E-4BDD-8D90-1A4ACB5CD981}" type="slidenum">
              <a:rPr lang="en-US" altLang="it-IT"/>
              <a:pPr/>
              <a:t>‹#›</a:t>
            </a:fld>
            <a:endParaRPr lang="en-US" altLang="it-IT"/>
          </a:p>
        </p:txBody>
      </p:sp>
    </p:spTree>
    <p:extLst>
      <p:ext uri="{BB962C8B-B14F-4D97-AF65-F5344CB8AC3E}">
        <p14:creationId xmlns:p14="http://schemas.microsoft.com/office/powerpoint/2010/main" val="3084862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a:spLocks/>
          </p:cNvSpPr>
          <p:nvPr>
            <p:custDataLst>
              <p:tags r:id="rId10"/>
            </p:custDataLst>
          </p:nvPr>
        </p:nvSpPr>
        <p:spPr>
          <a:xfrm>
            <a:off x="828675" y="6502400"/>
            <a:ext cx="4535488" cy="139700"/>
          </a:xfrm>
          <a:prstGeom prst="rect">
            <a:avLst/>
          </a:prstGeom>
          <a:noFill/>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a:lstStyle/>
          <a:p>
            <a:pPr fontAlgn="auto">
              <a:spcBef>
                <a:spcPts val="0"/>
              </a:spcBef>
              <a:spcAft>
                <a:spcPts val="0"/>
              </a:spcAft>
              <a:defRPr/>
            </a:pPr>
            <a:r>
              <a:rPr lang="en-US" sz="900" dirty="0">
                <a:solidFill>
                  <a:srgbClr val="000000"/>
                </a:solidFill>
                <a:latin typeface="Calibri"/>
                <a:cs typeface="+mn-cs"/>
              </a:rPr>
              <a:t>November 01, 2013      _Sector      Confidential</a:t>
            </a:r>
          </a:p>
        </p:txBody>
      </p:sp>
      <p:sp>
        <p:nvSpPr>
          <p:cNvPr id="3" name="TextBox 6"/>
          <p:cNvSpPr txBox="1">
            <a:spLocks/>
          </p:cNvSpPr>
          <p:nvPr>
            <p:custDataLst>
              <p:tags r:id="rId11"/>
            </p:custDataLst>
          </p:nvPr>
        </p:nvSpPr>
        <p:spPr>
          <a:xfrm>
            <a:off x="234950" y="6464300"/>
            <a:ext cx="508000" cy="184150"/>
          </a:xfrm>
          <a:prstGeom prst="rect">
            <a:avLst/>
          </a:prstGeom>
          <a:noFill/>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a:lstStyle/>
          <a:p>
            <a:pPr fontAlgn="auto">
              <a:spcBef>
                <a:spcPts val="0"/>
              </a:spcBef>
              <a:spcAft>
                <a:spcPts val="0"/>
              </a:spcAft>
              <a:defRPr/>
            </a:pPr>
            <a:fld id="{E3C52461-52B5-4AD0-BB42-62A6B6890AAE}" type="slidenum">
              <a:rPr lang="de-DE" sz="1200">
                <a:latin typeface="+mn-lt"/>
                <a:cs typeface="+mn-cs"/>
              </a:rPr>
              <a:pPr fontAlgn="auto">
                <a:spcBef>
                  <a:spcPts val="0"/>
                </a:spcBef>
                <a:spcAft>
                  <a:spcPts val="0"/>
                </a:spcAft>
                <a:defRPr/>
              </a:pPr>
              <a:t>‹#›</a:t>
            </a:fld>
            <a:endParaRPr lang="en-US" sz="1200" dirty="0">
              <a:latin typeface="Calibri"/>
              <a:cs typeface="+mn-cs"/>
            </a:endParaRPr>
          </a:p>
        </p:txBody>
      </p:sp>
    </p:spTree>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6.gif"/><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10.jpe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jpe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2.png"/><Relationship Id="rId7" Type="http://schemas.openxmlformats.org/officeDocument/2006/relationships/image" Target="../media/image161.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1.png"/><Relationship Id="rId5" Type="http://schemas.openxmlformats.org/officeDocument/2006/relationships/image" Target="../media/image14.png"/><Relationship Id="rId10" Type="http://schemas.openxmlformats.org/officeDocument/2006/relationships/image" Target="../media/image180.png"/><Relationship Id="rId4" Type="http://schemas.openxmlformats.org/officeDocument/2006/relationships/image" Target="../media/image13.png"/><Relationship Id="rId9" Type="http://schemas.openxmlformats.org/officeDocument/2006/relationships/image" Target="../media/image17.png"/></Relationships>
</file>

<file path=ppt/slides/_rels/slide17.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image" Target="../media/image12.png"/><Relationship Id="rId7" Type="http://schemas.openxmlformats.org/officeDocument/2006/relationships/image" Target="../media/image190.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1.png"/><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121.png"/></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60.png"/><Relationship Id="rId7" Type="http://schemas.openxmlformats.org/officeDocument/2006/relationships/image" Target="../media/image100.png"/><Relationship Id="rId1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90.png"/><Relationship Id="rId11" Type="http://schemas.openxmlformats.org/officeDocument/2006/relationships/image" Target="../media/image140.png"/><Relationship Id="rId5" Type="http://schemas.openxmlformats.org/officeDocument/2006/relationships/image" Target="../media/image80.png"/><Relationship Id="rId10" Type="http://schemas.openxmlformats.org/officeDocument/2006/relationships/image" Target="../media/image130.png"/><Relationship Id="rId9" Type="http://schemas.openxmlformats.org/officeDocument/2006/relationships/image" Target="../media/image120.png"/><Relationship Id="rId14" Type="http://schemas.openxmlformats.org/officeDocument/2006/relationships/image" Target="../media/image29.jpeg"/></Relationships>
</file>

<file path=ppt/slides/_rels/slide25.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60.png"/><Relationship Id="rId7" Type="http://schemas.openxmlformats.org/officeDocument/2006/relationships/image" Target="../media/image100.png"/><Relationship Id="rId1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90.png"/><Relationship Id="rId11" Type="http://schemas.openxmlformats.org/officeDocument/2006/relationships/image" Target="../media/image140.png"/><Relationship Id="rId5" Type="http://schemas.openxmlformats.org/officeDocument/2006/relationships/image" Target="../media/image80.png"/><Relationship Id="rId15" Type="http://schemas.openxmlformats.org/officeDocument/2006/relationships/image" Target="../media/image29.jpeg"/><Relationship Id="rId10" Type="http://schemas.openxmlformats.org/officeDocument/2006/relationships/image" Target="../media/image130.png"/><Relationship Id="rId9" Type="http://schemas.openxmlformats.org/officeDocument/2006/relationships/image" Target="../media/image120.png"/><Relationship Id="rId1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platzhalter 1"/>
          <p:cNvSpPr>
            <a:spLocks noGrp="1"/>
          </p:cNvSpPr>
          <p:nvPr>
            <p:ph type="body" sz="quarter" idx="10"/>
          </p:nvPr>
        </p:nvSpPr>
        <p:spPr bwMode="auto">
          <a:xfrm>
            <a:off x="828675" y="1143000"/>
            <a:ext cx="7488238" cy="161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r>
              <a:rPr lang="en-US" dirty="0" smtClean="0"/>
              <a:t>Introduction to prof. </a:t>
            </a:r>
            <a:r>
              <a:rPr lang="en-US" dirty="0" err="1" smtClean="0"/>
              <a:t>Tjalkens</a:t>
            </a:r>
            <a:endParaRPr lang="en-US" sz="3200" b="1" dirty="0">
              <a:solidFill>
                <a:srgbClr val="FFFFFF"/>
              </a:solidFill>
              <a:effectLst>
                <a:outerShdw blurRad="38100" dist="38100" dir="2700000" algn="tl">
                  <a:srgbClr val="000000"/>
                </a:outerShdw>
              </a:effectLst>
            </a:endParaRPr>
          </a:p>
        </p:txBody>
      </p:sp>
      <p:sp>
        <p:nvSpPr>
          <p:cNvPr id="9219" name="Textplatzhalter 2"/>
          <p:cNvSpPr>
            <a:spLocks noGrp="1"/>
          </p:cNvSpPr>
          <p:nvPr>
            <p:ph type="body" sz="quarter" idx="11"/>
          </p:nvPr>
        </p:nvSpPr>
        <p:spPr bwMode="auto">
          <a:xfrm>
            <a:off x="828675" y="4800600"/>
            <a:ext cx="4319588" cy="25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r>
              <a:rPr lang="en-US" altLang="en-US" sz="1600" dirty="0" smtClean="0"/>
              <a:t>Gabriele Spina</a:t>
            </a:r>
            <a:r>
              <a:rPr lang="en-US" altLang="en-US" sz="1600" dirty="0"/>
              <a:t>, </a:t>
            </a:r>
            <a:r>
              <a:rPr lang="en-US" altLang="en-US" sz="1600" b="0" dirty="0"/>
              <a:t>Ph.D. student, TU/e – Philips</a:t>
            </a:r>
          </a:p>
          <a:p>
            <a:pPr eaLnBrk="1" hangingPunct="1">
              <a:spcBef>
                <a:spcPct val="0"/>
              </a:spcBef>
            </a:pPr>
            <a:endParaRPr lang="en-US" altLang="en-US" sz="1600" dirty="0" smtClean="0"/>
          </a:p>
        </p:txBody>
      </p:sp>
      <p:sp>
        <p:nvSpPr>
          <p:cNvPr id="9220" name="Textplatzhalter 3"/>
          <p:cNvSpPr>
            <a:spLocks noGrp="1"/>
          </p:cNvSpPr>
          <p:nvPr>
            <p:ph type="body" sz="quarter" idx="12"/>
          </p:nvPr>
        </p:nvSpPr>
        <p:spPr bwMode="auto">
          <a:xfrm>
            <a:off x="828675" y="5070475"/>
            <a:ext cx="4319588" cy="25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r>
              <a:rPr lang="en-US" altLang="en-US" b="1" dirty="0" smtClean="0"/>
              <a:t>Bert den Brinker</a:t>
            </a:r>
            <a:r>
              <a:rPr lang="en-US" altLang="en-US" dirty="0" smtClean="0"/>
              <a:t>, Philips</a:t>
            </a:r>
          </a:p>
        </p:txBody>
      </p:sp>
      <p:sp>
        <p:nvSpPr>
          <p:cNvPr id="9221" name="Textplatzhalter 4"/>
          <p:cNvSpPr>
            <a:spLocks noGrp="1"/>
          </p:cNvSpPr>
          <p:nvPr>
            <p:ph type="body" sz="quarter" idx="13"/>
          </p:nvPr>
        </p:nvSpPr>
        <p:spPr bwMode="auto">
          <a:xfrm>
            <a:off x="838200" y="5562600"/>
            <a:ext cx="4319588" cy="252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fontAlgn="base">
              <a:spcBef>
                <a:spcPct val="0"/>
              </a:spcBef>
              <a:spcAft>
                <a:spcPct val="0"/>
              </a:spcAft>
            </a:pPr>
            <a:r>
              <a:rPr lang="en-US" altLang="en-US" dirty="0" smtClean="0"/>
              <a:t>24 </a:t>
            </a:r>
            <a:r>
              <a:rPr lang="en-US" altLang="en-US" dirty="0" smtClean="0"/>
              <a:t>February 2015</a:t>
            </a:r>
          </a:p>
        </p:txBody>
      </p:sp>
      <p:pic>
        <p:nvPicPr>
          <p:cNvPr id="9222"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67400" y="6210300"/>
            <a:ext cx="990600" cy="4953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Textplatzhalter 3_"/>
          <p:cNvSpPr txBox="1">
            <a:spLocks/>
          </p:cNvSpPr>
          <p:nvPr/>
        </p:nvSpPr>
        <p:spPr bwMode="auto">
          <a:xfrm>
            <a:off x="5867400" y="4778375"/>
            <a:ext cx="4319588" cy="250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indent="0" algn="l" rtl="0" eaLnBrk="0" fontAlgn="base" hangingPunct="0">
              <a:spcBef>
                <a:spcPts val="0"/>
              </a:spcBef>
              <a:spcAft>
                <a:spcPct val="0"/>
              </a:spcAft>
              <a:buFontTx/>
              <a:buNone/>
              <a:defRPr sz="1600" b="0" kern="1200">
                <a:solidFill>
                  <a:schemeClr val="bg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spcBef>
                <a:spcPct val="0"/>
              </a:spcBef>
            </a:pPr>
            <a:r>
              <a:rPr lang="en-US" altLang="en-US" dirty="0" smtClean="0"/>
              <a:t>g.spina@tue.nl</a:t>
            </a:r>
          </a:p>
          <a:p>
            <a:pPr eaLnBrk="1" hangingPunct="1">
              <a:spcBef>
                <a:spcPct val="0"/>
              </a:spcBef>
            </a:pPr>
            <a:r>
              <a:rPr lang="en-US" altLang="en-US" dirty="0" smtClean="0"/>
              <a:t>gabriele.spina@philips.com</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Placeholder 1"/>
          <p:cNvSpPr>
            <a:spLocks noGrp="1"/>
          </p:cNvSpPr>
          <p:nvPr>
            <p:ph type="body" sz="quarter" idx="10"/>
          </p:nvPr>
        </p:nvSpPr>
        <p:spPr bwMode="auto">
          <a:xfrm>
            <a:off x="828675" y="828675"/>
            <a:ext cx="7486650" cy="5127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US" altLang="it-IT" dirty="0" smtClean="0"/>
              <a:t>Ph.D. overview </a:t>
            </a:r>
          </a:p>
        </p:txBody>
      </p:sp>
      <p:sp>
        <p:nvSpPr>
          <p:cNvPr id="10243" name="Text Placeholder 2"/>
          <p:cNvSpPr>
            <a:spLocks noGrp="1"/>
          </p:cNvSpPr>
          <p:nvPr>
            <p:ph type="body" sz="quarter" idx="12"/>
          </p:nvPr>
        </p:nvSpPr>
        <p:spPr bwMode="auto">
          <a:xfrm>
            <a:off x="828675" y="1368425"/>
            <a:ext cx="7486650" cy="374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US" altLang="it-IT" b="1" i="1" dirty="0" smtClean="0"/>
              <a:t>Patient monitoring strategies in Chronic Obstructive Pulmonary Disease (COPD) patients</a:t>
            </a:r>
            <a:endParaRPr lang="en-US" altLang="it-IT" dirty="0" smtClean="0"/>
          </a:p>
        </p:txBody>
      </p:sp>
      <p:sp>
        <p:nvSpPr>
          <p:cNvPr id="4" name="Text Placeholder 3"/>
          <p:cNvSpPr>
            <a:spLocks noGrp="1"/>
          </p:cNvSpPr>
          <p:nvPr>
            <p:ph type="body" sz="quarter" idx="13"/>
          </p:nvPr>
        </p:nvSpPr>
        <p:spPr>
          <a:xfrm>
            <a:off x="828675" y="2657475"/>
            <a:ext cx="7488238" cy="1076325"/>
          </a:xfrm>
        </p:spPr>
        <p:txBody>
          <a:bodyPr/>
          <a:lstStyle/>
          <a:p>
            <a:pPr marL="0" indent="0" algn="ctr">
              <a:buFont typeface="Arial" charset="0"/>
              <a:buNone/>
              <a:defRPr/>
            </a:pPr>
            <a:r>
              <a:rPr lang="en-US" dirty="0" smtClean="0"/>
              <a:t>Unobtrusive </a:t>
            </a:r>
            <a:r>
              <a:rPr lang="en-US" dirty="0" smtClean="0">
                <a:solidFill>
                  <a:schemeClr val="accent5"/>
                </a:solidFill>
              </a:rPr>
              <a:t>technologies</a:t>
            </a:r>
            <a:r>
              <a:rPr lang="en-US" dirty="0" smtClean="0"/>
              <a:t>, signal </a:t>
            </a:r>
            <a:r>
              <a:rPr lang="en-US" dirty="0"/>
              <a:t>processing and machine learning </a:t>
            </a:r>
            <a:r>
              <a:rPr lang="en-US" dirty="0" smtClean="0">
                <a:solidFill>
                  <a:schemeClr val="accent5"/>
                </a:solidFill>
              </a:rPr>
              <a:t>algorithms</a:t>
            </a:r>
            <a:r>
              <a:rPr lang="en-US" dirty="0" smtClean="0"/>
              <a:t> for modular </a:t>
            </a:r>
            <a:r>
              <a:rPr lang="en-US" dirty="0" smtClean="0">
                <a:solidFill>
                  <a:schemeClr val="accent5"/>
                </a:solidFill>
              </a:rPr>
              <a:t>patient training </a:t>
            </a:r>
            <a:r>
              <a:rPr lang="en-US" dirty="0" smtClean="0"/>
              <a:t>and </a:t>
            </a:r>
            <a:r>
              <a:rPr lang="en-US" dirty="0" smtClean="0">
                <a:solidFill>
                  <a:schemeClr val="accent5"/>
                </a:solidFill>
              </a:rPr>
              <a:t>monitoring</a:t>
            </a:r>
            <a:r>
              <a:rPr lang="en-US" dirty="0" smtClean="0"/>
              <a:t> systems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sz="4000" dirty="0" smtClean="0"/>
              <a:t>Introduction</a:t>
            </a:r>
            <a:endParaRPr lang="en-US" altLang="it-IT" sz="4000" dirty="0"/>
          </a:p>
        </p:txBody>
      </p:sp>
      <p:sp>
        <p:nvSpPr>
          <p:cNvPr id="36" name="Text Placeholder 2"/>
          <p:cNvSpPr txBox="1">
            <a:spLocks/>
          </p:cNvSpPr>
          <p:nvPr/>
        </p:nvSpPr>
        <p:spPr bwMode="auto">
          <a:xfrm>
            <a:off x="828675" y="1606550"/>
            <a:ext cx="7486650" cy="3746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2945" tIns="41473" rIns="82945" bIns="41473" numCol="1" anchor="t" anchorCtr="0" compatLnSpc="1">
            <a:prstTxWarp prst="textNoShape">
              <a:avLst/>
            </a:prstTxWarp>
          </a:bodyPr>
          <a:lstStyle>
            <a:defPPr>
              <a:defRPr lang="de-D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lgn="ctr"/>
            <a:r>
              <a:rPr lang="en-US" altLang="it-IT" smtClean="0"/>
              <a:t>Paradigm shift towards the home environment</a:t>
            </a:r>
          </a:p>
        </p:txBody>
      </p:sp>
      <p:sp>
        <p:nvSpPr>
          <p:cNvPr id="37" name="Text Placeholder 2_"/>
          <p:cNvSpPr txBox="1">
            <a:spLocks/>
          </p:cNvSpPr>
          <p:nvPr/>
        </p:nvSpPr>
        <p:spPr bwMode="auto">
          <a:xfrm>
            <a:off x="457200" y="3892550"/>
            <a:ext cx="80772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r>
              <a:rPr lang="en-US" altLang="it-IT" sz="2200" dirty="0"/>
              <a:t>Essential to develop new technologies and service concepts that permit monitoring and management of patients at home (remotely)</a:t>
            </a:r>
          </a:p>
        </p:txBody>
      </p:sp>
      <p:pic>
        <p:nvPicPr>
          <p:cNvPr id="38" name="Picture 7" descr="http://elderlawblogtn.com/wp-content/uploads/2013/08/HOSPITA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039938"/>
            <a:ext cx="1531938"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9" descr="https://www.moneysmart.gov.au/media/399935/buying-a-hom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9213" y="2039938"/>
            <a:ext cx="236220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ight Arrow 39"/>
          <p:cNvSpPr/>
          <p:nvPr/>
        </p:nvSpPr>
        <p:spPr>
          <a:xfrm>
            <a:off x="3962400" y="2154238"/>
            <a:ext cx="1074738" cy="590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41" name="Picture 11" descr="http://www.netanimations.net/old_man_walking_with__a_hc.gif"/>
          <p:cNvPicPr>
            <a:picLocks noChangeAspect="1" noChangeArrowheads="1" noCrop="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17975" y="2803525"/>
            <a:ext cx="606425"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873097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a:t>Smartphone monitoring and training approaches</a:t>
            </a:r>
            <a:endParaRPr lang="en-US" altLang="it-IT" sz="4000" dirty="0"/>
          </a:p>
        </p:txBody>
      </p:sp>
      <p:sp>
        <p:nvSpPr>
          <p:cNvPr id="13" name="Text Placeholder 2_"/>
          <p:cNvSpPr txBox="1">
            <a:spLocks/>
          </p:cNvSpPr>
          <p:nvPr/>
        </p:nvSpPr>
        <p:spPr bwMode="auto">
          <a:xfrm>
            <a:off x="304800" y="3292474"/>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200" dirty="0" smtClean="0"/>
              <a:t>- Spina et al. </a:t>
            </a:r>
            <a:r>
              <a:rPr lang="en-US" sz="1200" b="1" dirty="0"/>
              <a:t>CRNTC+: A smartphone-based sensor processing framework for prototyping personal healthcare </a:t>
            </a:r>
            <a:r>
              <a:rPr lang="en-US" sz="1200" b="1" dirty="0" smtClean="0"/>
              <a:t>applications.</a:t>
            </a:r>
            <a:r>
              <a:rPr lang="en-US" sz="1200" dirty="0" smtClean="0"/>
              <a:t> </a:t>
            </a:r>
            <a:r>
              <a:rPr lang="it-IT" sz="1200" dirty="0" smtClean="0"/>
              <a:t>Iinternational </a:t>
            </a:r>
            <a:r>
              <a:rPr lang="it-IT" sz="1200" dirty="0"/>
              <a:t>joint conference on </a:t>
            </a:r>
            <a:r>
              <a:rPr lang="en-US" sz="1200" dirty="0"/>
              <a:t>Pervasive Computing Technologies for Healthcare</a:t>
            </a:r>
            <a:r>
              <a:rPr lang="it-IT" sz="1200" dirty="0" smtClean="0"/>
              <a:t>, 2013.</a:t>
            </a:r>
            <a:endParaRPr lang="en-US" altLang="it-IT" sz="1200" dirty="0"/>
          </a:p>
        </p:txBody>
      </p:sp>
      <p:pic>
        <p:nvPicPr>
          <p:cNvPr id="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2048" y="1752600"/>
            <a:ext cx="2731552" cy="137422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74996567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a:t>Smartphone monitoring and training approaches</a:t>
            </a:r>
            <a:endParaRPr lang="en-US" altLang="it-IT" sz="4000" dirty="0"/>
          </a:p>
        </p:txBody>
      </p:sp>
      <p:sp>
        <p:nvSpPr>
          <p:cNvPr id="37" name="Text Placeholder 2_"/>
          <p:cNvSpPr txBox="1">
            <a:spLocks/>
          </p:cNvSpPr>
          <p:nvPr/>
        </p:nvSpPr>
        <p:spPr bwMode="auto">
          <a:xfrm>
            <a:off x="304800" y="5645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200" dirty="0" smtClean="0"/>
              <a:t>- Spina et al. </a:t>
            </a:r>
            <a:r>
              <a:rPr lang="en-US" sz="1200" b="1" dirty="0" err="1" smtClean="0"/>
              <a:t>COPDTrainer</a:t>
            </a:r>
            <a:r>
              <a:rPr lang="it-IT" sz="1200" b="1" dirty="0" smtClean="0"/>
              <a:t>: </a:t>
            </a:r>
            <a:r>
              <a:rPr lang="en-US" sz="1200" b="1" dirty="0" err="1"/>
              <a:t>COPDTrainer</a:t>
            </a:r>
            <a:r>
              <a:rPr lang="en-US" sz="1200" b="1" dirty="0"/>
              <a:t>: a smartphone-based </a:t>
            </a:r>
            <a:r>
              <a:rPr lang="en-US" sz="1200" b="1" dirty="0" smtClean="0"/>
              <a:t>motion rehabilitation </a:t>
            </a:r>
            <a:r>
              <a:rPr lang="en-US" sz="1200" b="1" dirty="0"/>
              <a:t>training system with real-time acoustic </a:t>
            </a:r>
            <a:r>
              <a:rPr lang="en-US" sz="1200" b="1" dirty="0" smtClean="0"/>
              <a:t>feedback.</a:t>
            </a:r>
            <a:r>
              <a:rPr lang="en-US" sz="1200" dirty="0" smtClean="0"/>
              <a:t> </a:t>
            </a:r>
            <a:r>
              <a:rPr lang="it-IT" sz="1200" dirty="0" smtClean="0"/>
              <a:t>ACM </a:t>
            </a:r>
            <a:r>
              <a:rPr lang="it-IT" sz="1200" dirty="0"/>
              <a:t>international joint conference on Pervasive and ubiquitous </a:t>
            </a:r>
            <a:r>
              <a:rPr lang="it-IT" sz="1200" dirty="0" smtClean="0"/>
              <a:t>computing, 2013</a:t>
            </a:r>
          </a:p>
          <a:p>
            <a:r>
              <a:rPr lang="en-US" sz="1200" dirty="0" smtClean="0"/>
              <a:t>- Spina </a:t>
            </a:r>
            <a:r>
              <a:rPr lang="en-US" sz="1200" dirty="0"/>
              <a:t>et al. </a:t>
            </a:r>
            <a:r>
              <a:rPr lang="en-US" sz="1200" b="1" dirty="0"/>
              <a:t>Toward smartphone assisted personal rehabilitation </a:t>
            </a:r>
            <a:r>
              <a:rPr lang="en-US" sz="1200" b="1" dirty="0" smtClean="0"/>
              <a:t>training.</a:t>
            </a:r>
            <a:r>
              <a:rPr lang="en-US" sz="1200" dirty="0" smtClean="0"/>
              <a:t> </a:t>
            </a:r>
            <a:r>
              <a:rPr lang="en-US" sz="1200" dirty="0"/>
              <a:t>XRDS: Crossroads, The ACM Magazine for Students</a:t>
            </a:r>
            <a:r>
              <a:rPr lang="it-IT" sz="1200" dirty="0" smtClean="0"/>
              <a:t>, </a:t>
            </a:r>
            <a:r>
              <a:rPr lang="it-IT" sz="1200" dirty="0"/>
              <a:t>2013</a:t>
            </a:r>
            <a:endParaRPr lang="en-US" altLang="it-IT" sz="1200" dirty="0"/>
          </a:p>
          <a:p>
            <a:pPr algn="just"/>
            <a:endParaRPr lang="en-US" altLang="it-IT" sz="1200" dirty="0"/>
          </a:p>
        </p:txBody>
      </p:sp>
      <p:grpSp>
        <p:nvGrpSpPr>
          <p:cNvPr id="2" name="Group 1"/>
          <p:cNvGrpSpPr/>
          <p:nvPr/>
        </p:nvGrpSpPr>
        <p:grpSpPr>
          <a:xfrm>
            <a:off x="2590801" y="4181476"/>
            <a:ext cx="3886199" cy="1304924"/>
            <a:chOff x="2514600" y="3505200"/>
            <a:chExt cx="4362905" cy="1457324"/>
          </a:xfrm>
        </p:grpSpPr>
        <p:pic>
          <p:nvPicPr>
            <p:cNvPr id="266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6630" y="3509967"/>
              <a:ext cx="915761" cy="14525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6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7230" y="3509967"/>
              <a:ext cx="2200275" cy="1438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14600" y="3505200"/>
              <a:ext cx="1100137" cy="143827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3" name="Text Placeholder 2__"/>
          <p:cNvSpPr txBox="1">
            <a:spLocks/>
          </p:cNvSpPr>
          <p:nvPr/>
        </p:nvSpPr>
        <p:spPr bwMode="auto">
          <a:xfrm>
            <a:off x="304800" y="3292474"/>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200" dirty="0" smtClean="0"/>
              <a:t>- Spina et al. </a:t>
            </a:r>
            <a:r>
              <a:rPr lang="en-US" sz="1200" b="1" dirty="0"/>
              <a:t>CRNTC+: A smartphone-based sensor processing framework for prototyping personal healthcare </a:t>
            </a:r>
            <a:r>
              <a:rPr lang="en-US" sz="1200" b="1" dirty="0" smtClean="0"/>
              <a:t>applications.</a:t>
            </a:r>
            <a:r>
              <a:rPr lang="en-US" sz="1200" dirty="0" smtClean="0"/>
              <a:t> </a:t>
            </a:r>
            <a:r>
              <a:rPr lang="it-IT" sz="1200" dirty="0" smtClean="0"/>
              <a:t>Iinternational </a:t>
            </a:r>
            <a:r>
              <a:rPr lang="it-IT" sz="1200" dirty="0"/>
              <a:t>joint conference on </a:t>
            </a:r>
            <a:r>
              <a:rPr lang="en-US" sz="1200" dirty="0"/>
              <a:t>Pervasive Computing Technologies for Healthcare</a:t>
            </a:r>
            <a:r>
              <a:rPr lang="it-IT" sz="1200" dirty="0" smtClean="0"/>
              <a:t>, 2013.</a:t>
            </a:r>
            <a:endParaRPr lang="en-US" altLang="it-IT" sz="1200" dirty="0"/>
          </a:p>
        </p:txBody>
      </p:sp>
      <p:pic>
        <p:nvPicPr>
          <p:cNvPr id="18"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12048" y="1752600"/>
            <a:ext cx="2731552" cy="137422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27007490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New insights in COPD</a:t>
            </a:r>
            <a:endParaRPr lang="en-US" altLang="it-IT" sz="4000" dirty="0"/>
          </a:p>
        </p:txBody>
      </p:sp>
      <p:sp>
        <p:nvSpPr>
          <p:cNvPr id="13" name="Text Placeholder 2_"/>
          <p:cNvSpPr txBox="1">
            <a:spLocks/>
          </p:cNvSpPr>
          <p:nvPr/>
        </p:nvSpPr>
        <p:spPr bwMode="auto">
          <a:xfrm>
            <a:off x="304800" y="3359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200" dirty="0" smtClean="0"/>
              <a:t>- Mesquita</a:t>
            </a:r>
            <a:r>
              <a:rPr lang="en-US" sz="1200" dirty="0"/>
              <a:t>, Spina et al. </a:t>
            </a:r>
            <a:r>
              <a:rPr lang="en-US" sz="1200" b="1" dirty="0"/>
              <a:t>Cluster analysis of objectively measured physical activity in 1001 COPD patients.</a:t>
            </a:r>
            <a:r>
              <a:rPr lang="en-US" sz="1200" dirty="0"/>
              <a:t> Late-breaking abstract ERS 2014</a:t>
            </a:r>
            <a:endParaRPr lang="it-IT" sz="1200" dirty="0"/>
          </a:p>
          <a:p>
            <a:pPr algn="just"/>
            <a:r>
              <a:rPr lang="en-US" sz="1200" dirty="0" smtClean="0"/>
              <a:t>- Mesquita, Spina et al. </a:t>
            </a:r>
            <a:r>
              <a:rPr lang="en-US" sz="1200" b="1" dirty="0"/>
              <a:t>Physical activity patterns and clusters in 1001 patients with chronic obstructive pulmonary disease.</a:t>
            </a:r>
            <a:r>
              <a:rPr lang="en-US" sz="1200" dirty="0" smtClean="0"/>
              <a:t> </a:t>
            </a:r>
            <a:r>
              <a:rPr lang="it-IT" sz="1200" dirty="0" smtClean="0"/>
              <a:t>Submitted to ERJ.</a:t>
            </a:r>
          </a:p>
          <a:p>
            <a:pPr algn="just"/>
            <a:endParaRPr lang="it-IT" sz="1200" dirty="0" smtClean="0"/>
          </a:p>
          <a:p>
            <a:pPr algn="just"/>
            <a:endParaRPr lang="en-US" altLang="it-IT" sz="1200" dirty="0"/>
          </a:p>
        </p:txBody>
      </p:sp>
      <p:pic>
        <p:nvPicPr>
          <p:cNvPr id="27651" name="Picture 3" descr="D:\Condiviso\TUe\COPDBodyMedia\COPDBodyMedia_paper\Draft\Thorax\Figures\Figure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4657" y="1039131"/>
            <a:ext cx="2979737" cy="2235200"/>
          </a:xfrm>
          <a:prstGeom prst="rect">
            <a:avLst/>
          </a:prstGeom>
          <a:noFill/>
          <a:extLst>
            <a:ext uri="{909E8E84-426E-40DD-AFC4-6F175D3DCCD1}">
              <a14:hiddenFill xmlns:a14="http://schemas.microsoft.com/office/drawing/2010/main">
                <a:solidFill>
                  <a:srgbClr val="FFFFFF"/>
                </a:solidFill>
              </a14:hiddenFill>
            </a:ext>
          </a:extLst>
        </p:spPr>
      </p:pic>
      <p:pic>
        <p:nvPicPr>
          <p:cNvPr id="27653" name="Picture 5" descr="D:\Condiviso\TUe\COPDBodyMedia\COPDBodyMedia_paper\Draft\Thorax\Figures\Figure6_resized.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96951" y="1085951"/>
            <a:ext cx="2953522" cy="2215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60486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New insights in COPD</a:t>
            </a:r>
            <a:endParaRPr lang="en-US" altLang="it-IT" sz="4000" dirty="0"/>
          </a:p>
        </p:txBody>
      </p:sp>
      <p:sp>
        <p:nvSpPr>
          <p:cNvPr id="37" name="Text Placeholder 2_"/>
          <p:cNvSpPr txBox="1">
            <a:spLocks/>
          </p:cNvSpPr>
          <p:nvPr/>
        </p:nvSpPr>
        <p:spPr bwMode="auto">
          <a:xfrm>
            <a:off x="304800" y="5868285"/>
            <a:ext cx="8534400" cy="1651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171450" indent="-171450" algn="just">
              <a:buFontTx/>
              <a:buChar char="-"/>
            </a:pPr>
            <a:r>
              <a:rPr lang="en-US" sz="1200" dirty="0" smtClean="0"/>
              <a:t>Spina et al. </a:t>
            </a:r>
            <a:r>
              <a:rPr lang="en-US" sz="1200" b="1" dirty="0"/>
              <a:t>Identifying Physical Activity Profiles in </a:t>
            </a:r>
            <a:r>
              <a:rPr lang="en-US" sz="1200" b="1" dirty="0" smtClean="0"/>
              <a:t>COPD Patients </a:t>
            </a:r>
            <a:r>
              <a:rPr lang="en-US" sz="1200" b="1" dirty="0"/>
              <a:t>Using Topic Models</a:t>
            </a:r>
            <a:r>
              <a:rPr lang="en-US" sz="1200" b="1" dirty="0" smtClean="0"/>
              <a:t>. </a:t>
            </a:r>
            <a:r>
              <a:rPr lang="en-US" sz="1200" dirty="0" smtClean="0">
                <a:solidFill>
                  <a:schemeClr val="accent5"/>
                </a:solidFill>
              </a:rPr>
              <a:t>Submitted</a:t>
            </a:r>
            <a:r>
              <a:rPr lang="en-US" sz="1200" dirty="0" smtClean="0"/>
              <a:t> to </a:t>
            </a:r>
            <a:r>
              <a:rPr lang="en-US" sz="1200" dirty="0"/>
              <a:t>IEEE JOURNAL OF BIOMEDICAL AND HEALTH INFORMATICS</a:t>
            </a:r>
            <a:r>
              <a:rPr lang="it-IT" sz="1200" dirty="0" smtClean="0"/>
              <a:t>, 2015</a:t>
            </a:r>
          </a:p>
          <a:p>
            <a:pPr marL="171450" indent="-171450" algn="just">
              <a:buFontTx/>
              <a:buChar char="-"/>
            </a:pPr>
            <a:r>
              <a:rPr lang="en-US" sz="1200" dirty="0"/>
              <a:t>Spina et al. </a:t>
            </a:r>
            <a:r>
              <a:rPr lang="en-US" sz="1200" b="1" dirty="0" smtClean="0"/>
              <a:t>Plan clinical analysis after notifications.</a:t>
            </a:r>
            <a:endParaRPr lang="en-US" altLang="it-IT" sz="1200" dirty="0"/>
          </a:p>
          <a:p>
            <a:pPr marL="171450" indent="-171450" algn="just">
              <a:buFontTx/>
              <a:buChar char="-"/>
            </a:pPr>
            <a:endParaRPr lang="en-US" altLang="it-IT" sz="1200" dirty="0"/>
          </a:p>
        </p:txBody>
      </p:sp>
      <p:sp>
        <p:nvSpPr>
          <p:cNvPr id="13" name="Text Placeholder 2__"/>
          <p:cNvSpPr txBox="1">
            <a:spLocks/>
          </p:cNvSpPr>
          <p:nvPr/>
        </p:nvSpPr>
        <p:spPr bwMode="auto">
          <a:xfrm>
            <a:off x="304800" y="3359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lvl="0" algn="just" eaLnBrk="1" hangingPunct="1"/>
            <a:r>
              <a:rPr lang="en-US" sz="1200" dirty="0">
                <a:solidFill>
                  <a:srgbClr val="000000"/>
                </a:solidFill>
              </a:rPr>
              <a:t>- Mesquita, Spina et al. </a:t>
            </a:r>
            <a:r>
              <a:rPr lang="en-US" sz="1200" b="1" dirty="0">
                <a:solidFill>
                  <a:srgbClr val="000000"/>
                </a:solidFill>
              </a:rPr>
              <a:t>Cluster analysis of objectively measured physical activity in 1001 COPD patients.</a:t>
            </a:r>
            <a:r>
              <a:rPr lang="en-US" sz="1200" dirty="0">
                <a:solidFill>
                  <a:srgbClr val="000000"/>
                </a:solidFill>
              </a:rPr>
              <a:t> Late-breaking abstract ERS 2014</a:t>
            </a:r>
            <a:endParaRPr lang="it-IT" sz="1200" dirty="0">
              <a:solidFill>
                <a:srgbClr val="000000"/>
              </a:solidFill>
            </a:endParaRPr>
          </a:p>
          <a:p>
            <a:pPr lvl="0" algn="just" eaLnBrk="1" hangingPunct="1"/>
            <a:r>
              <a:rPr lang="en-US" sz="1200" dirty="0">
                <a:solidFill>
                  <a:srgbClr val="000000"/>
                </a:solidFill>
              </a:rPr>
              <a:t>- Mesquita, Spina et al. </a:t>
            </a:r>
            <a:r>
              <a:rPr lang="en-US" sz="1200" b="1" dirty="0">
                <a:solidFill>
                  <a:srgbClr val="000000"/>
                </a:solidFill>
              </a:rPr>
              <a:t>Physical activity patterns and clusters in 1001 patients with chronic obstructive pulmonary disease.</a:t>
            </a:r>
            <a:r>
              <a:rPr lang="en-US" sz="1200" dirty="0">
                <a:solidFill>
                  <a:srgbClr val="000000"/>
                </a:solidFill>
              </a:rPr>
              <a:t> </a:t>
            </a:r>
            <a:r>
              <a:rPr lang="it-IT" sz="1200" dirty="0">
                <a:solidFill>
                  <a:schemeClr val="accent5"/>
                </a:solidFill>
              </a:rPr>
              <a:t>Submitted</a:t>
            </a:r>
            <a:r>
              <a:rPr lang="it-IT" sz="1200" dirty="0">
                <a:solidFill>
                  <a:srgbClr val="000000"/>
                </a:solidFill>
              </a:rPr>
              <a:t> to ERJ.</a:t>
            </a:r>
          </a:p>
        </p:txBody>
      </p:sp>
      <p:pic>
        <p:nvPicPr>
          <p:cNvPr id="27651" name="Picture 3" descr="D:\Condiviso\TUe\COPDBodyMedia\COPDBodyMedia_paper\Draft\Thorax\Figures\Figure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4657" y="1039131"/>
            <a:ext cx="2979737" cy="2235200"/>
          </a:xfrm>
          <a:prstGeom prst="rect">
            <a:avLst/>
          </a:prstGeom>
          <a:noFill/>
          <a:extLst>
            <a:ext uri="{909E8E84-426E-40DD-AFC4-6F175D3DCCD1}">
              <a14:hiddenFill xmlns:a14="http://schemas.microsoft.com/office/drawing/2010/main">
                <a:solidFill>
                  <a:srgbClr val="FFFFFF"/>
                </a:solidFill>
              </a14:hiddenFill>
            </a:ext>
          </a:extLst>
        </p:spPr>
      </p:pic>
      <p:pic>
        <p:nvPicPr>
          <p:cNvPr id="27653" name="Picture 5" descr="D:\Condiviso\TUe\COPDBodyMedia\COPDBodyMedia_paper\Draft\Thorax\Figures\Figure6_resized.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96951" y="1085951"/>
            <a:ext cx="2953522" cy="221514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C:\Users\310153563\Documents\GitHub\COPDBodyMedia_2nd_analysis\COPDBodyMedia2_paper\IEEEtran_windows_philips\figure\eps\figure_4_1_copd_weekday_gly.ep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6935" y="3886200"/>
            <a:ext cx="6549979" cy="100714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C:\Users\310153563\Documents\GitHub\COPDBodyMedia_2nd_analysis\COPDBodyMedia2_paper\IEEEtran_windows_philips\figure\eps\figure_4_1_healthy_weekday_gly.ep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6935" y="4901292"/>
            <a:ext cx="6549979" cy="100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441253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New monitoring solutions</a:t>
            </a:r>
            <a:endParaRPr lang="en-US" altLang="it-IT" sz="4000" dirty="0"/>
          </a:p>
        </p:txBody>
      </p:sp>
      <p:sp>
        <p:nvSpPr>
          <p:cNvPr id="13" name="Text Placeholder 2_"/>
          <p:cNvSpPr txBox="1">
            <a:spLocks/>
          </p:cNvSpPr>
          <p:nvPr/>
        </p:nvSpPr>
        <p:spPr bwMode="auto">
          <a:xfrm>
            <a:off x="304800" y="3359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200" dirty="0" smtClean="0">
                <a:latin typeface="+mj-lt"/>
              </a:rPr>
              <a:t>- Spina et al. </a:t>
            </a:r>
            <a:r>
              <a:rPr lang="en-US" sz="1200" b="1" dirty="0" err="1" smtClean="0">
                <a:latin typeface="+mj-lt"/>
              </a:rPr>
              <a:t>Smartscope</a:t>
            </a:r>
            <a:r>
              <a:rPr lang="en-US" sz="1200" b="1" dirty="0" smtClean="0">
                <a:latin typeface="+mj-lt"/>
              </a:rPr>
              <a:t>.</a:t>
            </a:r>
            <a:r>
              <a:rPr lang="en-US" sz="1200" dirty="0" smtClean="0">
                <a:latin typeface="+mj-lt"/>
              </a:rPr>
              <a:t> </a:t>
            </a:r>
            <a:r>
              <a:rPr lang="it-IT" sz="1200" dirty="0" smtClean="0">
                <a:latin typeface="+mj-lt"/>
              </a:rPr>
              <a:t>Planned submission to EMBC 2014.</a:t>
            </a:r>
          </a:p>
          <a:p>
            <a:pPr algn="just"/>
            <a:r>
              <a:rPr lang="en-US" sz="1200" dirty="0" smtClean="0">
                <a:latin typeface="+mj-lt"/>
              </a:rPr>
              <a:t>- Spina et al. </a:t>
            </a:r>
            <a:r>
              <a:rPr lang="en-US" sz="1200" b="1" dirty="0" err="1" smtClean="0">
                <a:latin typeface="+mj-lt"/>
              </a:rPr>
              <a:t>Smartscope</a:t>
            </a:r>
            <a:r>
              <a:rPr lang="en-US" sz="1200" b="1" dirty="0" smtClean="0">
                <a:latin typeface="+mj-lt"/>
              </a:rPr>
              <a:t> extended.</a:t>
            </a:r>
            <a:r>
              <a:rPr lang="en-US" sz="1200" dirty="0" smtClean="0">
                <a:latin typeface="+mj-lt"/>
              </a:rPr>
              <a:t> </a:t>
            </a:r>
            <a:r>
              <a:rPr lang="it-IT" sz="1200" dirty="0" smtClean="0">
                <a:latin typeface="+mj-lt"/>
              </a:rPr>
              <a:t>Planned submission to </a:t>
            </a:r>
            <a:r>
              <a:rPr lang="it-IT" sz="1200" dirty="0">
                <a:solidFill>
                  <a:srgbClr val="000000"/>
                </a:solidFill>
                <a:latin typeface="+mj-lt"/>
              </a:rPr>
              <a:t>Special issue on </a:t>
            </a:r>
            <a:r>
              <a:rPr lang="it-IT" sz="1200" dirty="0">
                <a:latin typeface="+mj-lt"/>
              </a:rPr>
              <a:t>Smartphone-Based Sensors for Non-Invasive Physiological </a:t>
            </a:r>
            <a:r>
              <a:rPr lang="it-IT" sz="1200" dirty="0" smtClean="0">
                <a:latin typeface="+mj-lt"/>
              </a:rPr>
              <a:t>Monitoring.</a:t>
            </a:r>
            <a:endParaRPr lang="it-IT" sz="1200" dirty="0">
              <a:latin typeface="+mj-lt"/>
            </a:endParaRPr>
          </a:p>
          <a:p>
            <a:pPr algn="just"/>
            <a:endParaRPr lang="en-US" altLang="it-IT" sz="1200" dirty="0">
              <a:latin typeface="+mj-lt"/>
            </a:endParaRPr>
          </a:p>
        </p:txBody>
      </p:sp>
      <p:grpSp>
        <p:nvGrpSpPr>
          <p:cNvPr id="8" name="Group 2"/>
          <p:cNvGrpSpPr>
            <a:grpSpLocks/>
          </p:cNvGrpSpPr>
          <p:nvPr/>
        </p:nvGrpSpPr>
        <p:grpSpPr bwMode="auto">
          <a:xfrm>
            <a:off x="1066800" y="1865848"/>
            <a:ext cx="1752600" cy="813907"/>
            <a:chOff x="71438" y="2160588"/>
            <a:chExt cx="2519362" cy="1343818"/>
          </a:xfrm>
        </p:grpSpPr>
        <p:pic>
          <p:nvPicPr>
            <p:cNvPr id="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38" y="2160588"/>
              <a:ext cx="2519362" cy="10588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 name="Rectangle 9"/>
            <p:cNvSpPr/>
            <p:nvPr/>
          </p:nvSpPr>
          <p:spPr>
            <a:xfrm>
              <a:off x="152400" y="3124769"/>
              <a:ext cx="1371600" cy="379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394690"/>
            <a:ext cx="1065211" cy="158363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38600" y="1557461"/>
            <a:ext cx="1676400" cy="125809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4" name="Picture 1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43600" y="1231625"/>
            <a:ext cx="1341716" cy="19097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55393603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828000" y="304800"/>
            <a:ext cx="7488000" cy="1731968"/>
          </a:xfrm>
        </p:spPr>
        <p:txBody>
          <a:bodyPr/>
          <a:lstStyle/>
          <a:p>
            <a:pPr algn="ctr"/>
            <a:r>
              <a:rPr lang="en-US" dirty="0">
                <a:solidFill>
                  <a:srgbClr val="FF0000"/>
                </a:solidFill>
              </a:rPr>
              <a:t>Automatically</a:t>
            </a:r>
            <a:r>
              <a:rPr lang="en-US" dirty="0"/>
              <a:t> discover daily routines as a probabilistic combination of activity patterns </a:t>
            </a:r>
            <a:r>
              <a:rPr lang="en-US" dirty="0">
                <a:solidFill>
                  <a:srgbClr val="FF0000"/>
                </a:solidFill>
              </a:rPr>
              <a:t>without user annotation</a:t>
            </a:r>
            <a:endParaRPr lang="en-US" dirty="0"/>
          </a:p>
        </p:txBody>
      </p:sp>
      <p:pic>
        <p:nvPicPr>
          <p:cNvPr id="8" name="Picture 2" descr="https://eslimaginarium.files.wordpress.com/2010/05/daily-routines-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981200"/>
            <a:ext cx="4974276" cy="4399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17201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10 countries, 18 rehab centers, 1399 patients</a:t>
            </a:r>
          </a:p>
          <a:p>
            <a:endParaRPr lang="en-US" dirty="0"/>
          </a:p>
        </p:txBody>
      </p:sp>
      <p:sp>
        <p:nvSpPr>
          <p:cNvPr id="3" name="Text Placeholder 2"/>
          <p:cNvSpPr>
            <a:spLocks noGrp="1"/>
          </p:cNvSpPr>
          <p:nvPr>
            <p:ph type="body" sz="quarter" idx="12"/>
          </p:nvPr>
        </p:nvSpPr>
        <p:spPr/>
        <p:txBody>
          <a:bodyPr/>
          <a:lstStyle/>
          <a:p>
            <a:r>
              <a:rPr lang="en-US" dirty="0" smtClean="0"/>
              <a:t>977 patients – 66 healthy control subjects (age, gender, BMI)</a:t>
            </a:r>
          </a:p>
          <a:p>
            <a:r>
              <a:rPr lang="en-US" dirty="0" smtClean="0"/>
              <a:t>5846 days (3916 weekdays - 1930 weekend days)</a:t>
            </a:r>
            <a:endParaRPr lang="en-US" dirty="0"/>
          </a:p>
        </p:txBody>
      </p:sp>
      <p:pic>
        <p:nvPicPr>
          <p:cNvPr id="6" name="Picture 16" descr="http://upload.wikimedia.org/wikipedia/commons/thumb/c/cf/A_large_blank_world_map_with_oceans_marked_in_blue.PNG/1024px-A_large_blank_world_map_with_oceans_marked_in_blu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200" y="2159000"/>
            <a:ext cx="7461600" cy="3701654"/>
          </a:xfrm>
          <a:prstGeom prst="rect">
            <a:avLst/>
          </a:prstGeom>
          <a:noFill/>
          <a:extLst>
            <a:ext uri="{909E8E84-426E-40DD-AFC4-6F175D3DCCD1}">
              <a14:hiddenFill xmlns:a14="http://schemas.microsoft.com/office/drawing/2010/main">
                <a:solidFill>
                  <a:srgbClr val="FFFFFF"/>
                </a:solidFill>
              </a14:hiddenFill>
            </a:ext>
          </a:extLst>
        </p:spPr>
      </p:pic>
      <p:sp>
        <p:nvSpPr>
          <p:cNvPr id="7" name="Flowchart: Connector 6"/>
          <p:cNvSpPr/>
          <p:nvPr/>
        </p:nvSpPr>
        <p:spPr>
          <a:xfrm>
            <a:off x="7137400" y="50228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8" name="Flowchart: Connector 7"/>
          <p:cNvSpPr/>
          <p:nvPr/>
        </p:nvSpPr>
        <p:spPr>
          <a:xfrm>
            <a:off x="2743200" y="46482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9" name="Flowchart: Connector 8"/>
          <p:cNvSpPr/>
          <p:nvPr/>
        </p:nvSpPr>
        <p:spPr>
          <a:xfrm>
            <a:off x="2438400" y="28956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0" name="Flowchart: Connector 9"/>
          <p:cNvSpPr/>
          <p:nvPr/>
        </p:nvSpPr>
        <p:spPr>
          <a:xfrm>
            <a:off x="2286000" y="30099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1" name="Flowchart: Connector 10"/>
          <p:cNvSpPr/>
          <p:nvPr/>
        </p:nvSpPr>
        <p:spPr>
          <a:xfrm>
            <a:off x="4070350" y="29019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2" name="Flowchart: Connector 11"/>
          <p:cNvSpPr/>
          <p:nvPr/>
        </p:nvSpPr>
        <p:spPr>
          <a:xfrm>
            <a:off x="4076700" y="28321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3" name="Flowchart: Connector 12"/>
          <p:cNvSpPr/>
          <p:nvPr/>
        </p:nvSpPr>
        <p:spPr>
          <a:xfrm>
            <a:off x="3746500" y="28448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4" name="Flowchart: Connector 13"/>
          <p:cNvSpPr/>
          <p:nvPr/>
        </p:nvSpPr>
        <p:spPr>
          <a:xfrm>
            <a:off x="4102100" y="30797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5" name="Flowchart: Connector 14"/>
          <p:cNvSpPr/>
          <p:nvPr/>
        </p:nvSpPr>
        <p:spPr>
          <a:xfrm>
            <a:off x="3956050" y="28384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6" name="Flowchart: Connector 15"/>
          <p:cNvSpPr/>
          <p:nvPr/>
        </p:nvSpPr>
        <p:spPr>
          <a:xfrm>
            <a:off x="3994150" y="28765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7" name="Flowchart: Connector 16"/>
          <p:cNvSpPr/>
          <p:nvPr/>
        </p:nvSpPr>
        <p:spPr>
          <a:xfrm>
            <a:off x="3848100" y="31686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8" name="Flowchart: Connector 17"/>
          <p:cNvSpPr/>
          <p:nvPr/>
        </p:nvSpPr>
        <p:spPr>
          <a:xfrm>
            <a:off x="4025900" y="29972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9" name="Flowchart: Connector 18"/>
          <p:cNvSpPr/>
          <p:nvPr/>
        </p:nvSpPr>
        <p:spPr>
          <a:xfrm>
            <a:off x="4076700" y="29908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20" name="Flowchart: Connector 19"/>
          <p:cNvSpPr/>
          <p:nvPr/>
        </p:nvSpPr>
        <p:spPr>
          <a:xfrm>
            <a:off x="3841750" y="28067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21" name="Flowchart: Connector 20"/>
          <p:cNvSpPr/>
          <p:nvPr/>
        </p:nvSpPr>
        <p:spPr>
          <a:xfrm>
            <a:off x="3848100" y="28765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22" name="Flowchart: Connector 21"/>
          <p:cNvSpPr/>
          <p:nvPr/>
        </p:nvSpPr>
        <p:spPr>
          <a:xfrm>
            <a:off x="3886200" y="28194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23" name="Flowchart: Connector 22"/>
          <p:cNvSpPr/>
          <p:nvPr/>
        </p:nvSpPr>
        <p:spPr>
          <a:xfrm>
            <a:off x="2178050" y="32385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24" name="Flowchart: Connector 23"/>
          <p:cNvSpPr/>
          <p:nvPr/>
        </p:nvSpPr>
        <p:spPr>
          <a:xfrm>
            <a:off x="1981200" y="31115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762634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lum/>
            <a:alphaModFix/>
          </a:blip>
          <a:srcRect/>
          <a:stretch>
            <a:fillRect/>
          </a:stretch>
        </p:blipFill>
        <p:spPr>
          <a:xfrm>
            <a:off x="2209800" y="1365840"/>
            <a:ext cx="6665760" cy="4806360"/>
          </a:xfrm>
          <a:prstGeom prst="rect">
            <a:avLst/>
          </a:prstGeom>
          <a:noFill/>
          <a:ln>
            <a:noFill/>
          </a:ln>
        </p:spPr>
      </p:pic>
      <p:pic>
        <p:nvPicPr>
          <p:cNvPr id="6" name="Picture 2" descr="BodyMedia FIT Armband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 y="1549960"/>
            <a:ext cx="2147536" cy="117534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8753" y="2667000"/>
            <a:ext cx="2138784" cy="923330"/>
          </a:xfrm>
          <a:prstGeom prst="rect">
            <a:avLst/>
          </a:prstGeom>
          <a:noFill/>
        </p:spPr>
        <p:txBody>
          <a:bodyPr wrap="square" rtlCol="0">
            <a:spAutoFit/>
          </a:bodyPr>
          <a:lstStyle/>
          <a:p>
            <a:pPr algn="ctr"/>
            <a:r>
              <a:rPr lang="en-US" dirty="0" err="1"/>
              <a:t>SenseWear</a:t>
            </a:r>
            <a:r>
              <a:rPr lang="en-US" dirty="0"/>
              <a:t> </a:t>
            </a:r>
            <a:r>
              <a:rPr lang="it-IT" dirty="0" smtClean="0"/>
              <a:t>armband activity monitor</a:t>
            </a:r>
            <a:endParaRPr lang="it-IT" dirty="0"/>
          </a:p>
        </p:txBody>
      </p:sp>
    </p:spTree>
    <p:extLst>
      <p:ext uri="{BB962C8B-B14F-4D97-AF65-F5344CB8AC3E}">
        <p14:creationId xmlns:p14="http://schemas.microsoft.com/office/powerpoint/2010/main" val="17138579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descr="C:\Users\310153563\Documents\GitHub\COPDBodyMedia_2nd_analysis\COPDBodyMedia2_paper\IEEEtran_windows\figure\png\figure_11_onlymet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2709" y="72424"/>
            <a:ext cx="5334000" cy="3998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9130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stretch>
            <a:fillRect/>
          </a:stretch>
        </p:blipFill>
        <p:spPr>
          <a:xfrm>
            <a:off x="1981200" y="71015"/>
            <a:ext cx="5333400" cy="3998520"/>
          </a:xfrm>
          <a:prstGeom prst="rect">
            <a:avLst/>
          </a:prstGeom>
        </p:spPr>
      </p:pic>
      <p:pic>
        <p:nvPicPr>
          <p:cNvPr id="3" name="Picture 2"/>
          <p:cNvPicPr/>
          <p:nvPr/>
        </p:nvPicPr>
        <p:blipFill>
          <a:blip r:embed="rId2"/>
          <a:stretch>
            <a:fillRect/>
          </a:stretch>
        </p:blipFill>
        <p:spPr>
          <a:xfrm>
            <a:off x="1981200" y="76200"/>
            <a:ext cx="5333400" cy="3998520"/>
          </a:xfrm>
          <a:prstGeom prst="rect">
            <a:avLst/>
          </a:prstGeom>
        </p:spPr>
      </p:pic>
    </p:spTree>
    <p:extLst>
      <p:ext uri="{BB962C8B-B14F-4D97-AF65-F5344CB8AC3E}">
        <p14:creationId xmlns:p14="http://schemas.microsoft.com/office/powerpoint/2010/main" val="23178589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stretch>
            <a:fillRect/>
          </a:stretch>
        </p:blipFill>
        <p:spPr>
          <a:xfrm>
            <a:off x="1981200" y="71015"/>
            <a:ext cx="5333400" cy="3998520"/>
          </a:xfrm>
          <a:prstGeom prst="rect">
            <a:avLst/>
          </a:prstGeom>
        </p:spPr>
      </p:pic>
      <p:pic>
        <p:nvPicPr>
          <p:cNvPr id="3" name="Picture 2"/>
          <p:cNvPicPr/>
          <p:nvPr/>
        </p:nvPicPr>
        <p:blipFill>
          <a:blip r:embed="rId2"/>
          <a:stretch>
            <a:fillRect/>
          </a:stretch>
        </p:blipFill>
        <p:spPr>
          <a:xfrm>
            <a:off x="1981200" y="76200"/>
            <a:ext cx="5333400" cy="3998520"/>
          </a:xfrm>
          <a:prstGeom prst="rect">
            <a:avLst/>
          </a:prstGeom>
        </p:spPr>
      </p:pic>
      <p:sp>
        <p:nvSpPr>
          <p:cNvPr id="4" name="CustomShape 6"/>
          <p:cNvSpPr/>
          <p:nvPr/>
        </p:nvSpPr>
        <p:spPr>
          <a:xfrm>
            <a:off x="2096040" y="4074998"/>
            <a:ext cx="406780" cy="419292"/>
          </a:xfrm>
          <a:prstGeom prst="roundRect">
            <a:avLst>
              <a:gd name="adj" fmla="val 3600"/>
            </a:avLst>
          </a:prstGeom>
          <a:ln w="36000">
            <a:solidFill>
              <a:srgbClr val="2323DC"/>
            </a:solidFill>
            <a:round/>
          </a:ln>
        </p:spPr>
      </p:sp>
      <p:sp>
        <p:nvSpPr>
          <p:cNvPr id="6" name="Line 7"/>
          <p:cNvSpPr/>
          <p:nvPr/>
        </p:nvSpPr>
        <p:spPr>
          <a:xfrm flipH="1">
            <a:off x="2502818" y="3276600"/>
            <a:ext cx="1208365" cy="807109"/>
          </a:xfrm>
          <a:prstGeom prst="line">
            <a:avLst/>
          </a:prstGeom>
          <a:ln w="36000">
            <a:solidFill>
              <a:srgbClr val="2300DC"/>
            </a:solidFill>
            <a:round/>
          </a:ln>
        </p:spPr>
      </p:sp>
      <p:sp>
        <p:nvSpPr>
          <p:cNvPr id="7" name="Line 8"/>
          <p:cNvSpPr/>
          <p:nvPr/>
        </p:nvSpPr>
        <p:spPr>
          <a:xfrm flipH="1">
            <a:off x="2106897" y="3276600"/>
            <a:ext cx="1604286" cy="798399"/>
          </a:xfrm>
          <a:prstGeom prst="line">
            <a:avLst/>
          </a:prstGeom>
          <a:ln w="36000">
            <a:solidFill>
              <a:srgbClr val="2300DC"/>
            </a:solidFill>
            <a:round/>
          </a:ln>
        </p:spPr>
      </p:sp>
      <p:sp>
        <p:nvSpPr>
          <p:cNvPr id="8" name="Line 9"/>
          <p:cNvSpPr/>
          <p:nvPr/>
        </p:nvSpPr>
        <p:spPr>
          <a:xfrm flipH="1">
            <a:off x="2502818" y="3276600"/>
            <a:ext cx="1208367" cy="1217690"/>
          </a:xfrm>
          <a:prstGeom prst="line">
            <a:avLst/>
          </a:prstGeom>
          <a:ln w="36000">
            <a:solidFill>
              <a:srgbClr val="2300DC"/>
            </a:solidFill>
            <a:round/>
          </a:ln>
        </p:spPr>
      </p:sp>
      <p:sp>
        <p:nvSpPr>
          <p:cNvPr id="9" name="Line 19"/>
          <p:cNvSpPr/>
          <p:nvPr/>
        </p:nvSpPr>
        <p:spPr>
          <a:xfrm flipH="1">
            <a:off x="2096038" y="3276600"/>
            <a:ext cx="1615148" cy="1217691"/>
          </a:xfrm>
          <a:prstGeom prst="line">
            <a:avLst/>
          </a:prstGeom>
          <a:ln>
            <a:solidFill>
              <a:srgbClr val="2300DC"/>
            </a:solidFill>
            <a:custDash>
              <a:ds d="508000" sp="508000"/>
              <a:ds d="508000" sp="508000"/>
            </a:custDash>
          </a:ln>
        </p:spPr>
      </p:sp>
      <p:sp>
        <p:nvSpPr>
          <p:cNvPr id="10" name="CustomShape 20"/>
          <p:cNvSpPr/>
          <p:nvPr/>
        </p:nvSpPr>
        <p:spPr>
          <a:xfrm>
            <a:off x="7024819" y="4083708"/>
            <a:ext cx="406780" cy="419292"/>
          </a:xfrm>
          <a:prstGeom prst="roundRect">
            <a:avLst>
              <a:gd name="adj" fmla="val 3600"/>
            </a:avLst>
          </a:prstGeom>
          <a:ln w="36000">
            <a:solidFill>
              <a:srgbClr val="FF420E"/>
            </a:solidFill>
            <a:round/>
          </a:ln>
        </p:spPr>
      </p:sp>
      <p:sp>
        <p:nvSpPr>
          <p:cNvPr id="11" name="Line 21"/>
          <p:cNvSpPr/>
          <p:nvPr/>
        </p:nvSpPr>
        <p:spPr>
          <a:xfrm>
            <a:off x="3962400" y="990600"/>
            <a:ext cx="3469199" cy="3101818"/>
          </a:xfrm>
          <a:prstGeom prst="line">
            <a:avLst/>
          </a:prstGeom>
          <a:ln w="36000">
            <a:solidFill>
              <a:srgbClr val="FF420E"/>
            </a:solidFill>
            <a:round/>
          </a:ln>
        </p:spPr>
      </p:sp>
      <p:sp>
        <p:nvSpPr>
          <p:cNvPr id="12" name="Line 22"/>
          <p:cNvSpPr/>
          <p:nvPr/>
        </p:nvSpPr>
        <p:spPr>
          <a:xfrm>
            <a:off x="3962400" y="990600"/>
            <a:ext cx="3062419" cy="3093108"/>
          </a:xfrm>
          <a:prstGeom prst="line">
            <a:avLst/>
          </a:prstGeom>
          <a:ln w="36000">
            <a:solidFill>
              <a:srgbClr val="FF420E"/>
            </a:solidFill>
            <a:round/>
          </a:ln>
        </p:spPr>
      </p:sp>
      <p:sp>
        <p:nvSpPr>
          <p:cNvPr id="13" name="Line 23"/>
          <p:cNvSpPr/>
          <p:nvPr/>
        </p:nvSpPr>
        <p:spPr>
          <a:xfrm>
            <a:off x="3962400" y="990600"/>
            <a:ext cx="3469200" cy="3512400"/>
          </a:xfrm>
          <a:prstGeom prst="line">
            <a:avLst/>
          </a:prstGeom>
          <a:ln>
            <a:solidFill>
              <a:srgbClr val="FF420E"/>
            </a:solidFill>
            <a:prstDash val="dash"/>
          </a:ln>
        </p:spPr>
      </p:sp>
      <p:sp>
        <p:nvSpPr>
          <p:cNvPr id="14" name="Line 24"/>
          <p:cNvSpPr/>
          <p:nvPr/>
        </p:nvSpPr>
        <p:spPr>
          <a:xfrm>
            <a:off x="3962400" y="990600"/>
            <a:ext cx="3062420" cy="3512400"/>
          </a:xfrm>
          <a:prstGeom prst="line">
            <a:avLst/>
          </a:prstGeom>
          <a:ln w="36000">
            <a:solidFill>
              <a:srgbClr val="FF420E"/>
            </a:solidFill>
            <a:round/>
          </a:ln>
        </p:spPr>
      </p:sp>
      <p:sp>
        <p:nvSpPr>
          <p:cNvPr id="15" name="Line 14"/>
          <p:cNvSpPr/>
          <p:nvPr/>
        </p:nvSpPr>
        <p:spPr>
          <a:xfrm>
            <a:off x="3962400" y="1759801"/>
            <a:ext cx="2534200" cy="2323907"/>
          </a:xfrm>
          <a:prstGeom prst="line">
            <a:avLst/>
          </a:prstGeom>
          <a:ln w="36000">
            <a:solidFill>
              <a:srgbClr val="E6FF00"/>
            </a:solidFill>
            <a:round/>
          </a:ln>
        </p:spPr>
      </p:sp>
      <p:sp>
        <p:nvSpPr>
          <p:cNvPr id="16" name="Line 15"/>
          <p:cNvSpPr/>
          <p:nvPr/>
        </p:nvSpPr>
        <p:spPr>
          <a:xfrm>
            <a:off x="3962400" y="1759801"/>
            <a:ext cx="2931141" cy="2743199"/>
          </a:xfrm>
          <a:prstGeom prst="line">
            <a:avLst/>
          </a:prstGeom>
          <a:ln>
            <a:solidFill>
              <a:srgbClr val="E6FF00"/>
            </a:solidFill>
            <a:prstDash val="dash"/>
          </a:ln>
        </p:spPr>
      </p:sp>
      <p:sp>
        <p:nvSpPr>
          <p:cNvPr id="17" name="Line 16"/>
          <p:cNvSpPr/>
          <p:nvPr/>
        </p:nvSpPr>
        <p:spPr>
          <a:xfrm>
            <a:off x="3962400" y="1759801"/>
            <a:ext cx="2534200" cy="2743199"/>
          </a:xfrm>
          <a:prstGeom prst="line">
            <a:avLst/>
          </a:prstGeom>
          <a:ln w="36000">
            <a:solidFill>
              <a:srgbClr val="E6FF00"/>
            </a:solidFill>
            <a:round/>
          </a:ln>
        </p:spPr>
      </p:sp>
      <p:sp>
        <p:nvSpPr>
          <p:cNvPr id="18" name="Line 13"/>
          <p:cNvSpPr/>
          <p:nvPr/>
        </p:nvSpPr>
        <p:spPr>
          <a:xfrm>
            <a:off x="3962400" y="1759801"/>
            <a:ext cx="2940980" cy="2332792"/>
          </a:xfrm>
          <a:prstGeom prst="line">
            <a:avLst/>
          </a:prstGeom>
          <a:ln w="36000">
            <a:solidFill>
              <a:srgbClr val="E6FF00"/>
            </a:solidFill>
            <a:round/>
          </a:ln>
        </p:spPr>
      </p:sp>
      <p:sp>
        <p:nvSpPr>
          <p:cNvPr id="19" name="CustomShape 12"/>
          <p:cNvSpPr/>
          <p:nvPr/>
        </p:nvSpPr>
        <p:spPr>
          <a:xfrm>
            <a:off x="6496600" y="4083708"/>
            <a:ext cx="406780" cy="419292"/>
          </a:xfrm>
          <a:prstGeom prst="roundRect">
            <a:avLst>
              <a:gd name="adj" fmla="val 3600"/>
            </a:avLst>
          </a:prstGeom>
          <a:ln w="36000">
            <a:solidFill>
              <a:srgbClr val="E6FF00"/>
            </a:solidFill>
            <a:round/>
          </a:ln>
        </p:spPr>
      </p:sp>
      <p:grpSp>
        <p:nvGrpSpPr>
          <p:cNvPr id="20" name="Group 19"/>
          <p:cNvGrpSpPr/>
          <p:nvPr/>
        </p:nvGrpSpPr>
        <p:grpSpPr>
          <a:xfrm>
            <a:off x="2554800" y="2507009"/>
            <a:ext cx="3872043" cy="1987281"/>
            <a:chOff x="609600" y="2423609"/>
            <a:chExt cx="3872043" cy="1987281"/>
          </a:xfrm>
        </p:grpSpPr>
        <p:sp>
          <p:nvSpPr>
            <p:cNvPr id="21" name="Line 10"/>
            <p:cNvSpPr/>
            <p:nvPr/>
          </p:nvSpPr>
          <p:spPr>
            <a:xfrm>
              <a:off x="1864801" y="2433058"/>
              <a:ext cx="2616842" cy="1977832"/>
            </a:xfrm>
            <a:prstGeom prst="line">
              <a:avLst/>
            </a:prstGeom>
            <a:ln>
              <a:solidFill>
                <a:srgbClr val="00CCCC"/>
              </a:solidFill>
              <a:custDash>
                <a:ds d="508000" sp="508000"/>
                <a:ds d="508000" sp="508000"/>
              </a:custDash>
            </a:ln>
          </p:spPr>
        </p:sp>
        <p:sp>
          <p:nvSpPr>
            <p:cNvPr id="22" name="Line 11"/>
            <p:cNvSpPr/>
            <p:nvPr/>
          </p:nvSpPr>
          <p:spPr>
            <a:xfrm flipH="1">
              <a:off x="609601" y="2433058"/>
              <a:ext cx="1255199" cy="1977832"/>
            </a:xfrm>
            <a:prstGeom prst="line">
              <a:avLst/>
            </a:prstGeom>
            <a:ln>
              <a:solidFill>
                <a:srgbClr val="00CCCC"/>
              </a:solidFill>
              <a:custDash>
                <a:ds d="508000" sp="508000"/>
                <a:ds d="508000" sp="508000"/>
              </a:custDash>
            </a:ln>
          </p:spPr>
        </p:sp>
        <p:sp>
          <p:nvSpPr>
            <p:cNvPr id="23" name="CustomShape 17"/>
            <p:cNvSpPr/>
            <p:nvPr/>
          </p:nvSpPr>
          <p:spPr>
            <a:xfrm>
              <a:off x="609601" y="3991598"/>
              <a:ext cx="3872041" cy="419292"/>
            </a:xfrm>
            <a:prstGeom prst="roundRect">
              <a:avLst>
                <a:gd name="adj" fmla="val 3600"/>
              </a:avLst>
            </a:prstGeom>
            <a:ln w="36000">
              <a:solidFill>
                <a:srgbClr val="00CCCC"/>
              </a:solidFill>
              <a:round/>
            </a:ln>
          </p:spPr>
        </p:sp>
        <p:sp>
          <p:nvSpPr>
            <p:cNvPr id="24" name="Line 18"/>
            <p:cNvSpPr/>
            <p:nvPr/>
          </p:nvSpPr>
          <p:spPr>
            <a:xfrm>
              <a:off x="1864801" y="2433058"/>
              <a:ext cx="2616842" cy="1567250"/>
            </a:xfrm>
            <a:prstGeom prst="line">
              <a:avLst/>
            </a:prstGeom>
            <a:ln w="36000">
              <a:solidFill>
                <a:srgbClr val="00CCCC"/>
              </a:solidFill>
              <a:round/>
            </a:ln>
          </p:spPr>
        </p:sp>
        <p:sp>
          <p:nvSpPr>
            <p:cNvPr id="25" name="Line 5"/>
            <p:cNvSpPr/>
            <p:nvPr/>
          </p:nvSpPr>
          <p:spPr>
            <a:xfrm flipH="1">
              <a:off x="609600" y="2423609"/>
              <a:ext cx="1255200" cy="1576699"/>
            </a:xfrm>
            <a:prstGeom prst="line">
              <a:avLst/>
            </a:prstGeom>
            <a:ln w="36000">
              <a:solidFill>
                <a:srgbClr val="00CCCC"/>
              </a:solidFill>
              <a:round/>
            </a:ln>
          </p:spPr>
        </p:sp>
        <mc:AlternateContent xmlns:mc="http://schemas.openxmlformats.org/markup-compatibility/2006" xmlns:a14="http://schemas.microsoft.com/office/drawing/2010/main">
          <mc:Choice Requires="a14">
            <p:sp>
              <p:nvSpPr>
                <p:cNvPr id="26" name="TextBox 25"/>
                <p:cNvSpPr txBox="1"/>
                <p:nvPr/>
              </p:nvSpPr>
              <p:spPr>
                <a:xfrm>
                  <a:off x="609601" y="4038600"/>
                  <a:ext cx="3872041" cy="307777"/>
                </a:xfrm>
                <a:prstGeom prst="rect">
                  <a:avLst/>
                </a:prstGeom>
                <a:noFill/>
              </p:spPr>
              <p:txBody>
                <a:bodyPr wrap="square" rtlCol="0">
                  <a:spAutoFit/>
                </a:bodyPr>
                <a:lstStyle/>
                <a:p>
                  <a:pPr algn="ctr"/>
                  <a14:m>
                    <m:oMath xmlns:m="http://schemas.openxmlformats.org/officeDocument/2006/math">
                      <m:r>
                        <a:rPr lang="en-US" sz="1400" b="0" i="1" smtClean="0">
                          <a:latin typeface="Cambria Math"/>
                        </a:rPr>
                        <m:t>𝐼𝐶</m:t>
                      </m:r>
                      <m:r>
                        <a:rPr lang="en-US" sz="1400" b="0" i="1" smtClean="0">
                          <a:latin typeface="Cambria Math"/>
                        </a:rPr>
                        <m:t>, </m:t>
                      </m:r>
                      <m:r>
                        <a:rPr lang="en-US" sz="1400" i="1" smtClean="0">
                          <a:latin typeface="Cambria Math"/>
                        </a:rPr>
                        <m:t>𝑑</m:t>
                      </m:r>
                    </m:oMath>
                  </a14:m>
                  <a:r>
                    <a:rPr lang="en-US" sz="1400" dirty="0" smtClean="0"/>
                    <a:t>,</a:t>
                  </a:r>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i="1">
                              <a:latin typeface="Cambria Math"/>
                              <a:ea typeface="Cambria Math"/>
                            </a:rPr>
                            <m:t>𝜇</m:t>
                          </m:r>
                        </m:e>
                        <m:sub>
                          <m:r>
                            <a:rPr lang="en-US" sz="1400" b="0" i="1" smtClean="0">
                              <a:latin typeface="Cambria Math"/>
                              <a:ea typeface="Cambria Math"/>
                            </a:rPr>
                            <m:t>𝑆𝑇</m:t>
                          </m:r>
                        </m:sub>
                        <m:sup/>
                      </m:sSubSup>
                    </m:oMath>
                  </a14:m>
                  <a:r>
                    <a:rPr lang="en-US" sz="1400" dirty="0" smtClean="0"/>
                    <a:t>,</a:t>
                  </a:r>
                  <a14:m>
                    <m:oMath xmlns:m="http://schemas.openxmlformats.org/officeDocument/2006/math">
                      <m:sSubSup>
                        <m:sSubSupPr>
                          <m:ctrlPr>
                            <a:rPr lang="en-US" sz="1400" i="1">
                              <a:latin typeface="Cambria Math"/>
                              <a:ea typeface="Cambria Math"/>
                            </a:rPr>
                          </m:ctrlPr>
                        </m:sSubSupPr>
                        <m:e>
                          <m:r>
                            <a:rPr lang="en-US" sz="1400" i="1">
                              <a:latin typeface="Cambria Math"/>
                              <a:ea typeface="Cambria Math"/>
                            </a:rPr>
                            <m:t>𝜇</m:t>
                          </m:r>
                        </m:e>
                        <m:sub>
                          <m:r>
                            <a:rPr lang="en-US" sz="1400" b="0" i="1" smtClean="0">
                              <a:latin typeface="Cambria Math"/>
                              <a:ea typeface="Cambria Math"/>
                            </a:rPr>
                            <m:t>𝐺𝑆𝑅</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i="1">
                              <a:latin typeface="Cambria Math"/>
                              <a:ea typeface="Cambria Math"/>
                            </a:rPr>
                            <m:t>𝜇</m:t>
                          </m:r>
                        </m:e>
                        <m:sub>
                          <m:r>
                            <a:rPr lang="en-US" sz="1400" b="0" i="1" smtClean="0">
                              <a:latin typeface="Cambria Math"/>
                              <a:ea typeface="Cambria Math"/>
                            </a:rPr>
                            <m:t>𝑉𝑀</m:t>
                          </m:r>
                        </m:sub>
                        <m:sup/>
                      </m:sSubSup>
                      <m:sSubSup>
                        <m:sSubSupPr>
                          <m:ctrlPr>
                            <a:rPr lang="en-US" sz="1400" i="1">
                              <a:latin typeface="Cambria Math"/>
                              <a:ea typeface="Cambria Math"/>
                            </a:rPr>
                          </m:ctrlPr>
                        </m:sSubSupPr>
                        <m:e>
                          <m:r>
                            <a:rPr lang="en-US" sz="1400" b="0" i="1" smtClean="0">
                              <a:latin typeface="Cambria Math"/>
                              <a:ea typeface="Cambria Math"/>
                            </a:rPr>
                            <m:t>, </m:t>
                          </m:r>
                          <m:r>
                            <a:rPr lang="en-US" sz="1400" i="1">
                              <a:latin typeface="Cambria Math"/>
                              <a:ea typeface="Cambria Math"/>
                            </a:rPr>
                            <m:t>𝜇</m:t>
                          </m:r>
                        </m:e>
                        <m:sub>
                          <m:r>
                            <a:rPr lang="en-US" sz="1400" b="0" i="1" smtClean="0">
                              <a:latin typeface="Cambria Math"/>
                              <a:ea typeface="Cambria Math"/>
                            </a:rPr>
                            <m:t>𝑆𝐶</m:t>
                          </m:r>
                        </m:sub>
                        <m:sup/>
                      </m:sSubSup>
                    </m:oMath>
                  </a14:m>
                  <a:endParaRPr lang="en-US" sz="1400" dirty="0"/>
                </a:p>
              </p:txBody>
            </p:sp>
          </mc:Choice>
          <mc:Fallback xmlns="">
            <p:sp>
              <p:nvSpPr>
                <p:cNvPr id="28" name="TextBox 27"/>
                <p:cNvSpPr txBox="1">
                  <a:spLocks noRot="1" noChangeAspect="1" noMove="1" noResize="1" noEditPoints="1" noAdjustHandles="1" noChangeArrowheads="1" noChangeShapeType="1" noTextEdit="1"/>
                </p:cNvSpPr>
                <p:nvPr/>
              </p:nvSpPr>
              <p:spPr>
                <a:xfrm>
                  <a:off x="609601" y="4038600"/>
                  <a:ext cx="3872041" cy="307777"/>
                </a:xfrm>
                <a:prstGeom prst="rect">
                  <a:avLst/>
                </a:prstGeom>
                <a:blipFill rotWithShape="1">
                  <a:blip r:embed="rId3"/>
                  <a:stretch>
                    <a:fillRect t="-1961" b="-17647"/>
                  </a:stretch>
                </a:blipFill>
              </p:spPr>
              <p:txBody>
                <a:bodyPr/>
                <a:lstStyle/>
                <a:p>
                  <a:r>
                    <a:rPr lang="en-US">
                      <a:noFill/>
                    </a:rPr>
                    <a:t> </a:t>
                  </a:r>
                </a:p>
              </p:txBody>
            </p:sp>
          </mc:Fallback>
        </mc:AlternateContent>
      </p:grpSp>
    </p:spTree>
    <p:extLst>
      <p:ext uri="{BB962C8B-B14F-4D97-AF65-F5344CB8AC3E}">
        <p14:creationId xmlns:p14="http://schemas.microsoft.com/office/powerpoint/2010/main" val="28630437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981200" y="71015"/>
            <a:ext cx="5450400" cy="5720377"/>
            <a:chOff x="1981200" y="71015"/>
            <a:chExt cx="5450400" cy="5720377"/>
          </a:xfrm>
        </p:grpSpPr>
        <p:pic>
          <p:nvPicPr>
            <p:cNvPr id="5" name="Picture 4"/>
            <p:cNvPicPr/>
            <p:nvPr/>
          </p:nvPicPr>
          <p:blipFill>
            <a:blip r:embed="rId2"/>
            <a:stretch>
              <a:fillRect/>
            </a:stretch>
          </p:blipFill>
          <p:spPr>
            <a:xfrm>
              <a:off x="1981200" y="71015"/>
              <a:ext cx="5333400" cy="3998520"/>
            </a:xfrm>
            <a:prstGeom prst="rect">
              <a:avLst/>
            </a:prstGeom>
          </p:spPr>
        </p:pic>
        <p:pic>
          <p:nvPicPr>
            <p:cNvPr id="3" name="Picture 2"/>
            <p:cNvPicPr/>
            <p:nvPr/>
          </p:nvPicPr>
          <p:blipFill>
            <a:blip r:embed="rId2"/>
            <a:stretch>
              <a:fillRect/>
            </a:stretch>
          </p:blipFill>
          <p:spPr>
            <a:xfrm>
              <a:off x="1981200" y="76200"/>
              <a:ext cx="5333400" cy="3998520"/>
            </a:xfrm>
            <a:prstGeom prst="rect">
              <a:avLst/>
            </a:prstGeom>
          </p:spPr>
        </p:pic>
        <p:sp>
          <p:nvSpPr>
            <p:cNvPr id="4" name="CustomShape 6"/>
            <p:cNvSpPr/>
            <p:nvPr/>
          </p:nvSpPr>
          <p:spPr>
            <a:xfrm>
              <a:off x="2096040" y="4074998"/>
              <a:ext cx="406780" cy="419292"/>
            </a:xfrm>
            <a:prstGeom prst="roundRect">
              <a:avLst>
                <a:gd name="adj" fmla="val 3600"/>
              </a:avLst>
            </a:prstGeom>
            <a:ln w="36000">
              <a:solidFill>
                <a:srgbClr val="2323DC"/>
              </a:solidFill>
              <a:round/>
            </a:ln>
          </p:spPr>
        </p:sp>
        <p:sp>
          <p:nvSpPr>
            <p:cNvPr id="6" name="Line 7"/>
            <p:cNvSpPr/>
            <p:nvPr/>
          </p:nvSpPr>
          <p:spPr>
            <a:xfrm flipH="1">
              <a:off x="2502818" y="3276600"/>
              <a:ext cx="1208365" cy="807109"/>
            </a:xfrm>
            <a:prstGeom prst="line">
              <a:avLst/>
            </a:prstGeom>
            <a:ln w="36000">
              <a:solidFill>
                <a:srgbClr val="2300DC"/>
              </a:solidFill>
              <a:round/>
            </a:ln>
          </p:spPr>
        </p:sp>
        <p:sp>
          <p:nvSpPr>
            <p:cNvPr id="7" name="Line 8"/>
            <p:cNvSpPr/>
            <p:nvPr/>
          </p:nvSpPr>
          <p:spPr>
            <a:xfrm flipH="1">
              <a:off x="2106897" y="3276600"/>
              <a:ext cx="1604286" cy="798399"/>
            </a:xfrm>
            <a:prstGeom prst="line">
              <a:avLst/>
            </a:prstGeom>
            <a:ln w="36000">
              <a:solidFill>
                <a:srgbClr val="2300DC"/>
              </a:solidFill>
              <a:round/>
            </a:ln>
          </p:spPr>
        </p:sp>
        <p:sp>
          <p:nvSpPr>
            <p:cNvPr id="8" name="Line 9"/>
            <p:cNvSpPr/>
            <p:nvPr/>
          </p:nvSpPr>
          <p:spPr>
            <a:xfrm flipH="1">
              <a:off x="2502818" y="3276600"/>
              <a:ext cx="1208367" cy="1217690"/>
            </a:xfrm>
            <a:prstGeom prst="line">
              <a:avLst/>
            </a:prstGeom>
            <a:ln w="36000">
              <a:solidFill>
                <a:srgbClr val="2300DC"/>
              </a:solidFill>
              <a:round/>
            </a:ln>
          </p:spPr>
        </p:sp>
        <p:sp>
          <p:nvSpPr>
            <p:cNvPr id="9" name="Line 19"/>
            <p:cNvSpPr/>
            <p:nvPr/>
          </p:nvSpPr>
          <p:spPr>
            <a:xfrm flipH="1">
              <a:off x="2096038" y="3276600"/>
              <a:ext cx="1615148" cy="1217691"/>
            </a:xfrm>
            <a:prstGeom prst="line">
              <a:avLst/>
            </a:prstGeom>
            <a:ln>
              <a:solidFill>
                <a:srgbClr val="2300DC"/>
              </a:solidFill>
              <a:custDash>
                <a:ds d="508000" sp="508000"/>
                <a:ds d="508000" sp="508000"/>
              </a:custDash>
            </a:ln>
          </p:spPr>
        </p:sp>
        <p:sp>
          <p:nvSpPr>
            <p:cNvPr id="10" name="CustomShape 20"/>
            <p:cNvSpPr/>
            <p:nvPr/>
          </p:nvSpPr>
          <p:spPr>
            <a:xfrm>
              <a:off x="7024819" y="4083708"/>
              <a:ext cx="406780" cy="419292"/>
            </a:xfrm>
            <a:prstGeom prst="roundRect">
              <a:avLst>
                <a:gd name="adj" fmla="val 3600"/>
              </a:avLst>
            </a:prstGeom>
            <a:ln w="36000">
              <a:solidFill>
                <a:srgbClr val="FF420E"/>
              </a:solidFill>
              <a:round/>
            </a:ln>
          </p:spPr>
        </p:sp>
        <p:sp>
          <p:nvSpPr>
            <p:cNvPr id="11" name="Line 21"/>
            <p:cNvSpPr/>
            <p:nvPr/>
          </p:nvSpPr>
          <p:spPr>
            <a:xfrm>
              <a:off x="3962400" y="990600"/>
              <a:ext cx="3469199" cy="3101818"/>
            </a:xfrm>
            <a:prstGeom prst="line">
              <a:avLst/>
            </a:prstGeom>
            <a:ln w="36000">
              <a:solidFill>
                <a:srgbClr val="FF420E"/>
              </a:solidFill>
              <a:round/>
            </a:ln>
          </p:spPr>
        </p:sp>
        <p:sp>
          <p:nvSpPr>
            <p:cNvPr id="12" name="Line 22"/>
            <p:cNvSpPr/>
            <p:nvPr/>
          </p:nvSpPr>
          <p:spPr>
            <a:xfrm>
              <a:off x="3962400" y="990600"/>
              <a:ext cx="3062419" cy="3093108"/>
            </a:xfrm>
            <a:prstGeom prst="line">
              <a:avLst/>
            </a:prstGeom>
            <a:ln w="36000">
              <a:solidFill>
                <a:srgbClr val="FF420E"/>
              </a:solidFill>
              <a:round/>
            </a:ln>
          </p:spPr>
        </p:sp>
        <p:sp>
          <p:nvSpPr>
            <p:cNvPr id="13" name="Line 23"/>
            <p:cNvSpPr/>
            <p:nvPr/>
          </p:nvSpPr>
          <p:spPr>
            <a:xfrm>
              <a:off x="3962400" y="990600"/>
              <a:ext cx="3469200" cy="3512400"/>
            </a:xfrm>
            <a:prstGeom prst="line">
              <a:avLst/>
            </a:prstGeom>
            <a:ln>
              <a:solidFill>
                <a:srgbClr val="FF420E"/>
              </a:solidFill>
              <a:prstDash val="dash"/>
            </a:ln>
          </p:spPr>
        </p:sp>
        <p:sp>
          <p:nvSpPr>
            <p:cNvPr id="14" name="Line 24"/>
            <p:cNvSpPr/>
            <p:nvPr/>
          </p:nvSpPr>
          <p:spPr>
            <a:xfrm>
              <a:off x="3962400" y="990600"/>
              <a:ext cx="3062420" cy="3512400"/>
            </a:xfrm>
            <a:prstGeom prst="line">
              <a:avLst/>
            </a:prstGeom>
            <a:ln w="36000">
              <a:solidFill>
                <a:srgbClr val="FF420E"/>
              </a:solidFill>
              <a:round/>
            </a:ln>
          </p:spPr>
        </p:sp>
        <p:sp>
          <p:nvSpPr>
            <p:cNvPr id="15" name="Line 14"/>
            <p:cNvSpPr/>
            <p:nvPr/>
          </p:nvSpPr>
          <p:spPr>
            <a:xfrm>
              <a:off x="3962400" y="1759801"/>
              <a:ext cx="2534200" cy="2323907"/>
            </a:xfrm>
            <a:prstGeom prst="line">
              <a:avLst/>
            </a:prstGeom>
            <a:ln w="36000">
              <a:solidFill>
                <a:srgbClr val="E6FF00"/>
              </a:solidFill>
              <a:round/>
            </a:ln>
          </p:spPr>
        </p:sp>
        <p:sp>
          <p:nvSpPr>
            <p:cNvPr id="16" name="Line 15"/>
            <p:cNvSpPr/>
            <p:nvPr/>
          </p:nvSpPr>
          <p:spPr>
            <a:xfrm>
              <a:off x="3962400" y="1759801"/>
              <a:ext cx="2931141" cy="2743199"/>
            </a:xfrm>
            <a:prstGeom prst="line">
              <a:avLst/>
            </a:prstGeom>
            <a:ln>
              <a:solidFill>
                <a:srgbClr val="E6FF00"/>
              </a:solidFill>
              <a:prstDash val="dash"/>
            </a:ln>
          </p:spPr>
        </p:sp>
        <p:sp>
          <p:nvSpPr>
            <p:cNvPr id="17" name="Line 16"/>
            <p:cNvSpPr/>
            <p:nvPr/>
          </p:nvSpPr>
          <p:spPr>
            <a:xfrm>
              <a:off x="3962400" y="1759801"/>
              <a:ext cx="2534200" cy="2743199"/>
            </a:xfrm>
            <a:prstGeom prst="line">
              <a:avLst/>
            </a:prstGeom>
            <a:ln w="36000">
              <a:solidFill>
                <a:srgbClr val="E6FF00"/>
              </a:solidFill>
              <a:round/>
            </a:ln>
          </p:spPr>
        </p:sp>
        <p:sp>
          <p:nvSpPr>
            <p:cNvPr id="18" name="Line 13"/>
            <p:cNvSpPr/>
            <p:nvPr/>
          </p:nvSpPr>
          <p:spPr>
            <a:xfrm>
              <a:off x="3962400" y="1759801"/>
              <a:ext cx="2940980" cy="2332792"/>
            </a:xfrm>
            <a:prstGeom prst="line">
              <a:avLst/>
            </a:prstGeom>
            <a:ln w="36000">
              <a:solidFill>
                <a:srgbClr val="E6FF00"/>
              </a:solidFill>
              <a:round/>
            </a:ln>
          </p:spPr>
        </p:sp>
        <p:sp>
          <p:nvSpPr>
            <p:cNvPr id="19" name="CustomShape 12"/>
            <p:cNvSpPr/>
            <p:nvPr/>
          </p:nvSpPr>
          <p:spPr>
            <a:xfrm>
              <a:off x="6496600" y="4083708"/>
              <a:ext cx="406780" cy="419292"/>
            </a:xfrm>
            <a:prstGeom prst="roundRect">
              <a:avLst>
                <a:gd name="adj" fmla="val 3600"/>
              </a:avLst>
            </a:prstGeom>
            <a:ln w="36000">
              <a:solidFill>
                <a:srgbClr val="E6FF00"/>
              </a:solidFill>
              <a:round/>
            </a:ln>
          </p:spPr>
        </p:sp>
        <p:grpSp>
          <p:nvGrpSpPr>
            <p:cNvPr id="20" name="Group 19"/>
            <p:cNvGrpSpPr/>
            <p:nvPr/>
          </p:nvGrpSpPr>
          <p:grpSpPr>
            <a:xfrm>
              <a:off x="2554800" y="2507009"/>
              <a:ext cx="3872043" cy="1987281"/>
              <a:chOff x="609600" y="2423609"/>
              <a:chExt cx="3872043" cy="1987281"/>
            </a:xfrm>
          </p:grpSpPr>
          <p:sp>
            <p:nvSpPr>
              <p:cNvPr id="21" name="Line 10"/>
              <p:cNvSpPr/>
              <p:nvPr/>
            </p:nvSpPr>
            <p:spPr>
              <a:xfrm>
                <a:off x="1864801" y="2433058"/>
                <a:ext cx="2616842" cy="1977832"/>
              </a:xfrm>
              <a:prstGeom prst="line">
                <a:avLst/>
              </a:prstGeom>
              <a:ln>
                <a:solidFill>
                  <a:srgbClr val="00CCCC"/>
                </a:solidFill>
                <a:custDash>
                  <a:ds d="508000" sp="508000"/>
                  <a:ds d="508000" sp="508000"/>
                </a:custDash>
              </a:ln>
            </p:spPr>
          </p:sp>
          <p:sp>
            <p:nvSpPr>
              <p:cNvPr id="22" name="Line 11"/>
              <p:cNvSpPr/>
              <p:nvPr/>
            </p:nvSpPr>
            <p:spPr>
              <a:xfrm flipH="1">
                <a:off x="609601" y="2433058"/>
                <a:ext cx="1255199" cy="1977832"/>
              </a:xfrm>
              <a:prstGeom prst="line">
                <a:avLst/>
              </a:prstGeom>
              <a:ln>
                <a:solidFill>
                  <a:srgbClr val="00CCCC"/>
                </a:solidFill>
                <a:custDash>
                  <a:ds d="508000" sp="508000"/>
                  <a:ds d="508000" sp="508000"/>
                </a:custDash>
              </a:ln>
            </p:spPr>
          </p:sp>
          <p:sp>
            <p:nvSpPr>
              <p:cNvPr id="23" name="CustomShape 17"/>
              <p:cNvSpPr/>
              <p:nvPr/>
            </p:nvSpPr>
            <p:spPr>
              <a:xfrm>
                <a:off x="609601" y="3991598"/>
                <a:ext cx="3872041" cy="419292"/>
              </a:xfrm>
              <a:prstGeom prst="roundRect">
                <a:avLst>
                  <a:gd name="adj" fmla="val 3600"/>
                </a:avLst>
              </a:prstGeom>
              <a:ln w="36000">
                <a:solidFill>
                  <a:srgbClr val="00CCCC"/>
                </a:solidFill>
                <a:round/>
              </a:ln>
            </p:spPr>
          </p:sp>
          <p:sp>
            <p:nvSpPr>
              <p:cNvPr id="24" name="Line 18"/>
              <p:cNvSpPr/>
              <p:nvPr/>
            </p:nvSpPr>
            <p:spPr>
              <a:xfrm>
                <a:off x="1864801" y="2433058"/>
                <a:ext cx="2616842" cy="1567250"/>
              </a:xfrm>
              <a:prstGeom prst="line">
                <a:avLst/>
              </a:prstGeom>
              <a:ln w="36000">
                <a:solidFill>
                  <a:srgbClr val="00CCCC"/>
                </a:solidFill>
                <a:round/>
              </a:ln>
            </p:spPr>
          </p:sp>
          <p:sp>
            <p:nvSpPr>
              <p:cNvPr id="25" name="Line 5"/>
              <p:cNvSpPr/>
              <p:nvPr/>
            </p:nvSpPr>
            <p:spPr>
              <a:xfrm flipH="1">
                <a:off x="609600" y="2423609"/>
                <a:ext cx="1255200" cy="1576699"/>
              </a:xfrm>
              <a:prstGeom prst="line">
                <a:avLst/>
              </a:prstGeom>
              <a:ln w="36000">
                <a:solidFill>
                  <a:srgbClr val="00CCCC"/>
                </a:solidFill>
                <a:round/>
              </a:ln>
            </p:spPr>
          </p:sp>
          <mc:AlternateContent xmlns:mc="http://schemas.openxmlformats.org/markup-compatibility/2006" xmlns:a14="http://schemas.microsoft.com/office/drawing/2010/main">
            <mc:Choice Requires="a14">
              <p:sp>
                <p:nvSpPr>
                  <p:cNvPr id="26" name="TextBox 25"/>
                  <p:cNvSpPr txBox="1"/>
                  <p:nvPr/>
                </p:nvSpPr>
                <p:spPr>
                  <a:xfrm>
                    <a:off x="609601" y="4038600"/>
                    <a:ext cx="3872041" cy="307777"/>
                  </a:xfrm>
                  <a:prstGeom prst="rect">
                    <a:avLst/>
                  </a:prstGeom>
                  <a:noFill/>
                </p:spPr>
                <p:txBody>
                  <a:bodyPr wrap="square" rtlCol="0">
                    <a:spAutoFit/>
                  </a:bodyPr>
                  <a:lstStyle/>
                  <a:p>
                    <a:pPr algn="ctr"/>
                    <a14:m>
                      <m:oMath xmlns:m="http://schemas.openxmlformats.org/officeDocument/2006/math">
                        <m:r>
                          <a:rPr lang="en-US" sz="1400" b="0" i="1" smtClean="0">
                            <a:latin typeface="Cambria Math"/>
                          </a:rPr>
                          <m:t>𝐼𝐶</m:t>
                        </m:r>
                        <m:r>
                          <a:rPr lang="en-US" sz="1400" b="0" i="1" smtClean="0">
                            <a:latin typeface="Cambria Math"/>
                          </a:rPr>
                          <m:t>, </m:t>
                        </m:r>
                        <m:r>
                          <a:rPr lang="en-US" sz="1400" i="1" smtClean="0">
                            <a:latin typeface="Cambria Math"/>
                          </a:rPr>
                          <m:t>𝑑</m:t>
                        </m:r>
                      </m:oMath>
                    </a14:m>
                    <a:r>
                      <a:rPr lang="en-US" sz="1400" dirty="0" smtClean="0"/>
                      <a:t>,</a:t>
                    </a:r>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i="1">
                                <a:latin typeface="Cambria Math"/>
                                <a:ea typeface="Cambria Math"/>
                              </a:rPr>
                              <m:t>𝜇</m:t>
                            </m:r>
                          </m:e>
                          <m:sub>
                            <m:r>
                              <a:rPr lang="en-US" sz="1400" b="0" i="1" smtClean="0">
                                <a:latin typeface="Cambria Math"/>
                                <a:ea typeface="Cambria Math"/>
                              </a:rPr>
                              <m:t>𝑆𝑇</m:t>
                            </m:r>
                          </m:sub>
                          <m:sup/>
                        </m:sSubSup>
                      </m:oMath>
                    </a14:m>
                    <a:r>
                      <a:rPr lang="en-US" sz="1400" dirty="0" smtClean="0"/>
                      <a:t>,</a:t>
                    </a:r>
                    <a14:m>
                      <m:oMath xmlns:m="http://schemas.openxmlformats.org/officeDocument/2006/math">
                        <m:sSubSup>
                          <m:sSubSupPr>
                            <m:ctrlPr>
                              <a:rPr lang="en-US" sz="1400" i="1">
                                <a:latin typeface="Cambria Math"/>
                                <a:ea typeface="Cambria Math"/>
                              </a:rPr>
                            </m:ctrlPr>
                          </m:sSubSupPr>
                          <m:e>
                            <m:r>
                              <a:rPr lang="en-US" sz="1400" i="1">
                                <a:latin typeface="Cambria Math"/>
                                <a:ea typeface="Cambria Math"/>
                              </a:rPr>
                              <m:t>𝜇</m:t>
                            </m:r>
                          </m:e>
                          <m:sub>
                            <m:r>
                              <a:rPr lang="en-US" sz="1400" b="0" i="1" smtClean="0">
                                <a:latin typeface="Cambria Math"/>
                                <a:ea typeface="Cambria Math"/>
                              </a:rPr>
                              <m:t>𝐺𝑆𝑅</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i="1">
                                <a:latin typeface="Cambria Math"/>
                                <a:ea typeface="Cambria Math"/>
                              </a:rPr>
                              <m:t>𝜇</m:t>
                            </m:r>
                          </m:e>
                          <m:sub>
                            <m:r>
                              <a:rPr lang="en-US" sz="1400" b="0" i="1" smtClean="0">
                                <a:latin typeface="Cambria Math"/>
                                <a:ea typeface="Cambria Math"/>
                              </a:rPr>
                              <m:t>𝑉𝑀</m:t>
                            </m:r>
                          </m:sub>
                          <m:sup/>
                        </m:sSubSup>
                        <m:sSubSup>
                          <m:sSubSupPr>
                            <m:ctrlPr>
                              <a:rPr lang="en-US" sz="1400" i="1">
                                <a:latin typeface="Cambria Math"/>
                                <a:ea typeface="Cambria Math"/>
                              </a:rPr>
                            </m:ctrlPr>
                          </m:sSubSupPr>
                          <m:e>
                            <m:r>
                              <a:rPr lang="en-US" sz="1400" b="0" i="1" smtClean="0">
                                <a:latin typeface="Cambria Math"/>
                                <a:ea typeface="Cambria Math"/>
                              </a:rPr>
                              <m:t>, </m:t>
                            </m:r>
                            <m:r>
                              <a:rPr lang="en-US" sz="1400" i="1">
                                <a:latin typeface="Cambria Math"/>
                                <a:ea typeface="Cambria Math"/>
                              </a:rPr>
                              <m:t>𝜇</m:t>
                            </m:r>
                          </m:e>
                          <m:sub>
                            <m:r>
                              <a:rPr lang="en-US" sz="1400" b="0" i="1" smtClean="0">
                                <a:latin typeface="Cambria Math"/>
                                <a:ea typeface="Cambria Math"/>
                              </a:rPr>
                              <m:t>𝑆𝐶</m:t>
                            </m:r>
                          </m:sub>
                          <m:sup/>
                        </m:sSubSup>
                      </m:oMath>
                    </a14:m>
                    <a:endParaRPr lang="en-US" sz="1400" dirty="0"/>
                  </a:p>
                </p:txBody>
              </p:sp>
            </mc:Choice>
            <mc:Fallback xmlns="">
              <p:sp>
                <p:nvSpPr>
                  <p:cNvPr id="28" name="TextBox 27"/>
                  <p:cNvSpPr txBox="1">
                    <a:spLocks noRot="1" noChangeAspect="1" noMove="1" noResize="1" noEditPoints="1" noAdjustHandles="1" noChangeArrowheads="1" noChangeShapeType="1" noTextEdit="1"/>
                  </p:cNvSpPr>
                  <p:nvPr/>
                </p:nvSpPr>
                <p:spPr>
                  <a:xfrm>
                    <a:off x="609601" y="4038600"/>
                    <a:ext cx="3872041" cy="307777"/>
                  </a:xfrm>
                  <a:prstGeom prst="rect">
                    <a:avLst/>
                  </a:prstGeom>
                  <a:blipFill rotWithShape="1">
                    <a:blip r:embed="rId3"/>
                    <a:stretch>
                      <a:fillRect t="-1961" b="-17647"/>
                    </a:stretch>
                  </a:blipFill>
                </p:spPr>
                <p:txBody>
                  <a:bodyPr/>
                  <a:lstStyle/>
                  <a:p>
                    <a:r>
                      <a:rPr lang="en-US">
                        <a:noFill/>
                      </a:rPr>
                      <a:t> </a:t>
                    </a:r>
                  </a:p>
                </p:txBody>
              </p:sp>
            </mc:Fallback>
          </mc:AlternateContent>
        </p:grpSp>
        <p:sp>
          <p:nvSpPr>
            <p:cNvPr id="27" name="Rectangle 26"/>
            <p:cNvSpPr/>
            <p:nvPr/>
          </p:nvSpPr>
          <p:spPr>
            <a:xfrm>
              <a:off x="3462121" y="4762500"/>
              <a:ext cx="2057400" cy="381000"/>
            </a:xfrm>
            <a:prstGeom prst="rect">
              <a:avLst/>
            </a:prstGeom>
            <a:no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Feature selection</a:t>
              </a:r>
              <a:endParaRPr lang="en-US" dirty="0">
                <a:solidFill>
                  <a:srgbClr val="000000"/>
                </a:solidFill>
              </a:endParaRPr>
            </a:p>
          </p:txBody>
        </p:sp>
        <p:sp>
          <p:nvSpPr>
            <p:cNvPr id="28" name="CustomShape 17"/>
            <p:cNvSpPr/>
            <p:nvPr/>
          </p:nvSpPr>
          <p:spPr>
            <a:xfrm>
              <a:off x="3462122" y="5372100"/>
              <a:ext cx="2057400" cy="419292"/>
            </a:xfrm>
            <a:prstGeom prst="roundRect">
              <a:avLst>
                <a:gd name="adj" fmla="val 3600"/>
              </a:avLst>
            </a:prstGeom>
            <a:ln w="36000">
              <a:solidFill>
                <a:srgbClr val="00CCCC"/>
              </a:solidFill>
              <a:round/>
            </a:ln>
          </p:spPr>
        </p:sp>
        <mc:AlternateContent xmlns:mc="http://schemas.openxmlformats.org/markup-compatibility/2006" xmlns:a14="http://schemas.microsoft.com/office/drawing/2010/main">
          <mc:Choice Requires="a14">
            <p:sp>
              <p:nvSpPr>
                <p:cNvPr id="29" name="TextBox 28"/>
                <p:cNvSpPr txBox="1"/>
                <p:nvPr/>
              </p:nvSpPr>
              <p:spPr>
                <a:xfrm>
                  <a:off x="3462121" y="5420740"/>
                  <a:ext cx="2057400" cy="312778"/>
                </a:xfrm>
                <a:prstGeom prst="rect">
                  <a:avLst/>
                </a:prstGeom>
                <a:noFill/>
              </p:spPr>
              <p:txBody>
                <a:bodyPr wrap="square" rtlCol="0">
                  <a:spAutoFit/>
                </a:bodyPr>
                <a:lstStyle/>
                <a:p>
                  <a:pPr algn="ctr"/>
                  <a14:m>
                    <m:oMath xmlns:m="http://schemas.openxmlformats.org/officeDocument/2006/math">
                      <m:r>
                        <a:rPr lang="en-US" sz="1400" b="0" i="1" smtClean="0">
                          <a:latin typeface="Cambria Math"/>
                        </a:rPr>
                        <m:t>𝐼𝐶</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29" name="TextBox 28"/>
                <p:cNvSpPr txBox="1">
                  <a:spLocks noRot="1" noChangeAspect="1" noMove="1" noResize="1" noEditPoints="1" noAdjustHandles="1" noChangeArrowheads="1" noChangeShapeType="1" noTextEdit="1"/>
                </p:cNvSpPr>
                <p:nvPr/>
              </p:nvSpPr>
              <p:spPr>
                <a:xfrm>
                  <a:off x="3462121" y="5420740"/>
                  <a:ext cx="2057400" cy="312778"/>
                </a:xfrm>
                <a:prstGeom prst="rect">
                  <a:avLst/>
                </a:prstGeom>
                <a:blipFill rotWithShape="1">
                  <a:blip r:embed="rId4"/>
                  <a:stretch>
                    <a:fillRect t="-1923" b="-15385"/>
                  </a:stretch>
                </a:blipFill>
              </p:spPr>
              <p:txBody>
                <a:bodyPr/>
                <a:lstStyle/>
                <a:p>
                  <a:r>
                    <a:rPr lang="en-US">
                      <a:noFill/>
                    </a:rPr>
                    <a:t> </a:t>
                  </a:r>
                </a:p>
              </p:txBody>
            </p:sp>
          </mc:Fallback>
        </mc:AlternateContent>
        <p:cxnSp>
          <p:nvCxnSpPr>
            <p:cNvPr id="30" name="Straight Arrow Connector 29"/>
            <p:cNvCxnSpPr>
              <a:endCxn id="27" idx="0"/>
            </p:cNvCxnSpPr>
            <p:nvPr/>
          </p:nvCxnSpPr>
          <p:spPr>
            <a:xfrm>
              <a:off x="4483743" y="4525190"/>
              <a:ext cx="7078" cy="23731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27" idx="2"/>
              <a:endCxn id="28" idx="0"/>
            </p:cNvCxnSpPr>
            <p:nvPr/>
          </p:nvCxnSpPr>
          <p:spPr>
            <a:xfrm>
              <a:off x="4490821" y="5143500"/>
              <a:ext cx="1" cy="22860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336969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6911905" y="4562297"/>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5" name="TextBox 4"/>
              <p:cNvSpPr txBox="1">
                <a:spLocks noRot="1" noChangeAspect="1" noMove="1" noResize="1" noEditPoints="1" noAdjustHandles="1" noChangeArrowheads="1" noChangeShapeType="1" noTextEdit="1"/>
              </p:cNvSpPr>
              <p:nvPr/>
            </p:nvSpPr>
            <p:spPr>
              <a:xfrm>
                <a:off x="6911905" y="4562297"/>
                <a:ext cx="2057400" cy="312778"/>
              </a:xfrm>
              <a:prstGeom prst="rect">
                <a:avLst/>
              </a:prstGeom>
              <a:blipFill rotWithShape="1">
                <a:blip r:embed="rId2"/>
                <a:stretch>
                  <a:fillRect b="-10714"/>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6925760" y="5021222"/>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6" name="TextBox 5"/>
              <p:cNvSpPr txBox="1">
                <a:spLocks noRot="1" noChangeAspect="1" noMove="1" noResize="1" noEditPoints="1" noAdjustHandles="1" noChangeArrowheads="1" noChangeShapeType="1" noTextEdit="1"/>
              </p:cNvSpPr>
              <p:nvPr/>
            </p:nvSpPr>
            <p:spPr>
              <a:xfrm>
                <a:off x="6925760" y="5021222"/>
                <a:ext cx="2057400" cy="312778"/>
              </a:xfrm>
              <a:prstGeom prst="rect">
                <a:avLst/>
              </a:prstGeom>
              <a:blipFill rotWithShape="1">
                <a:blip r:embed="rId3"/>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925760" y="4094557"/>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7" name="TextBox 6"/>
              <p:cNvSpPr txBox="1">
                <a:spLocks noRot="1" noChangeAspect="1" noMove="1" noResize="1" noEditPoints="1" noAdjustHandles="1" noChangeArrowheads="1" noChangeShapeType="1" noTextEdit="1"/>
              </p:cNvSpPr>
              <p:nvPr/>
            </p:nvSpPr>
            <p:spPr>
              <a:xfrm>
                <a:off x="6925760" y="4094557"/>
                <a:ext cx="2057400" cy="312778"/>
              </a:xfrm>
              <a:prstGeom prst="rect">
                <a:avLst/>
              </a:prstGeom>
              <a:blipFill rotWithShape="1">
                <a:blip r:embed="rId3"/>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911905" y="2753740"/>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8" name="TextBox 7"/>
              <p:cNvSpPr txBox="1">
                <a:spLocks noRot="1" noChangeAspect="1" noMove="1" noResize="1" noEditPoints="1" noAdjustHandles="1" noChangeArrowheads="1" noChangeShapeType="1" noTextEdit="1"/>
              </p:cNvSpPr>
              <p:nvPr/>
            </p:nvSpPr>
            <p:spPr>
              <a:xfrm>
                <a:off x="6911905" y="2753740"/>
                <a:ext cx="2057400" cy="312778"/>
              </a:xfrm>
              <a:prstGeom prst="rect">
                <a:avLst/>
              </a:prstGeom>
              <a:blipFill rotWithShape="1">
                <a:blip r:embed="rId4"/>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6925760" y="3212665"/>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9" name="TextBox 8"/>
              <p:cNvSpPr txBox="1">
                <a:spLocks noRot="1" noChangeAspect="1" noMove="1" noResize="1" noEditPoints="1" noAdjustHandles="1" noChangeArrowheads="1" noChangeShapeType="1" noTextEdit="1"/>
              </p:cNvSpPr>
              <p:nvPr/>
            </p:nvSpPr>
            <p:spPr>
              <a:xfrm>
                <a:off x="6925760" y="3212665"/>
                <a:ext cx="2057400" cy="312778"/>
              </a:xfrm>
              <a:prstGeom prst="rect">
                <a:avLst/>
              </a:prstGeom>
              <a:blipFill rotWithShape="1">
                <a:blip r:embed="rId5"/>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925760" y="2286000"/>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10" name="TextBox 9"/>
              <p:cNvSpPr txBox="1">
                <a:spLocks noRot="1" noChangeAspect="1" noMove="1" noResize="1" noEditPoints="1" noAdjustHandles="1" noChangeArrowheads="1" noChangeShapeType="1" noTextEdit="1"/>
              </p:cNvSpPr>
              <p:nvPr/>
            </p:nvSpPr>
            <p:spPr>
              <a:xfrm>
                <a:off x="6925760" y="2286000"/>
                <a:ext cx="2057400" cy="312778"/>
              </a:xfrm>
              <a:prstGeom prst="rect">
                <a:avLst/>
              </a:prstGeom>
              <a:blipFill rotWithShape="1">
                <a:blip r:embed="rId5"/>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6925760" y="3676253"/>
                <a:ext cx="2057400" cy="312778"/>
              </a:xfrm>
              <a:prstGeom prst="rect">
                <a:avLst/>
              </a:prstGeom>
              <a:noFill/>
              <a:ln w="22225">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it-IT" sz="1400" b="0" i="1" smtClean="0">
                          <a:latin typeface="Cambria Math"/>
                        </a:rPr>
                        <m:t>….</m:t>
                      </m:r>
                    </m:oMath>
                  </m:oMathPara>
                </a14:m>
                <a:endParaRPr lang="en-US" sz="1400" dirty="0"/>
              </a:p>
            </p:txBody>
          </p:sp>
        </mc:Choice>
        <mc:Fallback xmlns="">
          <p:sp>
            <p:nvSpPr>
              <p:cNvPr id="11" name="TextBox 10"/>
              <p:cNvSpPr txBox="1">
                <a:spLocks noRot="1" noChangeAspect="1" noMove="1" noResize="1" noEditPoints="1" noAdjustHandles="1" noChangeArrowheads="1" noChangeShapeType="1" noTextEdit="1"/>
              </p:cNvSpPr>
              <p:nvPr/>
            </p:nvSpPr>
            <p:spPr>
              <a:xfrm>
                <a:off x="6925760" y="3676253"/>
                <a:ext cx="2057400" cy="312778"/>
              </a:xfrm>
              <a:prstGeom prst="rect">
                <a:avLst/>
              </a:prstGeom>
              <a:blipFill rotWithShape="1">
                <a:blip r:embed="rId6"/>
                <a:stretch>
                  <a:fillRect/>
                </a:stretch>
              </a:blipFill>
              <a:ln w="22225">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038600" y="1143000"/>
                <a:ext cx="4419601" cy="523220"/>
              </a:xfrm>
              <a:prstGeom prst="rect">
                <a:avLst/>
              </a:prstGeom>
              <a:noFill/>
              <a:ln w="22225">
                <a:noFill/>
              </a:ln>
            </p:spPr>
            <p:txBody>
              <a:bodyPr wrap="square" rtlCol="0">
                <a:spAutoFit/>
              </a:bodyPr>
              <a:lstStyle/>
              <a:p>
                <a:r>
                  <a:rPr lang="it-IT" sz="1400" dirty="0" smtClean="0">
                    <a:latin typeface="Cambria Math"/>
                    <a:ea typeface="Cambria Math"/>
                  </a:rPr>
                  <a:t>Sleeping</a:t>
                </a:r>
              </a:p>
              <a:p>
                <a14:m>
                  <m:oMath xmlns:m="http://schemas.openxmlformats.org/officeDocument/2006/math">
                    <m:sSubSup>
                      <m:sSubSupPr>
                        <m:ctrlPr>
                          <a:rPr lang="en-US" sz="1400" i="1" smtClean="0">
                            <a:latin typeface="Cambria Math"/>
                            <a:ea typeface="Cambria Math"/>
                          </a:rPr>
                        </m:ctrlPr>
                      </m:sSubSupPr>
                      <m:e>
                        <m:r>
                          <m:rPr>
                            <m:sty m:val="p"/>
                          </m:rPr>
                          <a:rPr lang="en-US" sz="1400" b="0" i="0" smtClean="0">
                            <a:latin typeface="Cambria Math"/>
                            <a:ea typeface="Cambria Math"/>
                          </a:rPr>
                          <m:t>f</m:t>
                        </m:r>
                      </m:e>
                      <m:sub>
                        <m:r>
                          <a:rPr lang="en-US" sz="1400" b="0" i="0" smtClean="0">
                            <a:latin typeface="Cambria Math"/>
                            <a:ea typeface="Cambria Math"/>
                          </a:rPr>
                          <m:t>1</m:t>
                        </m:r>
                      </m:sub>
                      <m:sup/>
                    </m:sSubSup>
                  </m:oMath>
                </a14:m>
                <a:r>
                  <a:rPr lang="en-US" sz="1400" dirty="0" smtClean="0">
                    <a:latin typeface="Arial Narrow" panose="020B0606020202030204" pitchFamily="34" charset="0"/>
                  </a:rPr>
                  <a:t> = </a:t>
                </a:r>
                <a:r>
                  <a:rPr lang="en-US" sz="1400" dirty="0" smtClean="0">
                    <a:latin typeface="Cambria Math" panose="02040503050406030204" pitchFamily="18" charset="0"/>
                    <a:ea typeface="Cambria Math" panose="02040503050406030204" pitchFamily="18" charset="0"/>
                  </a:rPr>
                  <a:t>duration</a:t>
                </a:r>
                <a14:m>
                  <m:oMath xmlns:m="http://schemas.openxmlformats.org/officeDocument/2006/math">
                    <m:r>
                      <a:rPr lang="it-IT" sz="1400" b="0" i="0" smtClean="0">
                        <a:latin typeface="Cambria Math"/>
                        <a:ea typeface="Cambria Math"/>
                      </a:rPr>
                      <m:t>  </m:t>
                    </m:r>
                    <m:sSubSup>
                      <m:sSubSupPr>
                        <m:ctrlPr>
                          <a:rPr lang="en-US" sz="1400" i="1" smtClean="0">
                            <a:latin typeface="Cambria Math"/>
                            <a:ea typeface="Cambria Math"/>
                          </a:rPr>
                        </m:ctrlPr>
                      </m:sSubSupPr>
                      <m:e>
                        <m:r>
                          <m:rPr>
                            <m:sty m:val="p"/>
                          </m:rPr>
                          <a:rPr lang="en-US" sz="1400" b="0" i="0" smtClean="0">
                            <a:latin typeface="Cambria Math"/>
                            <a:ea typeface="Cambria Math"/>
                          </a:rPr>
                          <m:t>f</m:t>
                        </m:r>
                      </m:e>
                      <m:sub>
                        <m:r>
                          <a:rPr lang="en-US" sz="1400" b="0" i="0" smtClean="0">
                            <a:latin typeface="Cambria Math"/>
                            <a:ea typeface="Cambria Math"/>
                          </a:rPr>
                          <m:t>2</m:t>
                        </m:r>
                      </m:sub>
                      <m:sup/>
                    </m:sSubSup>
                    <m:r>
                      <a:rPr lang="it-IT" sz="1400" b="0" i="0" smtClean="0">
                        <a:latin typeface="Cambria Math"/>
                        <a:ea typeface="Cambria Math"/>
                      </a:rPr>
                      <m:t>=</m:t>
                    </m:r>
                    <m:r>
                      <m:rPr>
                        <m:sty m:val="p"/>
                      </m:rPr>
                      <a:rPr lang="it-IT" sz="1400" b="0" i="0" smtClean="0">
                        <a:latin typeface="Cambria Math"/>
                        <a:ea typeface="Cambria Math"/>
                      </a:rPr>
                      <m:t>temperature</m:t>
                    </m:r>
                    <m:r>
                      <a:rPr lang="it-IT" sz="1400" b="0" i="0" smtClean="0">
                        <a:latin typeface="Cambria Math"/>
                        <a:ea typeface="Cambria Math"/>
                      </a:rPr>
                      <m:t> </m:t>
                    </m:r>
                    <m:sSubSup>
                      <m:sSubSupPr>
                        <m:ctrlPr>
                          <a:rPr lang="en-US" sz="1400" i="1">
                            <a:latin typeface="Cambria Math"/>
                            <a:ea typeface="Cambria Math"/>
                          </a:rPr>
                        </m:ctrlPr>
                      </m:sSubSupPr>
                      <m:e>
                        <m:r>
                          <m:rPr>
                            <m:sty m:val="p"/>
                          </m:rPr>
                          <a:rPr lang="en-US" sz="1400" b="0" i="0" smtClean="0">
                            <a:latin typeface="Cambria Math"/>
                            <a:ea typeface="Cambria Math"/>
                          </a:rPr>
                          <m:t>f</m:t>
                        </m:r>
                      </m:e>
                      <m:sub>
                        <m:r>
                          <a:rPr lang="en-US" sz="1400" b="0" i="0" smtClean="0">
                            <a:latin typeface="Cambria Math"/>
                            <a:ea typeface="Cambria Math"/>
                          </a:rPr>
                          <m:t>3</m:t>
                        </m:r>
                      </m:sub>
                      <m:sup/>
                    </m:sSubSup>
                  </m:oMath>
                </a14:m>
                <a:r>
                  <a:rPr lang="en-US" sz="1400" dirty="0" smtClean="0">
                    <a:latin typeface="Arial Narrow" panose="020B0606020202030204" pitchFamily="34" charset="0"/>
                  </a:rPr>
                  <a:t> = vector magnitude unit</a:t>
                </a:r>
                <a:endParaRPr lang="en-US" sz="1400" dirty="0">
                  <a:latin typeface="Arial Narrow" panose="020B0606020202030204" pitchFamily="34"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4038600" y="1143000"/>
                <a:ext cx="4419601" cy="523220"/>
              </a:xfrm>
              <a:prstGeom prst="rect">
                <a:avLst/>
              </a:prstGeom>
              <a:blipFill rotWithShape="1">
                <a:blip r:embed="rId7"/>
                <a:stretch>
                  <a:fillRect l="-414" t="-2353" b="-9412"/>
                </a:stretch>
              </a:blipFill>
              <a:ln w="22225">
                <a:noFill/>
              </a:ln>
            </p:spPr>
            <p:txBody>
              <a:bodyPr/>
              <a:lstStyle/>
              <a:p>
                <a:r>
                  <a:rPr lang="it-IT">
                    <a:noFill/>
                  </a:rPr>
                  <a:t> </a:t>
                </a:r>
              </a:p>
            </p:txBody>
          </p:sp>
        </mc:Fallback>
      </mc:AlternateContent>
      <p:grpSp>
        <p:nvGrpSpPr>
          <p:cNvPr id="14" name="Group 13"/>
          <p:cNvGrpSpPr/>
          <p:nvPr/>
        </p:nvGrpSpPr>
        <p:grpSpPr>
          <a:xfrm>
            <a:off x="1600200" y="1905000"/>
            <a:ext cx="3810000" cy="3757006"/>
            <a:chOff x="1981200" y="71015"/>
            <a:chExt cx="5450400" cy="5775548"/>
          </a:xfrm>
        </p:grpSpPr>
        <p:pic>
          <p:nvPicPr>
            <p:cNvPr id="15" name="Picture 14"/>
            <p:cNvPicPr/>
            <p:nvPr/>
          </p:nvPicPr>
          <p:blipFill>
            <a:blip r:embed="rId8"/>
            <a:stretch>
              <a:fillRect/>
            </a:stretch>
          </p:blipFill>
          <p:spPr>
            <a:xfrm>
              <a:off x="1981200" y="71015"/>
              <a:ext cx="5333400" cy="3998520"/>
            </a:xfrm>
            <a:prstGeom prst="rect">
              <a:avLst/>
            </a:prstGeom>
          </p:spPr>
        </p:pic>
        <p:pic>
          <p:nvPicPr>
            <p:cNvPr id="16" name="Picture 15"/>
            <p:cNvPicPr/>
            <p:nvPr/>
          </p:nvPicPr>
          <p:blipFill>
            <a:blip r:embed="rId8"/>
            <a:stretch>
              <a:fillRect/>
            </a:stretch>
          </p:blipFill>
          <p:spPr>
            <a:xfrm>
              <a:off x="1981200" y="76200"/>
              <a:ext cx="5333400" cy="3998520"/>
            </a:xfrm>
            <a:prstGeom prst="rect">
              <a:avLst/>
            </a:prstGeom>
          </p:spPr>
        </p:pic>
        <p:sp>
          <p:nvSpPr>
            <p:cNvPr id="17" name="CustomShape 6"/>
            <p:cNvSpPr/>
            <p:nvPr/>
          </p:nvSpPr>
          <p:spPr>
            <a:xfrm>
              <a:off x="2096040" y="4074998"/>
              <a:ext cx="406780" cy="419292"/>
            </a:xfrm>
            <a:prstGeom prst="roundRect">
              <a:avLst>
                <a:gd name="adj" fmla="val 3600"/>
              </a:avLst>
            </a:prstGeom>
            <a:ln w="36000">
              <a:solidFill>
                <a:srgbClr val="2323DC"/>
              </a:solidFill>
              <a:round/>
            </a:ln>
          </p:spPr>
        </p:sp>
        <p:sp>
          <p:nvSpPr>
            <p:cNvPr id="18" name="Line 7"/>
            <p:cNvSpPr/>
            <p:nvPr/>
          </p:nvSpPr>
          <p:spPr>
            <a:xfrm flipH="1">
              <a:off x="2502818" y="3276600"/>
              <a:ext cx="1208365" cy="807109"/>
            </a:xfrm>
            <a:prstGeom prst="line">
              <a:avLst/>
            </a:prstGeom>
            <a:ln w="36000">
              <a:solidFill>
                <a:srgbClr val="2300DC"/>
              </a:solidFill>
              <a:round/>
            </a:ln>
          </p:spPr>
        </p:sp>
        <p:sp>
          <p:nvSpPr>
            <p:cNvPr id="19" name="Line 8"/>
            <p:cNvSpPr/>
            <p:nvPr/>
          </p:nvSpPr>
          <p:spPr>
            <a:xfrm flipH="1">
              <a:off x="2106897" y="3276600"/>
              <a:ext cx="1604286" cy="798399"/>
            </a:xfrm>
            <a:prstGeom prst="line">
              <a:avLst/>
            </a:prstGeom>
            <a:ln w="36000">
              <a:solidFill>
                <a:srgbClr val="2300DC"/>
              </a:solidFill>
              <a:round/>
            </a:ln>
          </p:spPr>
        </p:sp>
        <p:sp>
          <p:nvSpPr>
            <p:cNvPr id="20" name="Line 9"/>
            <p:cNvSpPr/>
            <p:nvPr/>
          </p:nvSpPr>
          <p:spPr>
            <a:xfrm flipH="1">
              <a:off x="2502818" y="3276600"/>
              <a:ext cx="1208367" cy="1217690"/>
            </a:xfrm>
            <a:prstGeom prst="line">
              <a:avLst/>
            </a:prstGeom>
            <a:ln w="36000">
              <a:solidFill>
                <a:srgbClr val="2300DC"/>
              </a:solidFill>
              <a:round/>
            </a:ln>
          </p:spPr>
        </p:sp>
        <p:sp>
          <p:nvSpPr>
            <p:cNvPr id="21" name="Line 19"/>
            <p:cNvSpPr/>
            <p:nvPr/>
          </p:nvSpPr>
          <p:spPr>
            <a:xfrm flipH="1">
              <a:off x="2096038" y="3276600"/>
              <a:ext cx="1615148" cy="1217691"/>
            </a:xfrm>
            <a:prstGeom prst="line">
              <a:avLst/>
            </a:prstGeom>
            <a:ln>
              <a:solidFill>
                <a:srgbClr val="2300DC"/>
              </a:solidFill>
              <a:custDash>
                <a:ds d="508000" sp="508000"/>
                <a:ds d="508000" sp="508000"/>
              </a:custDash>
            </a:ln>
          </p:spPr>
        </p:sp>
        <p:sp>
          <p:nvSpPr>
            <p:cNvPr id="22" name="CustomShape 20"/>
            <p:cNvSpPr/>
            <p:nvPr/>
          </p:nvSpPr>
          <p:spPr>
            <a:xfrm>
              <a:off x="7024819" y="4083708"/>
              <a:ext cx="406780" cy="419292"/>
            </a:xfrm>
            <a:prstGeom prst="roundRect">
              <a:avLst>
                <a:gd name="adj" fmla="val 3600"/>
              </a:avLst>
            </a:prstGeom>
            <a:ln w="36000">
              <a:solidFill>
                <a:srgbClr val="FF420E"/>
              </a:solidFill>
              <a:round/>
            </a:ln>
          </p:spPr>
        </p:sp>
        <p:sp>
          <p:nvSpPr>
            <p:cNvPr id="23" name="Line 21"/>
            <p:cNvSpPr/>
            <p:nvPr/>
          </p:nvSpPr>
          <p:spPr>
            <a:xfrm>
              <a:off x="3962400" y="990600"/>
              <a:ext cx="3469199" cy="3101818"/>
            </a:xfrm>
            <a:prstGeom prst="line">
              <a:avLst/>
            </a:prstGeom>
            <a:ln w="36000">
              <a:solidFill>
                <a:srgbClr val="FF420E"/>
              </a:solidFill>
              <a:round/>
            </a:ln>
          </p:spPr>
        </p:sp>
        <p:sp>
          <p:nvSpPr>
            <p:cNvPr id="24" name="Line 22"/>
            <p:cNvSpPr/>
            <p:nvPr/>
          </p:nvSpPr>
          <p:spPr>
            <a:xfrm>
              <a:off x="3962400" y="990600"/>
              <a:ext cx="3062419" cy="3093108"/>
            </a:xfrm>
            <a:prstGeom prst="line">
              <a:avLst/>
            </a:prstGeom>
            <a:ln w="36000">
              <a:solidFill>
                <a:srgbClr val="FF420E"/>
              </a:solidFill>
              <a:round/>
            </a:ln>
          </p:spPr>
        </p:sp>
        <p:sp>
          <p:nvSpPr>
            <p:cNvPr id="25" name="Line 23"/>
            <p:cNvSpPr/>
            <p:nvPr/>
          </p:nvSpPr>
          <p:spPr>
            <a:xfrm>
              <a:off x="3962400" y="990600"/>
              <a:ext cx="3469200" cy="3512400"/>
            </a:xfrm>
            <a:prstGeom prst="line">
              <a:avLst/>
            </a:prstGeom>
            <a:ln>
              <a:solidFill>
                <a:srgbClr val="FF420E"/>
              </a:solidFill>
              <a:prstDash val="dash"/>
            </a:ln>
          </p:spPr>
        </p:sp>
        <p:sp>
          <p:nvSpPr>
            <p:cNvPr id="26" name="Line 24"/>
            <p:cNvSpPr/>
            <p:nvPr/>
          </p:nvSpPr>
          <p:spPr>
            <a:xfrm>
              <a:off x="3962400" y="990600"/>
              <a:ext cx="3062420" cy="3512400"/>
            </a:xfrm>
            <a:prstGeom prst="line">
              <a:avLst/>
            </a:prstGeom>
            <a:ln w="36000">
              <a:solidFill>
                <a:srgbClr val="FF420E"/>
              </a:solidFill>
              <a:round/>
            </a:ln>
          </p:spPr>
        </p:sp>
        <p:sp>
          <p:nvSpPr>
            <p:cNvPr id="27" name="Line 14"/>
            <p:cNvSpPr/>
            <p:nvPr/>
          </p:nvSpPr>
          <p:spPr>
            <a:xfrm>
              <a:off x="3962400" y="1759801"/>
              <a:ext cx="2534200" cy="2323907"/>
            </a:xfrm>
            <a:prstGeom prst="line">
              <a:avLst/>
            </a:prstGeom>
            <a:ln w="36000">
              <a:solidFill>
                <a:srgbClr val="E6FF00"/>
              </a:solidFill>
              <a:round/>
            </a:ln>
          </p:spPr>
        </p:sp>
        <p:sp>
          <p:nvSpPr>
            <p:cNvPr id="28" name="Line 15"/>
            <p:cNvSpPr/>
            <p:nvPr/>
          </p:nvSpPr>
          <p:spPr>
            <a:xfrm>
              <a:off x="3962400" y="1759801"/>
              <a:ext cx="2931141" cy="2743199"/>
            </a:xfrm>
            <a:prstGeom prst="line">
              <a:avLst/>
            </a:prstGeom>
            <a:ln>
              <a:solidFill>
                <a:srgbClr val="E6FF00"/>
              </a:solidFill>
              <a:prstDash val="dash"/>
            </a:ln>
          </p:spPr>
        </p:sp>
        <p:sp>
          <p:nvSpPr>
            <p:cNvPr id="29" name="Line 16"/>
            <p:cNvSpPr/>
            <p:nvPr/>
          </p:nvSpPr>
          <p:spPr>
            <a:xfrm>
              <a:off x="3962400" y="1759801"/>
              <a:ext cx="2534200" cy="2743199"/>
            </a:xfrm>
            <a:prstGeom prst="line">
              <a:avLst/>
            </a:prstGeom>
            <a:ln w="36000">
              <a:solidFill>
                <a:srgbClr val="E6FF00"/>
              </a:solidFill>
              <a:round/>
            </a:ln>
          </p:spPr>
        </p:sp>
        <p:sp>
          <p:nvSpPr>
            <p:cNvPr id="30" name="Line 13"/>
            <p:cNvSpPr/>
            <p:nvPr/>
          </p:nvSpPr>
          <p:spPr>
            <a:xfrm>
              <a:off x="3962400" y="1759801"/>
              <a:ext cx="2940980" cy="2332792"/>
            </a:xfrm>
            <a:prstGeom prst="line">
              <a:avLst/>
            </a:prstGeom>
            <a:ln w="36000">
              <a:solidFill>
                <a:srgbClr val="E6FF00"/>
              </a:solidFill>
              <a:round/>
            </a:ln>
          </p:spPr>
        </p:sp>
        <p:sp>
          <p:nvSpPr>
            <p:cNvPr id="31" name="CustomShape 12"/>
            <p:cNvSpPr/>
            <p:nvPr/>
          </p:nvSpPr>
          <p:spPr>
            <a:xfrm>
              <a:off x="6496600" y="4083708"/>
              <a:ext cx="406780" cy="419292"/>
            </a:xfrm>
            <a:prstGeom prst="roundRect">
              <a:avLst>
                <a:gd name="adj" fmla="val 3600"/>
              </a:avLst>
            </a:prstGeom>
            <a:ln w="36000">
              <a:solidFill>
                <a:srgbClr val="E6FF00"/>
              </a:solidFill>
              <a:round/>
            </a:ln>
          </p:spPr>
        </p:sp>
        <p:grpSp>
          <p:nvGrpSpPr>
            <p:cNvPr id="32" name="Group 31"/>
            <p:cNvGrpSpPr/>
            <p:nvPr/>
          </p:nvGrpSpPr>
          <p:grpSpPr>
            <a:xfrm>
              <a:off x="2554800" y="2507009"/>
              <a:ext cx="3872043" cy="2040816"/>
              <a:chOff x="609600" y="2423609"/>
              <a:chExt cx="3872043" cy="2040816"/>
            </a:xfrm>
          </p:grpSpPr>
          <p:sp>
            <p:nvSpPr>
              <p:cNvPr id="38" name="Line 10"/>
              <p:cNvSpPr/>
              <p:nvPr/>
            </p:nvSpPr>
            <p:spPr>
              <a:xfrm>
                <a:off x="1864801" y="2433058"/>
                <a:ext cx="2616842" cy="1977832"/>
              </a:xfrm>
              <a:prstGeom prst="line">
                <a:avLst/>
              </a:prstGeom>
              <a:ln>
                <a:solidFill>
                  <a:srgbClr val="00CCCC"/>
                </a:solidFill>
                <a:custDash>
                  <a:ds d="508000" sp="508000"/>
                  <a:ds d="508000" sp="508000"/>
                </a:custDash>
              </a:ln>
            </p:spPr>
          </p:sp>
          <p:sp>
            <p:nvSpPr>
              <p:cNvPr id="39" name="Line 11"/>
              <p:cNvSpPr/>
              <p:nvPr/>
            </p:nvSpPr>
            <p:spPr>
              <a:xfrm flipH="1">
                <a:off x="609601" y="2433058"/>
                <a:ext cx="1255199" cy="1977832"/>
              </a:xfrm>
              <a:prstGeom prst="line">
                <a:avLst/>
              </a:prstGeom>
              <a:ln>
                <a:solidFill>
                  <a:srgbClr val="00CCCC"/>
                </a:solidFill>
                <a:custDash>
                  <a:ds d="508000" sp="508000"/>
                  <a:ds d="508000" sp="508000"/>
                </a:custDash>
              </a:ln>
            </p:spPr>
          </p:sp>
          <p:sp>
            <p:nvSpPr>
              <p:cNvPr id="40" name="CustomShape 17"/>
              <p:cNvSpPr/>
              <p:nvPr/>
            </p:nvSpPr>
            <p:spPr>
              <a:xfrm>
                <a:off x="609601" y="3991598"/>
                <a:ext cx="3872041" cy="419292"/>
              </a:xfrm>
              <a:prstGeom prst="roundRect">
                <a:avLst>
                  <a:gd name="adj" fmla="val 3600"/>
                </a:avLst>
              </a:prstGeom>
              <a:ln w="36000">
                <a:solidFill>
                  <a:srgbClr val="00CCCC"/>
                </a:solidFill>
                <a:round/>
              </a:ln>
            </p:spPr>
          </p:sp>
          <p:sp>
            <p:nvSpPr>
              <p:cNvPr id="41" name="Line 18"/>
              <p:cNvSpPr/>
              <p:nvPr/>
            </p:nvSpPr>
            <p:spPr>
              <a:xfrm>
                <a:off x="1864801" y="2433058"/>
                <a:ext cx="2616842" cy="1567250"/>
              </a:xfrm>
              <a:prstGeom prst="line">
                <a:avLst/>
              </a:prstGeom>
              <a:ln w="36000">
                <a:solidFill>
                  <a:srgbClr val="00CCCC"/>
                </a:solidFill>
                <a:round/>
              </a:ln>
            </p:spPr>
          </p:sp>
          <p:sp>
            <p:nvSpPr>
              <p:cNvPr id="42" name="Line 5"/>
              <p:cNvSpPr/>
              <p:nvPr/>
            </p:nvSpPr>
            <p:spPr>
              <a:xfrm flipH="1">
                <a:off x="609600" y="2423609"/>
                <a:ext cx="1255200" cy="1576699"/>
              </a:xfrm>
              <a:prstGeom prst="line">
                <a:avLst/>
              </a:prstGeom>
              <a:ln w="36000">
                <a:solidFill>
                  <a:srgbClr val="00CCCC"/>
                </a:solidFill>
                <a:round/>
              </a:ln>
            </p:spPr>
          </p:sp>
          <mc:AlternateContent xmlns:mc="http://schemas.openxmlformats.org/markup-compatibility/2006" xmlns:a14="http://schemas.microsoft.com/office/drawing/2010/main">
            <mc:Choice Requires="a14">
              <p:sp>
                <p:nvSpPr>
                  <p:cNvPr id="43" name="TextBox 42"/>
                  <p:cNvSpPr txBox="1"/>
                  <p:nvPr/>
                </p:nvSpPr>
                <p:spPr>
                  <a:xfrm>
                    <a:off x="609601" y="4038601"/>
                    <a:ext cx="3872042" cy="425824"/>
                  </a:xfrm>
                  <a:prstGeom prst="rect">
                    <a:avLst/>
                  </a:prstGeom>
                  <a:noFill/>
                </p:spPr>
                <p:txBody>
                  <a:bodyPr wrap="square" rtlCol="0">
                    <a:spAutoFit/>
                  </a:bodyPr>
                  <a:lstStyle/>
                  <a:p>
                    <a:pPr algn="ctr"/>
                    <a14:m>
                      <m:oMath xmlns:m="http://schemas.openxmlformats.org/officeDocument/2006/math">
                        <m:r>
                          <a:rPr lang="en-US" sz="1200" b="0" i="1" smtClean="0">
                            <a:latin typeface="Cambria Math"/>
                          </a:rPr>
                          <m:t>𝐼𝐶</m:t>
                        </m:r>
                        <m:r>
                          <a:rPr lang="en-US" sz="1200" b="0" i="1" smtClean="0">
                            <a:latin typeface="Cambria Math"/>
                          </a:rPr>
                          <m:t>, </m:t>
                        </m:r>
                        <m:r>
                          <a:rPr lang="en-US" sz="1200" i="1" smtClean="0">
                            <a:latin typeface="Cambria Math"/>
                          </a:rPr>
                          <m:t>𝑑</m:t>
                        </m:r>
                      </m:oMath>
                    </a14:m>
                    <a:r>
                      <a:rPr lang="en-US" sz="1200" dirty="0" smtClean="0"/>
                      <a:t>,</a:t>
                    </a:r>
                    <a:r>
                      <a:rPr lang="en-US" sz="1200" dirty="0">
                        <a:ea typeface="Cambria Math"/>
                      </a:rPr>
                      <a:t> </a:t>
                    </a:r>
                    <a14:m>
                      <m:oMath xmlns:m="http://schemas.openxmlformats.org/officeDocument/2006/math">
                        <m:sSubSup>
                          <m:sSubSupPr>
                            <m:ctrlPr>
                              <a:rPr lang="en-US" sz="1200" i="1">
                                <a:latin typeface="Cambria Math"/>
                                <a:ea typeface="Cambria Math"/>
                              </a:rPr>
                            </m:ctrlPr>
                          </m:sSubSupPr>
                          <m:e>
                            <m:r>
                              <a:rPr lang="en-US" sz="1200" i="1">
                                <a:latin typeface="Cambria Math"/>
                                <a:ea typeface="Cambria Math"/>
                              </a:rPr>
                              <m:t>𝜇</m:t>
                            </m:r>
                          </m:e>
                          <m:sub>
                            <m:r>
                              <a:rPr lang="en-US" sz="1200" b="0" i="1" smtClean="0">
                                <a:latin typeface="Cambria Math"/>
                                <a:ea typeface="Cambria Math"/>
                              </a:rPr>
                              <m:t>𝑆𝑇</m:t>
                            </m:r>
                          </m:sub>
                          <m:sup/>
                        </m:sSubSup>
                      </m:oMath>
                    </a14:m>
                    <a:r>
                      <a:rPr lang="en-US" sz="1200" dirty="0" smtClean="0"/>
                      <a:t>,</a:t>
                    </a:r>
                    <a14:m>
                      <m:oMath xmlns:m="http://schemas.openxmlformats.org/officeDocument/2006/math">
                        <m:sSubSup>
                          <m:sSubSupPr>
                            <m:ctrlPr>
                              <a:rPr lang="en-US" sz="1200" i="1">
                                <a:latin typeface="Cambria Math"/>
                                <a:ea typeface="Cambria Math"/>
                              </a:rPr>
                            </m:ctrlPr>
                          </m:sSubSupPr>
                          <m:e>
                            <m:r>
                              <a:rPr lang="en-US" sz="1200" i="1">
                                <a:latin typeface="Cambria Math"/>
                                <a:ea typeface="Cambria Math"/>
                              </a:rPr>
                              <m:t>𝜇</m:t>
                            </m:r>
                          </m:e>
                          <m:sub>
                            <m:r>
                              <a:rPr lang="en-US" sz="1200" b="0" i="1" smtClean="0">
                                <a:latin typeface="Cambria Math"/>
                                <a:ea typeface="Cambria Math"/>
                              </a:rPr>
                              <m:t>𝐺𝑆𝑅</m:t>
                            </m:r>
                          </m:sub>
                          <m:sup/>
                        </m:sSubSup>
                        <m:r>
                          <a:rPr lang="en-US" sz="1200" b="0" i="1" smtClean="0">
                            <a:latin typeface="Cambria Math"/>
                            <a:ea typeface="Cambria Math"/>
                          </a:rPr>
                          <m:t>,</m:t>
                        </m:r>
                        <m:sSubSup>
                          <m:sSubSupPr>
                            <m:ctrlPr>
                              <a:rPr lang="en-US" sz="1200" i="1">
                                <a:latin typeface="Cambria Math"/>
                                <a:ea typeface="Cambria Math"/>
                              </a:rPr>
                            </m:ctrlPr>
                          </m:sSubSupPr>
                          <m:e>
                            <m:r>
                              <a:rPr lang="en-US" sz="1200" i="1">
                                <a:latin typeface="Cambria Math"/>
                                <a:ea typeface="Cambria Math"/>
                              </a:rPr>
                              <m:t>𝜇</m:t>
                            </m:r>
                          </m:e>
                          <m:sub>
                            <m:r>
                              <a:rPr lang="en-US" sz="1200" b="0" i="1" smtClean="0">
                                <a:latin typeface="Cambria Math"/>
                                <a:ea typeface="Cambria Math"/>
                              </a:rPr>
                              <m:t>𝑉𝑀</m:t>
                            </m:r>
                          </m:sub>
                          <m:sup/>
                        </m:sSubSup>
                        <m:sSubSup>
                          <m:sSubSupPr>
                            <m:ctrlPr>
                              <a:rPr lang="en-US" sz="1200" i="1">
                                <a:latin typeface="Cambria Math"/>
                                <a:ea typeface="Cambria Math"/>
                              </a:rPr>
                            </m:ctrlPr>
                          </m:sSubSupPr>
                          <m:e>
                            <m:r>
                              <a:rPr lang="en-US" sz="1200" b="0" i="1" smtClean="0">
                                <a:latin typeface="Cambria Math"/>
                                <a:ea typeface="Cambria Math"/>
                              </a:rPr>
                              <m:t>, </m:t>
                            </m:r>
                            <m:r>
                              <a:rPr lang="en-US" sz="1200" i="1">
                                <a:latin typeface="Cambria Math"/>
                                <a:ea typeface="Cambria Math"/>
                              </a:rPr>
                              <m:t>𝜇</m:t>
                            </m:r>
                          </m:e>
                          <m:sub>
                            <m:r>
                              <a:rPr lang="en-US" sz="1200" b="0" i="1" smtClean="0">
                                <a:latin typeface="Cambria Math"/>
                                <a:ea typeface="Cambria Math"/>
                              </a:rPr>
                              <m:t>𝑆𝐶</m:t>
                            </m:r>
                          </m:sub>
                          <m:sup/>
                        </m:sSubSup>
                      </m:oMath>
                    </a14:m>
                    <a:endParaRPr lang="en-US" sz="1200" dirty="0"/>
                  </a:p>
                </p:txBody>
              </p:sp>
            </mc:Choice>
            <mc:Fallback xmlns="">
              <p:sp>
                <p:nvSpPr>
                  <p:cNvPr id="43" name="TextBox 42"/>
                  <p:cNvSpPr txBox="1">
                    <a:spLocks noRot="1" noChangeAspect="1" noMove="1" noResize="1" noEditPoints="1" noAdjustHandles="1" noChangeArrowheads="1" noChangeShapeType="1" noTextEdit="1"/>
                  </p:cNvSpPr>
                  <p:nvPr/>
                </p:nvSpPr>
                <p:spPr>
                  <a:xfrm>
                    <a:off x="609601" y="4038601"/>
                    <a:ext cx="3872042" cy="425824"/>
                  </a:xfrm>
                  <a:prstGeom prst="rect">
                    <a:avLst/>
                  </a:prstGeom>
                  <a:blipFill rotWithShape="1">
                    <a:blip r:embed="rId9"/>
                    <a:stretch>
                      <a:fillRect b="-17778"/>
                    </a:stretch>
                  </a:blipFill>
                </p:spPr>
                <p:txBody>
                  <a:bodyPr/>
                  <a:lstStyle/>
                  <a:p>
                    <a:r>
                      <a:rPr lang="it-IT">
                        <a:noFill/>
                      </a:rPr>
                      <a:t> </a:t>
                    </a:r>
                  </a:p>
                </p:txBody>
              </p:sp>
            </mc:Fallback>
          </mc:AlternateContent>
        </p:grpSp>
        <p:sp>
          <p:nvSpPr>
            <p:cNvPr id="33" name="Rectangle 32"/>
            <p:cNvSpPr/>
            <p:nvPr/>
          </p:nvSpPr>
          <p:spPr>
            <a:xfrm>
              <a:off x="3462121" y="4762500"/>
              <a:ext cx="2057400" cy="381000"/>
            </a:xfrm>
            <a:prstGeom prst="rect">
              <a:avLst/>
            </a:prstGeom>
            <a:no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000000"/>
                  </a:solidFill>
                </a:rPr>
                <a:t>Feature selection</a:t>
              </a:r>
              <a:endParaRPr lang="en-US" sz="1400" dirty="0">
                <a:solidFill>
                  <a:srgbClr val="000000"/>
                </a:solidFill>
              </a:endParaRPr>
            </a:p>
          </p:txBody>
        </p:sp>
        <p:sp>
          <p:nvSpPr>
            <p:cNvPr id="34" name="CustomShape 17"/>
            <p:cNvSpPr/>
            <p:nvPr/>
          </p:nvSpPr>
          <p:spPr>
            <a:xfrm>
              <a:off x="3462122" y="5372100"/>
              <a:ext cx="2057400" cy="419292"/>
            </a:xfrm>
            <a:prstGeom prst="roundRect">
              <a:avLst>
                <a:gd name="adj" fmla="val 3600"/>
              </a:avLst>
            </a:prstGeom>
            <a:ln w="36000">
              <a:solidFill>
                <a:srgbClr val="00CCCC"/>
              </a:solidFill>
              <a:round/>
            </a:ln>
          </p:spPr>
        </p:sp>
        <mc:AlternateContent xmlns:mc="http://schemas.openxmlformats.org/markup-compatibility/2006" xmlns:a14="http://schemas.microsoft.com/office/drawing/2010/main">
          <mc:Choice Requires="a14">
            <p:sp>
              <p:nvSpPr>
                <p:cNvPr id="35" name="TextBox 34"/>
                <p:cNvSpPr txBox="1"/>
                <p:nvPr/>
              </p:nvSpPr>
              <p:spPr>
                <a:xfrm>
                  <a:off x="3462121" y="5420740"/>
                  <a:ext cx="2057400" cy="425823"/>
                </a:xfrm>
                <a:prstGeom prst="rect">
                  <a:avLst/>
                </a:prstGeom>
                <a:noFill/>
              </p:spPr>
              <p:txBody>
                <a:bodyPr wrap="square" rtlCol="0">
                  <a:spAutoFit/>
                </a:bodyPr>
                <a:lstStyle/>
                <a:p>
                  <a:pPr algn="ctr"/>
                  <a14:m>
                    <m:oMath xmlns:m="http://schemas.openxmlformats.org/officeDocument/2006/math">
                      <m:r>
                        <a:rPr lang="en-US" sz="1200" b="0" i="1" smtClean="0">
                          <a:latin typeface="Cambria Math"/>
                        </a:rPr>
                        <m:t>𝐼𝐶</m:t>
                      </m:r>
                      <m:r>
                        <a:rPr lang="en-US" sz="1200" b="0" i="1" smtClean="0">
                          <a:latin typeface="Cambria Math"/>
                        </a:rPr>
                        <m:t>,</m:t>
                      </m:r>
                    </m:oMath>
                  </a14:m>
                  <a:r>
                    <a:rPr lang="en-US" sz="1200" dirty="0">
                      <a:ea typeface="Cambria Math"/>
                    </a:rPr>
                    <a:t> </a:t>
                  </a:r>
                  <a14:m>
                    <m:oMath xmlns:m="http://schemas.openxmlformats.org/officeDocument/2006/math">
                      <m:sSubSup>
                        <m:sSubSupPr>
                          <m:ctrlPr>
                            <a:rPr lang="en-US" sz="1200" i="1">
                              <a:latin typeface="Cambria Math"/>
                              <a:ea typeface="Cambria Math"/>
                            </a:rPr>
                          </m:ctrlPr>
                        </m:sSubSupPr>
                        <m:e>
                          <m:r>
                            <a:rPr lang="en-US" sz="1200" b="0" i="1" smtClean="0">
                              <a:latin typeface="Cambria Math"/>
                              <a:ea typeface="Cambria Math"/>
                            </a:rPr>
                            <m:t>𝑓</m:t>
                          </m:r>
                        </m:e>
                        <m:sub>
                          <m:r>
                            <a:rPr lang="en-US" sz="1200" b="0" i="1" smtClean="0">
                              <a:latin typeface="Cambria Math"/>
                              <a:ea typeface="Cambria Math"/>
                            </a:rPr>
                            <m:t>1</m:t>
                          </m:r>
                        </m:sub>
                        <m:sup/>
                      </m:sSubSup>
                    </m:oMath>
                  </a14:m>
                  <a:r>
                    <a:rPr lang="en-US" sz="1200" dirty="0" smtClean="0"/>
                    <a:t>,</a:t>
                  </a:r>
                  <a14:m>
                    <m:oMath xmlns:m="http://schemas.openxmlformats.org/officeDocument/2006/math">
                      <m:sSubSup>
                        <m:sSubSupPr>
                          <m:ctrlPr>
                            <a:rPr lang="en-US" sz="1200" i="1" smtClean="0">
                              <a:latin typeface="Cambria Math"/>
                              <a:ea typeface="Cambria Math"/>
                            </a:rPr>
                          </m:ctrlPr>
                        </m:sSubSupPr>
                        <m:e>
                          <m:r>
                            <a:rPr lang="en-US" sz="1200" b="0" i="1" smtClean="0">
                              <a:latin typeface="Cambria Math"/>
                              <a:ea typeface="Cambria Math"/>
                            </a:rPr>
                            <m:t>𝑓</m:t>
                          </m:r>
                        </m:e>
                        <m:sub>
                          <m:r>
                            <a:rPr lang="en-US" sz="1200" b="0" i="1" smtClean="0">
                              <a:latin typeface="Cambria Math"/>
                              <a:ea typeface="Cambria Math"/>
                            </a:rPr>
                            <m:t>2</m:t>
                          </m:r>
                        </m:sub>
                        <m:sup/>
                      </m:sSubSup>
                      <m:r>
                        <a:rPr lang="en-US" sz="1200" b="0" i="1" smtClean="0">
                          <a:latin typeface="Cambria Math"/>
                          <a:ea typeface="Cambria Math"/>
                        </a:rPr>
                        <m:t>,</m:t>
                      </m:r>
                      <m:sSubSup>
                        <m:sSubSupPr>
                          <m:ctrlPr>
                            <a:rPr lang="en-US" sz="1200" i="1">
                              <a:latin typeface="Cambria Math"/>
                              <a:ea typeface="Cambria Math"/>
                            </a:rPr>
                          </m:ctrlPr>
                        </m:sSubSupPr>
                        <m:e>
                          <m:r>
                            <a:rPr lang="en-US" sz="1200" b="0" i="1" smtClean="0">
                              <a:latin typeface="Cambria Math"/>
                              <a:ea typeface="Cambria Math"/>
                            </a:rPr>
                            <m:t>𝑓</m:t>
                          </m:r>
                        </m:e>
                        <m:sub>
                          <m:r>
                            <a:rPr lang="en-US" sz="1200" b="0" i="1" smtClean="0">
                              <a:latin typeface="Cambria Math"/>
                              <a:ea typeface="Cambria Math"/>
                            </a:rPr>
                            <m:t>3</m:t>
                          </m:r>
                        </m:sub>
                        <m:sup/>
                      </m:sSubSup>
                    </m:oMath>
                  </a14:m>
                  <a:endParaRPr lang="en-US" sz="1200" dirty="0"/>
                </a:p>
              </p:txBody>
            </p:sp>
          </mc:Choice>
          <mc:Fallback xmlns="">
            <p:sp>
              <p:nvSpPr>
                <p:cNvPr id="35" name="TextBox 34"/>
                <p:cNvSpPr txBox="1">
                  <a:spLocks noRot="1" noChangeAspect="1" noMove="1" noResize="1" noEditPoints="1" noAdjustHandles="1" noChangeArrowheads="1" noChangeShapeType="1" noTextEdit="1"/>
                </p:cNvSpPr>
                <p:nvPr/>
              </p:nvSpPr>
              <p:spPr>
                <a:xfrm>
                  <a:off x="3462121" y="5420740"/>
                  <a:ext cx="2057400" cy="425823"/>
                </a:xfrm>
                <a:prstGeom prst="rect">
                  <a:avLst/>
                </a:prstGeom>
                <a:blipFill rotWithShape="1">
                  <a:blip r:embed="rId10"/>
                  <a:stretch>
                    <a:fillRect b="-15217"/>
                  </a:stretch>
                </a:blipFill>
              </p:spPr>
              <p:txBody>
                <a:bodyPr/>
                <a:lstStyle/>
                <a:p>
                  <a:r>
                    <a:rPr lang="it-IT">
                      <a:noFill/>
                    </a:rPr>
                    <a:t> </a:t>
                  </a:r>
                </a:p>
              </p:txBody>
            </p:sp>
          </mc:Fallback>
        </mc:AlternateContent>
        <p:cxnSp>
          <p:nvCxnSpPr>
            <p:cNvPr id="36" name="Straight Arrow Connector 35"/>
            <p:cNvCxnSpPr>
              <a:endCxn id="33" idx="0"/>
            </p:cNvCxnSpPr>
            <p:nvPr/>
          </p:nvCxnSpPr>
          <p:spPr>
            <a:xfrm>
              <a:off x="4483743" y="4525190"/>
              <a:ext cx="7078" cy="23731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33" idx="2"/>
              <a:endCxn id="34" idx="0"/>
            </p:cNvCxnSpPr>
            <p:nvPr/>
          </p:nvCxnSpPr>
          <p:spPr>
            <a:xfrm>
              <a:off x="4490821" y="5143500"/>
              <a:ext cx="1" cy="22860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504190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205345" y="4562297"/>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5" name="TextBox 4"/>
              <p:cNvSpPr txBox="1">
                <a:spLocks noRot="1" noChangeAspect="1" noMove="1" noResize="1" noEditPoints="1" noAdjustHandles="1" noChangeArrowheads="1" noChangeShapeType="1" noTextEdit="1"/>
              </p:cNvSpPr>
              <p:nvPr/>
            </p:nvSpPr>
            <p:spPr>
              <a:xfrm>
                <a:off x="1205345" y="4562297"/>
                <a:ext cx="2057400" cy="312778"/>
              </a:xfrm>
              <a:prstGeom prst="rect">
                <a:avLst/>
              </a:prstGeom>
              <a:blipFill rotWithShape="1">
                <a:blip r:embed="rId2"/>
                <a:stretch>
                  <a:fillRect b="-10714"/>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219200" y="5021222"/>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6" name="TextBox 5"/>
              <p:cNvSpPr txBox="1">
                <a:spLocks noRot="1" noChangeAspect="1" noMove="1" noResize="1" noEditPoints="1" noAdjustHandles="1" noChangeArrowheads="1" noChangeShapeType="1" noTextEdit="1"/>
              </p:cNvSpPr>
              <p:nvPr/>
            </p:nvSpPr>
            <p:spPr>
              <a:xfrm>
                <a:off x="1219200" y="5021222"/>
                <a:ext cx="2057400" cy="312778"/>
              </a:xfrm>
              <a:prstGeom prst="rect">
                <a:avLst/>
              </a:prstGeom>
              <a:blipFill rotWithShape="1">
                <a:blip r:embed="rId3"/>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219200" y="4094557"/>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7" name="TextBox 6"/>
              <p:cNvSpPr txBox="1">
                <a:spLocks noRot="1" noChangeAspect="1" noMove="1" noResize="1" noEditPoints="1" noAdjustHandles="1" noChangeArrowheads="1" noChangeShapeType="1" noTextEdit="1"/>
              </p:cNvSpPr>
              <p:nvPr/>
            </p:nvSpPr>
            <p:spPr>
              <a:xfrm>
                <a:off x="1219200" y="4094557"/>
                <a:ext cx="2057400" cy="312778"/>
              </a:xfrm>
              <a:prstGeom prst="rect">
                <a:avLst/>
              </a:prstGeom>
              <a:blipFill rotWithShape="1">
                <a:blip r:embed="rId3"/>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205345" y="2753740"/>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8" name="TextBox 7"/>
              <p:cNvSpPr txBox="1">
                <a:spLocks noRot="1" noChangeAspect="1" noMove="1" noResize="1" noEditPoints="1" noAdjustHandles="1" noChangeArrowheads="1" noChangeShapeType="1" noTextEdit="1"/>
              </p:cNvSpPr>
              <p:nvPr/>
            </p:nvSpPr>
            <p:spPr>
              <a:xfrm>
                <a:off x="1205345" y="2753740"/>
                <a:ext cx="2057400" cy="312778"/>
              </a:xfrm>
              <a:prstGeom prst="rect">
                <a:avLst/>
              </a:prstGeom>
              <a:blipFill rotWithShape="1">
                <a:blip r:embed="rId4"/>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219200" y="3212665"/>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9" name="TextBox 8"/>
              <p:cNvSpPr txBox="1">
                <a:spLocks noRot="1" noChangeAspect="1" noMove="1" noResize="1" noEditPoints="1" noAdjustHandles="1" noChangeArrowheads="1" noChangeShapeType="1" noTextEdit="1"/>
              </p:cNvSpPr>
              <p:nvPr/>
            </p:nvSpPr>
            <p:spPr>
              <a:xfrm>
                <a:off x="1219200" y="3212665"/>
                <a:ext cx="2057400" cy="312778"/>
              </a:xfrm>
              <a:prstGeom prst="rect">
                <a:avLst/>
              </a:prstGeom>
              <a:blipFill rotWithShape="1">
                <a:blip r:embed="rId5"/>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219200" y="2286000"/>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10" name="TextBox 9"/>
              <p:cNvSpPr txBox="1">
                <a:spLocks noRot="1" noChangeAspect="1" noMove="1" noResize="1" noEditPoints="1" noAdjustHandles="1" noChangeArrowheads="1" noChangeShapeType="1" noTextEdit="1"/>
              </p:cNvSpPr>
              <p:nvPr/>
            </p:nvSpPr>
            <p:spPr>
              <a:xfrm>
                <a:off x="1219200" y="2286000"/>
                <a:ext cx="2057400" cy="312778"/>
              </a:xfrm>
              <a:prstGeom prst="rect">
                <a:avLst/>
              </a:prstGeom>
              <a:blipFill rotWithShape="1">
                <a:blip r:embed="rId5"/>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219200" y="3676253"/>
                <a:ext cx="2057400" cy="312778"/>
              </a:xfrm>
              <a:prstGeom prst="rect">
                <a:avLst/>
              </a:prstGeom>
              <a:noFill/>
              <a:ln w="22225">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it-IT" sz="1400" b="0" i="1" smtClean="0">
                          <a:latin typeface="Cambria Math"/>
                        </a:rPr>
                        <m:t>….</m:t>
                      </m:r>
                    </m:oMath>
                  </m:oMathPara>
                </a14:m>
                <a:endParaRPr lang="en-US" sz="1400" dirty="0"/>
              </a:p>
            </p:txBody>
          </p:sp>
        </mc:Choice>
        <mc:Fallback xmlns="">
          <p:sp>
            <p:nvSpPr>
              <p:cNvPr id="11" name="TextBox 10"/>
              <p:cNvSpPr txBox="1">
                <a:spLocks noRot="1" noChangeAspect="1" noMove="1" noResize="1" noEditPoints="1" noAdjustHandles="1" noChangeArrowheads="1" noChangeShapeType="1" noTextEdit="1"/>
              </p:cNvSpPr>
              <p:nvPr/>
            </p:nvSpPr>
            <p:spPr>
              <a:xfrm>
                <a:off x="1219200" y="3676253"/>
                <a:ext cx="2057400" cy="312778"/>
              </a:xfrm>
              <a:prstGeom prst="rect">
                <a:avLst/>
              </a:prstGeom>
              <a:blipFill rotWithShape="1">
                <a:blip r:embed="rId6"/>
                <a:stretch>
                  <a:fillRect/>
                </a:stretch>
              </a:blipFill>
              <a:ln w="22225">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929745" y="4562297"/>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12" name="TextBox 11"/>
              <p:cNvSpPr txBox="1">
                <a:spLocks noRot="1" noChangeAspect="1" noMove="1" noResize="1" noEditPoints="1" noAdjustHandles="1" noChangeArrowheads="1" noChangeShapeType="1" noTextEdit="1"/>
              </p:cNvSpPr>
              <p:nvPr/>
            </p:nvSpPr>
            <p:spPr>
              <a:xfrm>
                <a:off x="5929745" y="4562297"/>
                <a:ext cx="2057400" cy="312778"/>
              </a:xfrm>
              <a:prstGeom prst="rect">
                <a:avLst/>
              </a:prstGeom>
              <a:blipFill rotWithShape="1">
                <a:blip r:embed="rId2"/>
                <a:stretch>
                  <a:fillRect b="-10714"/>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5943600" y="5021222"/>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13" name="TextBox 12"/>
              <p:cNvSpPr txBox="1">
                <a:spLocks noRot="1" noChangeAspect="1" noMove="1" noResize="1" noEditPoints="1" noAdjustHandles="1" noChangeArrowheads="1" noChangeShapeType="1" noTextEdit="1"/>
              </p:cNvSpPr>
              <p:nvPr/>
            </p:nvSpPr>
            <p:spPr>
              <a:xfrm>
                <a:off x="5943600" y="5021222"/>
                <a:ext cx="2057400" cy="312778"/>
              </a:xfrm>
              <a:prstGeom prst="rect">
                <a:avLst/>
              </a:prstGeom>
              <a:blipFill rotWithShape="1">
                <a:blip r:embed="rId3"/>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5943600" y="4094557"/>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14" name="TextBox 13"/>
              <p:cNvSpPr txBox="1">
                <a:spLocks noRot="1" noChangeAspect="1" noMove="1" noResize="1" noEditPoints="1" noAdjustHandles="1" noChangeArrowheads="1" noChangeShapeType="1" noTextEdit="1"/>
              </p:cNvSpPr>
              <p:nvPr/>
            </p:nvSpPr>
            <p:spPr>
              <a:xfrm>
                <a:off x="5943600" y="4094557"/>
                <a:ext cx="2057400" cy="312778"/>
              </a:xfrm>
              <a:prstGeom prst="rect">
                <a:avLst/>
              </a:prstGeom>
              <a:blipFill rotWithShape="1">
                <a:blip r:embed="rId3"/>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5929745" y="2753740"/>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15" name="TextBox 14"/>
              <p:cNvSpPr txBox="1">
                <a:spLocks noRot="1" noChangeAspect="1" noMove="1" noResize="1" noEditPoints="1" noAdjustHandles="1" noChangeArrowheads="1" noChangeShapeType="1" noTextEdit="1"/>
              </p:cNvSpPr>
              <p:nvPr/>
            </p:nvSpPr>
            <p:spPr>
              <a:xfrm>
                <a:off x="5929745" y="2753740"/>
                <a:ext cx="2057400" cy="312778"/>
              </a:xfrm>
              <a:prstGeom prst="rect">
                <a:avLst/>
              </a:prstGeom>
              <a:blipFill rotWithShape="1">
                <a:blip r:embed="rId4"/>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5943600" y="3212665"/>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5943600" y="3212665"/>
                <a:ext cx="2057400" cy="312778"/>
              </a:xfrm>
              <a:prstGeom prst="rect">
                <a:avLst/>
              </a:prstGeom>
              <a:blipFill rotWithShape="1">
                <a:blip r:embed="rId5"/>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5943600" y="2286000"/>
                <a:ext cx="2057400" cy="312778"/>
              </a:xfrm>
              <a:prstGeom prst="rect">
                <a:avLst/>
              </a:prstGeom>
              <a:noFill/>
              <a:ln w="22225">
                <a:solidFill>
                  <a:srgbClr val="0070C0"/>
                </a:solidFill>
              </a:ln>
            </p:spPr>
            <p:txBody>
              <a:bodyPr wrap="square" rtlCol="0">
                <a:spAutoFit/>
              </a:bodyPr>
              <a:lstStyle/>
              <a:p>
                <a:pPr algn="ctr"/>
                <a14:m>
                  <m:oMath xmlns:m="http://schemas.openxmlformats.org/officeDocument/2006/math">
                    <m:r>
                      <a:rPr lang="it-IT" sz="1400" b="0" i="1" smtClean="0">
                        <a:latin typeface="Cambria Math"/>
                      </a:rPr>
                      <m:t>𝑆</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5943600" y="2286000"/>
                <a:ext cx="2057400" cy="312778"/>
              </a:xfrm>
              <a:prstGeom prst="rect">
                <a:avLst/>
              </a:prstGeom>
              <a:blipFill rotWithShape="1">
                <a:blip r:embed="rId5"/>
                <a:stretch>
                  <a:fillRect b="-12727"/>
                </a:stretch>
              </a:blipFill>
              <a:ln w="22225">
                <a:solidFill>
                  <a:srgbClr val="0070C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943600" y="3676253"/>
                <a:ext cx="2057400" cy="312778"/>
              </a:xfrm>
              <a:prstGeom prst="rect">
                <a:avLst/>
              </a:prstGeom>
              <a:noFill/>
              <a:ln w="22225">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it-IT" sz="1400" b="0" i="1" smtClean="0">
                          <a:latin typeface="Cambria Math"/>
                        </a:rPr>
                        <m:t>….</m:t>
                      </m:r>
                    </m:oMath>
                  </m:oMathPara>
                </a14:m>
                <a:endParaRPr lang="en-US" sz="1400" dirty="0"/>
              </a:p>
            </p:txBody>
          </p:sp>
        </mc:Choice>
        <mc:Fallback xmlns="">
          <p:sp>
            <p:nvSpPr>
              <p:cNvPr id="18" name="TextBox 17"/>
              <p:cNvSpPr txBox="1">
                <a:spLocks noRot="1" noChangeAspect="1" noMove="1" noResize="1" noEditPoints="1" noAdjustHandles="1" noChangeArrowheads="1" noChangeShapeType="1" noTextEdit="1"/>
              </p:cNvSpPr>
              <p:nvPr/>
            </p:nvSpPr>
            <p:spPr>
              <a:xfrm>
                <a:off x="5943600" y="3676253"/>
                <a:ext cx="2057400" cy="312778"/>
              </a:xfrm>
              <a:prstGeom prst="rect">
                <a:avLst/>
              </a:prstGeom>
              <a:blipFill rotWithShape="1">
                <a:blip r:embed="rId6"/>
                <a:stretch>
                  <a:fillRect/>
                </a:stretch>
              </a:blipFill>
              <a:ln w="22225">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205345" y="1219200"/>
                <a:ext cx="2057400" cy="312778"/>
              </a:xfrm>
              <a:prstGeom prst="rect">
                <a:avLst/>
              </a:prstGeom>
              <a:noFill/>
              <a:ln w="22225">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it-IT" sz="1400" b="0" i="1" smtClean="0">
                          <a:latin typeface="Cambria Math"/>
                        </a:rPr>
                        <m:t>𝑆𝑢𝑏𝑗𝑒𝑐𝑡</m:t>
                      </m:r>
                      <m:r>
                        <a:rPr lang="it-IT" sz="1400" b="0" i="1" smtClean="0">
                          <a:latin typeface="Cambria Math"/>
                        </a:rPr>
                        <m:t> 1</m:t>
                      </m:r>
                    </m:oMath>
                  </m:oMathPara>
                </a14:m>
                <a:endParaRPr lang="en-US" sz="1400" dirty="0"/>
              </a:p>
            </p:txBody>
          </p:sp>
        </mc:Choice>
        <mc:Fallback xmlns="">
          <p:sp>
            <p:nvSpPr>
              <p:cNvPr id="19" name="TextBox 18"/>
              <p:cNvSpPr txBox="1">
                <a:spLocks noRot="1" noChangeAspect="1" noMove="1" noResize="1" noEditPoints="1" noAdjustHandles="1" noChangeArrowheads="1" noChangeShapeType="1" noTextEdit="1"/>
              </p:cNvSpPr>
              <p:nvPr/>
            </p:nvSpPr>
            <p:spPr>
              <a:xfrm>
                <a:off x="1205345" y="1219200"/>
                <a:ext cx="2057400" cy="312778"/>
              </a:xfrm>
              <a:prstGeom prst="rect">
                <a:avLst/>
              </a:prstGeom>
              <a:blipFill rotWithShape="1">
                <a:blip r:embed="rId7"/>
                <a:stretch>
                  <a:fillRect b="-5882"/>
                </a:stretch>
              </a:blipFill>
              <a:ln w="22225">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5943600" y="1219200"/>
                <a:ext cx="2057400" cy="312778"/>
              </a:xfrm>
              <a:prstGeom prst="rect">
                <a:avLst/>
              </a:prstGeom>
              <a:noFill/>
              <a:ln w="22225">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it-IT" sz="1400" b="0" i="1" smtClean="0">
                          <a:latin typeface="Cambria Math"/>
                        </a:rPr>
                        <m:t>𝑆𝑢𝑏𝑗𝑒𝑐𝑡</m:t>
                      </m:r>
                      <m:r>
                        <a:rPr lang="it-IT" sz="1400" b="0" i="1" smtClean="0">
                          <a:latin typeface="Cambria Math"/>
                        </a:rPr>
                        <m:t> </m:t>
                      </m:r>
                      <m:r>
                        <a:rPr lang="it-IT" sz="1400" b="0" i="1" smtClean="0">
                          <a:latin typeface="Cambria Math"/>
                        </a:rPr>
                        <m:t>𝑛</m:t>
                      </m:r>
                    </m:oMath>
                  </m:oMathPara>
                </a14:m>
                <a:endParaRPr lang="en-US" sz="1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5943600" y="1219200"/>
                <a:ext cx="2057400" cy="312778"/>
              </a:xfrm>
              <a:prstGeom prst="rect">
                <a:avLst/>
              </a:prstGeom>
              <a:blipFill rotWithShape="1">
                <a:blip r:embed="rId8"/>
                <a:stretch>
                  <a:fillRect b="-5882"/>
                </a:stretch>
              </a:blipFill>
              <a:ln w="22225">
                <a:noFill/>
              </a:ln>
            </p:spPr>
            <p:txBody>
              <a:bodyPr/>
              <a:lstStyle/>
              <a:p>
                <a:r>
                  <a:rPr lang="it-IT">
                    <a:noFill/>
                  </a:rPr>
                  <a:t> </a:t>
                </a:r>
              </a:p>
            </p:txBody>
          </p:sp>
        </mc:Fallback>
      </mc:AlternateContent>
    </p:spTree>
    <p:extLst>
      <p:ext uri="{BB962C8B-B14F-4D97-AF65-F5344CB8AC3E}">
        <p14:creationId xmlns:p14="http://schemas.microsoft.com/office/powerpoint/2010/main" val="1049196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057400"/>
            <a:ext cx="2476500" cy="160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Group 5"/>
          <p:cNvGrpSpPr/>
          <p:nvPr/>
        </p:nvGrpSpPr>
        <p:grpSpPr>
          <a:xfrm>
            <a:off x="740568" y="1143000"/>
            <a:ext cx="5203031" cy="3810000"/>
            <a:chOff x="740569" y="146690"/>
            <a:chExt cx="3983832" cy="3145150"/>
          </a:xfrm>
        </p:grpSpPr>
        <p:pic>
          <p:nvPicPr>
            <p:cNvPr id="10" name="Picture 2" descr="C:\Users\310153563\Documents\GitHub\COPDBodyMedia_2nd_analysis\COPDBodyMedia2_paper\IEEEtran_windows\figure\png\figure_5_sleeping.png"/>
            <p:cNvPicPr preferRelativeResize="0">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569" y="304800"/>
              <a:ext cx="3983832" cy="298704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295401" y="146690"/>
              <a:ext cx="3048000" cy="338554"/>
            </a:xfrm>
            <a:prstGeom prst="rect">
              <a:avLst/>
            </a:prstGeom>
            <a:noFill/>
            <a:ln w="25400">
              <a:solidFill>
                <a:schemeClr val="accent1">
                  <a:lumMod val="75000"/>
                </a:schemeClr>
              </a:solidFill>
            </a:ln>
          </p:spPr>
          <p:txBody>
            <a:bodyPr wrap="square" rtlCol="0">
              <a:spAutoFit/>
            </a:bodyPr>
            <a:lstStyle/>
            <a:p>
              <a:pPr algn="ctr"/>
              <a:r>
                <a:rPr lang="en-US" sz="1600" dirty="0" smtClean="0"/>
                <a:t>Sleeping</a:t>
              </a:r>
              <a:endParaRPr lang="en-US" sz="1600" dirty="0"/>
            </a:p>
          </p:txBody>
        </p:sp>
      </p:grpSp>
    </p:spTree>
    <p:extLst>
      <p:ext uri="{BB962C8B-B14F-4D97-AF65-F5344CB8AC3E}">
        <p14:creationId xmlns:p14="http://schemas.microsoft.com/office/powerpoint/2010/main" val="40620279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Group 67"/>
          <p:cNvGrpSpPr>
            <a:grpSpLocks noChangeAspect="1"/>
          </p:cNvGrpSpPr>
          <p:nvPr/>
        </p:nvGrpSpPr>
        <p:grpSpPr>
          <a:xfrm>
            <a:off x="777715" y="1677040"/>
            <a:ext cx="2725200" cy="2894960"/>
            <a:chOff x="1981200" y="76200"/>
            <a:chExt cx="5450400" cy="5789920"/>
          </a:xfrm>
        </p:grpSpPr>
        <p:grpSp>
          <p:nvGrpSpPr>
            <p:cNvPr id="69" name="Group 68"/>
            <p:cNvGrpSpPr/>
            <p:nvPr/>
          </p:nvGrpSpPr>
          <p:grpSpPr>
            <a:xfrm>
              <a:off x="1981200" y="76200"/>
              <a:ext cx="5450400" cy="4661354"/>
              <a:chOff x="1905000" y="-7200"/>
              <a:chExt cx="5450400" cy="4661354"/>
            </a:xfrm>
          </p:grpSpPr>
          <p:pic>
            <p:nvPicPr>
              <p:cNvPr id="75" name="Picture 74"/>
              <p:cNvPicPr/>
              <p:nvPr/>
            </p:nvPicPr>
            <p:blipFill>
              <a:blip r:embed="rId2"/>
              <a:stretch>
                <a:fillRect/>
              </a:stretch>
            </p:blipFill>
            <p:spPr>
              <a:xfrm>
                <a:off x="1905000" y="-7200"/>
                <a:ext cx="5333400" cy="3998520"/>
              </a:xfrm>
              <a:prstGeom prst="rect">
                <a:avLst/>
              </a:prstGeom>
            </p:spPr>
          </p:pic>
          <p:sp>
            <p:nvSpPr>
              <p:cNvPr id="76" name="CustomShape 6"/>
              <p:cNvSpPr/>
              <p:nvPr/>
            </p:nvSpPr>
            <p:spPr>
              <a:xfrm>
                <a:off x="2019840" y="3991598"/>
                <a:ext cx="406780" cy="419292"/>
              </a:xfrm>
              <a:prstGeom prst="roundRect">
                <a:avLst>
                  <a:gd name="adj" fmla="val 3600"/>
                </a:avLst>
              </a:prstGeom>
              <a:ln w="36000">
                <a:solidFill>
                  <a:srgbClr val="2323DC"/>
                </a:solidFill>
                <a:round/>
              </a:ln>
            </p:spPr>
          </p:sp>
          <p:sp>
            <p:nvSpPr>
              <p:cNvPr id="77" name="Line 7"/>
              <p:cNvSpPr/>
              <p:nvPr/>
            </p:nvSpPr>
            <p:spPr>
              <a:xfrm flipH="1">
                <a:off x="2426620" y="3212329"/>
                <a:ext cx="435616" cy="787980"/>
              </a:xfrm>
              <a:prstGeom prst="line">
                <a:avLst/>
              </a:prstGeom>
              <a:ln w="36000">
                <a:solidFill>
                  <a:srgbClr val="2300DC"/>
                </a:solidFill>
                <a:round/>
              </a:ln>
            </p:spPr>
          </p:sp>
          <p:sp>
            <p:nvSpPr>
              <p:cNvPr id="78" name="Line 8"/>
              <p:cNvSpPr/>
              <p:nvPr/>
            </p:nvSpPr>
            <p:spPr>
              <a:xfrm flipH="1">
                <a:off x="2030697" y="3212328"/>
                <a:ext cx="832558" cy="779271"/>
              </a:xfrm>
              <a:prstGeom prst="line">
                <a:avLst/>
              </a:prstGeom>
              <a:ln w="36000">
                <a:solidFill>
                  <a:srgbClr val="2300DC"/>
                </a:solidFill>
                <a:round/>
              </a:ln>
            </p:spPr>
          </p:sp>
          <p:sp>
            <p:nvSpPr>
              <p:cNvPr id="79" name="Line 9"/>
              <p:cNvSpPr/>
              <p:nvPr/>
            </p:nvSpPr>
            <p:spPr>
              <a:xfrm flipH="1">
                <a:off x="2426619" y="3212328"/>
                <a:ext cx="436635" cy="1198562"/>
              </a:xfrm>
              <a:prstGeom prst="line">
                <a:avLst/>
              </a:prstGeom>
              <a:ln w="36000">
                <a:solidFill>
                  <a:srgbClr val="2300DC"/>
                </a:solidFill>
                <a:round/>
              </a:ln>
            </p:spPr>
          </p:sp>
          <p:sp>
            <p:nvSpPr>
              <p:cNvPr id="80" name="Line 19"/>
              <p:cNvSpPr/>
              <p:nvPr/>
            </p:nvSpPr>
            <p:spPr>
              <a:xfrm flipH="1">
                <a:off x="2019839" y="3212329"/>
                <a:ext cx="842397" cy="1198562"/>
              </a:xfrm>
              <a:prstGeom prst="line">
                <a:avLst/>
              </a:prstGeom>
              <a:ln>
                <a:solidFill>
                  <a:srgbClr val="2300DC"/>
                </a:solidFill>
                <a:custDash>
                  <a:ds d="508000" sp="508000"/>
                  <a:ds d="508000" sp="508000"/>
                </a:custDash>
              </a:ln>
            </p:spPr>
          </p:sp>
          <p:grpSp>
            <p:nvGrpSpPr>
              <p:cNvPr id="81" name="Group 80"/>
              <p:cNvGrpSpPr/>
              <p:nvPr/>
            </p:nvGrpSpPr>
            <p:grpSpPr>
              <a:xfrm>
                <a:off x="4536000" y="846910"/>
                <a:ext cx="2819400" cy="3572690"/>
                <a:chOff x="2743200" y="838200"/>
                <a:chExt cx="2819400" cy="3572690"/>
              </a:xfrm>
            </p:grpSpPr>
            <p:sp>
              <p:nvSpPr>
                <p:cNvPr id="95" name="CustomShape 20"/>
                <p:cNvSpPr/>
                <p:nvPr/>
              </p:nvSpPr>
              <p:spPr>
                <a:xfrm>
                  <a:off x="5155819" y="3991598"/>
                  <a:ext cx="406780" cy="419292"/>
                </a:xfrm>
                <a:prstGeom prst="roundRect">
                  <a:avLst>
                    <a:gd name="adj" fmla="val 3600"/>
                  </a:avLst>
                </a:prstGeom>
                <a:ln w="36000">
                  <a:solidFill>
                    <a:srgbClr val="FF420E"/>
                  </a:solidFill>
                  <a:round/>
                </a:ln>
              </p:spPr>
            </p:sp>
            <p:sp>
              <p:nvSpPr>
                <p:cNvPr id="96" name="Line 21"/>
                <p:cNvSpPr/>
                <p:nvPr/>
              </p:nvSpPr>
              <p:spPr>
                <a:xfrm>
                  <a:off x="2743200" y="838200"/>
                  <a:ext cx="2819399" cy="3162108"/>
                </a:xfrm>
                <a:prstGeom prst="line">
                  <a:avLst/>
                </a:prstGeom>
                <a:ln w="36000">
                  <a:solidFill>
                    <a:srgbClr val="FF420E"/>
                  </a:solidFill>
                  <a:round/>
                </a:ln>
              </p:spPr>
            </p:sp>
            <p:sp>
              <p:nvSpPr>
                <p:cNvPr id="97" name="Line 22"/>
                <p:cNvSpPr/>
                <p:nvPr/>
              </p:nvSpPr>
              <p:spPr>
                <a:xfrm>
                  <a:off x="2743200" y="838200"/>
                  <a:ext cx="2412619" cy="3153398"/>
                </a:xfrm>
                <a:prstGeom prst="line">
                  <a:avLst/>
                </a:prstGeom>
                <a:ln w="36000">
                  <a:solidFill>
                    <a:srgbClr val="FF420E"/>
                  </a:solidFill>
                  <a:round/>
                </a:ln>
              </p:spPr>
            </p:sp>
            <p:sp>
              <p:nvSpPr>
                <p:cNvPr id="98" name="Line 23"/>
                <p:cNvSpPr/>
                <p:nvPr/>
              </p:nvSpPr>
              <p:spPr>
                <a:xfrm>
                  <a:off x="2743200" y="838200"/>
                  <a:ext cx="2819400" cy="3572690"/>
                </a:xfrm>
                <a:prstGeom prst="line">
                  <a:avLst/>
                </a:prstGeom>
                <a:ln>
                  <a:solidFill>
                    <a:srgbClr val="FF420E"/>
                  </a:solidFill>
                  <a:prstDash val="dash"/>
                </a:ln>
              </p:spPr>
            </p:sp>
            <p:sp>
              <p:nvSpPr>
                <p:cNvPr id="99" name="Line 24"/>
                <p:cNvSpPr/>
                <p:nvPr/>
              </p:nvSpPr>
              <p:spPr>
                <a:xfrm>
                  <a:off x="2743200" y="838200"/>
                  <a:ext cx="2412620" cy="3572690"/>
                </a:xfrm>
                <a:prstGeom prst="line">
                  <a:avLst/>
                </a:prstGeom>
                <a:ln w="36000">
                  <a:solidFill>
                    <a:srgbClr val="FF420E"/>
                  </a:solidFill>
                  <a:round/>
                </a:ln>
              </p:spPr>
            </p:sp>
          </p:grpSp>
          <p:grpSp>
            <p:nvGrpSpPr>
              <p:cNvPr id="82" name="Group 81"/>
              <p:cNvGrpSpPr/>
              <p:nvPr/>
            </p:nvGrpSpPr>
            <p:grpSpPr>
              <a:xfrm>
                <a:off x="4917000" y="1676401"/>
                <a:ext cx="1910180" cy="2743199"/>
                <a:chOff x="3195220" y="1676401"/>
                <a:chExt cx="1910180" cy="2743199"/>
              </a:xfrm>
            </p:grpSpPr>
            <p:sp>
              <p:nvSpPr>
                <p:cNvPr id="90" name="Line 14"/>
                <p:cNvSpPr/>
                <p:nvPr/>
              </p:nvSpPr>
              <p:spPr>
                <a:xfrm>
                  <a:off x="3195220" y="1676401"/>
                  <a:ext cx="1503400" cy="2323907"/>
                </a:xfrm>
                <a:prstGeom prst="line">
                  <a:avLst/>
                </a:prstGeom>
                <a:ln w="36000">
                  <a:solidFill>
                    <a:srgbClr val="E6FF00"/>
                  </a:solidFill>
                  <a:round/>
                </a:ln>
              </p:spPr>
            </p:sp>
            <p:sp>
              <p:nvSpPr>
                <p:cNvPr id="91" name="Line 15"/>
                <p:cNvSpPr/>
                <p:nvPr/>
              </p:nvSpPr>
              <p:spPr>
                <a:xfrm>
                  <a:off x="3195220" y="1676401"/>
                  <a:ext cx="1900341" cy="2743199"/>
                </a:xfrm>
                <a:prstGeom prst="line">
                  <a:avLst/>
                </a:prstGeom>
                <a:ln>
                  <a:solidFill>
                    <a:srgbClr val="E6FF00"/>
                  </a:solidFill>
                  <a:prstDash val="dash"/>
                </a:ln>
              </p:spPr>
            </p:sp>
            <p:sp>
              <p:nvSpPr>
                <p:cNvPr id="92" name="Line 16"/>
                <p:cNvSpPr/>
                <p:nvPr/>
              </p:nvSpPr>
              <p:spPr>
                <a:xfrm>
                  <a:off x="3195220" y="1676401"/>
                  <a:ext cx="1503400" cy="2743199"/>
                </a:xfrm>
                <a:prstGeom prst="line">
                  <a:avLst/>
                </a:prstGeom>
                <a:ln w="36000">
                  <a:solidFill>
                    <a:srgbClr val="E6FF00"/>
                  </a:solidFill>
                  <a:round/>
                </a:ln>
              </p:spPr>
            </p:sp>
            <p:sp>
              <p:nvSpPr>
                <p:cNvPr id="93" name="Line 13"/>
                <p:cNvSpPr/>
                <p:nvPr/>
              </p:nvSpPr>
              <p:spPr>
                <a:xfrm>
                  <a:off x="3195220" y="1676401"/>
                  <a:ext cx="1910180" cy="2332792"/>
                </a:xfrm>
                <a:prstGeom prst="line">
                  <a:avLst/>
                </a:prstGeom>
                <a:ln w="36000">
                  <a:solidFill>
                    <a:srgbClr val="E6FF00"/>
                  </a:solidFill>
                  <a:round/>
                </a:ln>
              </p:spPr>
            </p:sp>
            <p:sp>
              <p:nvSpPr>
                <p:cNvPr id="94" name="CustomShape 12"/>
                <p:cNvSpPr/>
                <p:nvPr/>
              </p:nvSpPr>
              <p:spPr>
                <a:xfrm>
                  <a:off x="4698620" y="4000308"/>
                  <a:ext cx="406780" cy="419292"/>
                </a:xfrm>
                <a:prstGeom prst="roundRect">
                  <a:avLst>
                    <a:gd name="adj" fmla="val 3600"/>
                  </a:avLst>
                </a:prstGeom>
                <a:ln w="36000">
                  <a:solidFill>
                    <a:srgbClr val="E6FF00"/>
                  </a:solidFill>
                  <a:round/>
                </a:ln>
              </p:spPr>
            </p:sp>
          </p:grpSp>
          <p:grpSp>
            <p:nvGrpSpPr>
              <p:cNvPr id="83" name="Group 82"/>
              <p:cNvGrpSpPr/>
              <p:nvPr/>
            </p:nvGrpSpPr>
            <p:grpSpPr>
              <a:xfrm>
                <a:off x="2478600" y="2427658"/>
                <a:ext cx="3872044" cy="2226496"/>
                <a:chOff x="609600" y="2427658"/>
                <a:chExt cx="3872044" cy="2226496"/>
              </a:xfrm>
            </p:grpSpPr>
            <p:sp>
              <p:nvSpPr>
                <p:cNvPr id="84" name="Line 10"/>
                <p:cNvSpPr/>
                <p:nvPr/>
              </p:nvSpPr>
              <p:spPr>
                <a:xfrm>
                  <a:off x="2922375" y="2433058"/>
                  <a:ext cx="1559267" cy="1977832"/>
                </a:xfrm>
                <a:prstGeom prst="line">
                  <a:avLst/>
                </a:prstGeom>
                <a:ln>
                  <a:solidFill>
                    <a:srgbClr val="00CCCC"/>
                  </a:solidFill>
                  <a:custDash>
                    <a:ds d="508000" sp="508000"/>
                    <a:ds d="508000" sp="508000"/>
                  </a:custDash>
                </a:ln>
              </p:spPr>
            </p:sp>
            <p:sp>
              <p:nvSpPr>
                <p:cNvPr id="85" name="Line 11"/>
                <p:cNvSpPr/>
                <p:nvPr/>
              </p:nvSpPr>
              <p:spPr>
                <a:xfrm flipH="1">
                  <a:off x="609601" y="2433058"/>
                  <a:ext cx="2312774" cy="1977832"/>
                </a:xfrm>
                <a:prstGeom prst="line">
                  <a:avLst/>
                </a:prstGeom>
                <a:ln>
                  <a:solidFill>
                    <a:srgbClr val="00CCCC"/>
                  </a:solidFill>
                  <a:custDash>
                    <a:ds d="508000" sp="508000"/>
                    <a:ds d="508000" sp="508000"/>
                  </a:custDash>
                </a:ln>
              </p:spPr>
            </p:sp>
            <p:sp>
              <p:nvSpPr>
                <p:cNvPr id="86" name="CustomShape 17"/>
                <p:cNvSpPr/>
                <p:nvPr/>
              </p:nvSpPr>
              <p:spPr>
                <a:xfrm>
                  <a:off x="609601" y="3991598"/>
                  <a:ext cx="3872041" cy="419292"/>
                </a:xfrm>
                <a:prstGeom prst="roundRect">
                  <a:avLst>
                    <a:gd name="adj" fmla="val 3600"/>
                  </a:avLst>
                </a:prstGeom>
                <a:ln w="36000">
                  <a:solidFill>
                    <a:srgbClr val="00CCCC"/>
                  </a:solidFill>
                  <a:round/>
                </a:ln>
              </p:spPr>
            </p:sp>
            <p:sp>
              <p:nvSpPr>
                <p:cNvPr id="87" name="Line 18"/>
                <p:cNvSpPr/>
                <p:nvPr/>
              </p:nvSpPr>
              <p:spPr>
                <a:xfrm>
                  <a:off x="2922375" y="2427658"/>
                  <a:ext cx="1559267" cy="1572650"/>
                </a:xfrm>
                <a:prstGeom prst="line">
                  <a:avLst/>
                </a:prstGeom>
                <a:ln w="36000">
                  <a:solidFill>
                    <a:srgbClr val="00CCCC"/>
                  </a:solidFill>
                  <a:round/>
                </a:ln>
              </p:spPr>
            </p:sp>
            <p:sp>
              <p:nvSpPr>
                <p:cNvPr id="88" name="Line 5"/>
                <p:cNvSpPr/>
                <p:nvPr/>
              </p:nvSpPr>
              <p:spPr>
                <a:xfrm flipH="1">
                  <a:off x="609600" y="2427658"/>
                  <a:ext cx="2312775" cy="1572650"/>
                </a:xfrm>
                <a:prstGeom prst="line">
                  <a:avLst/>
                </a:prstGeom>
                <a:ln w="36000">
                  <a:solidFill>
                    <a:srgbClr val="00CCCC"/>
                  </a:solidFill>
                  <a:round/>
                </a:ln>
              </p:spPr>
            </p:sp>
            <p:sp>
              <p:nvSpPr>
                <p:cNvPr id="89" name="TextBox 88"/>
                <p:cNvSpPr txBox="1"/>
                <p:nvPr/>
              </p:nvSpPr>
              <p:spPr>
                <a:xfrm>
                  <a:off x="609602" y="4038600"/>
                  <a:ext cx="3872042" cy="615554"/>
                </a:xfrm>
                <a:prstGeom prst="rect">
                  <a:avLst/>
                </a:prstGeom>
                <a:noFill/>
              </p:spPr>
              <p:txBody>
                <a:bodyPr wrap="square" rtlCol="0">
                  <a:spAutoFit/>
                </a:bodyPr>
                <a:lstStyle/>
                <a:p>
                  <a:pPr algn="ctr"/>
                  <a:endParaRPr lang="en-US" sz="1400" dirty="0"/>
                </a:p>
              </p:txBody>
            </p:sp>
          </p:grpSp>
        </p:grpSp>
        <p:sp>
          <p:nvSpPr>
            <p:cNvPr id="70" name="Rectangle 69"/>
            <p:cNvSpPr/>
            <p:nvPr/>
          </p:nvSpPr>
          <p:spPr>
            <a:xfrm>
              <a:off x="3462121" y="4762500"/>
              <a:ext cx="2057400" cy="381000"/>
            </a:xfrm>
            <a:prstGeom prst="rect">
              <a:avLst/>
            </a:prstGeom>
            <a:no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dirty="0" smtClean="0">
                  <a:solidFill>
                    <a:srgbClr val="000000"/>
                  </a:solidFill>
                </a:rPr>
                <a:t>Feature selection</a:t>
              </a:r>
              <a:endParaRPr lang="en-US" sz="800" dirty="0">
                <a:solidFill>
                  <a:srgbClr val="000000"/>
                </a:solidFill>
              </a:endParaRPr>
            </a:p>
          </p:txBody>
        </p:sp>
        <p:sp>
          <p:nvSpPr>
            <p:cNvPr id="71" name="CustomShape 17"/>
            <p:cNvSpPr/>
            <p:nvPr/>
          </p:nvSpPr>
          <p:spPr>
            <a:xfrm>
              <a:off x="3462122" y="5372100"/>
              <a:ext cx="2057400" cy="419292"/>
            </a:xfrm>
            <a:prstGeom prst="roundRect">
              <a:avLst>
                <a:gd name="adj" fmla="val 3600"/>
              </a:avLst>
            </a:prstGeom>
            <a:ln w="36000">
              <a:solidFill>
                <a:srgbClr val="00CCCC"/>
              </a:solidFill>
              <a:round/>
            </a:ln>
          </p:spPr>
        </p:sp>
        <mc:AlternateContent xmlns:mc="http://schemas.openxmlformats.org/markup-compatibility/2006" xmlns:a14="http://schemas.microsoft.com/office/drawing/2010/main">
          <mc:Choice Requires="a14">
            <p:sp>
              <p:nvSpPr>
                <p:cNvPr id="72" name="TextBox 71"/>
                <p:cNvSpPr txBox="1"/>
                <p:nvPr/>
              </p:nvSpPr>
              <p:spPr>
                <a:xfrm>
                  <a:off x="3462122" y="5420740"/>
                  <a:ext cx="2057400" cy="445380"/>
                </a:xfrm>
                <a:prstGeom prst="rect">
                  <a:avLst/>
                </a:prstGeom>
                <a:noFill/>
              </p:spPr>
              <p:txBody>
                <a:bodyPr wrap="square" rtlCol="0">
                  <a:spAutoFit/>
                </a:bodyPr>
                <a:lstStyle/>
                <a:p>
                  <a:pPr algn="ctr"/>
                  <a14:m>
                    <m:oMath xmlns:m="http://schemas.openxmlformats.org/officeDocument/2006/math">
                      <m:sSub>
                        <m:sSubPr>
                          <m:ctrlPr>
                            <a:rPr lang="en-US" sz="800" i="1" smtClean="0">
                              <a:latin typeface="Cambria Math"/>
                            </a:rPr>
                          </m:ctrlPr>
                        </m:sSubPr>
                        <m:e>
                          <m:r>
                            <a:rPr lang="en-US" sz="800" i="1">
                              <a:latin typeface="Cambria Math"/>
                            </a:rPr>
                            <m:t>𝐼𝐶</m:t>
                          </m:r>
                        </m:e>
                        <m:sub>
                          <m:r>
                            <a:rPr lang="en-US" sz="800" i="1">
                              <a:latin typeface="Cambria Math"/>
                            </a:rPr>
                            <m:t>𝑖</m:t>
                          </m:r>
                        </m:sub>
                      </m:sSub>
                      <m:r>
                        <a:rPr lang="en-US" sz="800" b="0" i="1" smtClean="0">
                          <a:latin typeface="Cambria Math"/>
                        </a:rPr>
                        <m:t>,</m:t>
                      </m:r>
                    </m:oMath>
                  </a14:m>
                  <a:r>
                    <a:rPr lang="en-US" sz="800" dirty="0">
                      <a:ea typeface="Cambria Math"/>
                    </a:rPr>
                    <a:t> </a:t>
                  </a:r>
                  <a14:m>
                    <m:oMath xmlns:m="http://schemas.openxmlformats.org/officeDocument/2006/math">
                      <m:sSubSup>
                        <m:sSubSupPr>
                          <m:ctrlPr>
                            <a:rPr lang="en-US" sz="800" i="1">
                              <a:latin typeface="Cambria Math"/>
                              <a:ea typeface="Cambria Math"/>
                            </a:rPr>
                          </m:ctrlPr>
                        </m:sSubSupPr>
                        <m:e>
                          <m:r>
                            <a:rPr lang="en-US" sz="800" b="0" i="1" smtClean="0">
                              <a:latin typeface="Cambria Math"/>
                              <a:ea typeface="Cambria Math"/>
                            </a:rPr>
                            <m:t>𝑓</m:t>
                          </m:r>
                        </m:e>
                        <m:sub>
                          <m:r>
                            <a:rPr lang="en-US" sz="800" i="1">
                              <a:latin typeface="Cambria Math"/>
                              <a:ea typeface="Cambria Math"/>
                            </a:rPr>
                            <m:t>𝑖</m:t>
                          </m:r>
                        </m:sub>
                        <m:sup>
                          <m:r>
                            <a:rPr lang="en-US" sz="800" b="0" i="1" smtClean="0">
                              <a:latin typeface="Cambria Math"/>
                              <a:ea typeface="Cambria Math"/>
                            </a:rPr>
                            <m:t>1</m:t>
                          </m:r>
                        </m:sup>
                      </m:sSubSup>
                    </m:oMath>
                  </a14:m>
                  <a:r>
                    <a:rPr lang="en-US" sz="800" dirty="0" smtClean="0"/>
                    <a:t>,</a:t>
                  </a:r>
                  <a14:m>
                    <m:oMath xmlns:m="http://schemas.openxmlformats.org/officeDocument/2006/math">
                      <m:sSubSup>
                        <m:sSubSupPr>
                          <m:ctrlPr>
                            <a:rPr lang="en-US" sz="800" i="1" smtClean="0">
                              <a:latin typeface="Cambria Math"/>
                              <a:ea typeface="Cambria Math"/>
                            </a:rPr>
                          </m:ctrlPr>
                        </m:sSubSupPr>
                        <m:e>
                          <m:r>
                            <a:rPr lang="en-US" sz="800" b="0" i="1" smtClean="0">
                              <a:latin typeface="Cambria Math"/>
                              <a:ea typeface="Cambria Math"/>
                            </a:rPr>
                            <m:t>𝑓</m:t>
                          </m:r>
                        </m:e>
                        <m:sub>
                          <m:r>
                            <a:rPr lang="en-US" sz="800" i="1">
                              <a:latin typeface="Cambria Math"/>
                              <a:ea typeface="Cambria Math"/>
                            </a:rPr>
                            <m:t>𝑖</m:t>
                          </m:r>
                        </m:sub>
                        <m:sup>
                          <m:r>
                            <a:rPr lang="en-US" sz="800" b="0" i="1" smtClean="0">
                              <a:latin typeface="Cambria Math"/>
                              <a:ea typeface="Cambria Math"/>
                            </a:rPr>
                            <m:t>2</m:t>
                          </m:r>
                        </m:sup>
                      </m:sSubSup>
                      <m:r>
                        <a:rPr lang="en-US" sz="800" b="0" i="1" smtClean="0">
                          <a:latin typeface="Cambria Math"/>
                          <a:ea typeface="Cambria Math"/>
                        </a:rPr>
                        <m:t>,</m:t>
                      </m:r>
                      <m:sSubSup>
                        <m:sSubSupPr>
                          <m:ctrlPr>
                            <a:rPr lang="en-US" sz="800" i="1">
                              <a:latin typeface="Cambria Math"/>
                              <a:ea typeface="Cambria Math"/>
                            </a:rPr>
                          </m:ctrlPr>
                        </m:sSubSupPr>
                        <m:e>
                          <m:r>
                            <a:rPr lang="en-US" sz="800" b="0" i="1" smtClean="0">
                              <a:latin typeface="Cambria Math"/>
                              <a:ea typeface="Cambria Math"/>
                            </a:rPr>
                            <m:t>𝑓</m:t>
                          </m:r>
                        </m:e>
                        <m:sub>
                          <m:r>
                            <a:rPr lang="en-US" sz="800" i="1">
                              <a:latin typeface="Cambria Math"/>
                              <a:ea typeface="Cambria Math"/>
                            </a:rPr>
                            <m:t>𝑖</m:t>
                          </m:r>
                        </m:sub>
                        <m:sup>
                          <m:r>
                            <a:rPr lang="en-US" sz="800" b="0" i="1" smtClean="0">
                              <a:latin typeface="Cambria Math"/>
                              <a:ea typeface="Cambria Math"/>
                            </a:rPr>
                            <m:t>3</m:t>
                          </m:r>
                        </m:sup>
                      </m:sSubSup>
                    </m:oMath>
                  </a14:m>
                  <a:endParaRPr lang="en-US" sz="800" dirty="0"/>
                </a:p>
              </p:txBody>
            </p:sp>
          </mc:Choice>
          <mc:Fallback xmlns="">
            <p:sp>
              <p:nvSpPr>
                <p:cNvPr id="72" name="TextBox 71"/>
                <p:cNvSpPr txBox="1">
                  <a:spLocks noRot="1" noChangeAspect="1" noMove="1" noResize="1" noEditPoints="1" noAdjustHandles="1" noChangeArrowheads="1" noChangeShapeType="1" noTextEdit="1"/>
                </p:cNvSpPr>
                <p:nvPr/>
              </p:nvSpPr>
              <p:spPr>
                <a:xfrm>
                  <a:off x="3462122" y="5420740"/>
                  <a:ext cx="2057400" cy="445380"/>
                </a:xfrm>
                <a:prstGeom prst="rect">
                  <a:avLst/>
                </a:prstGeom>
                <a:blipFill rotWithShape="1">
                  <a:blip r:embed="rId3"/>
                  <a:stretch>
                    <a:fillRect b="-8108"/>
                  </a:stretch>
                </a:blipFill>
              </p:spPr>
              <p:txBody>
                <a:bodyPr/>
                <a:lstStyle/>
                <a:p>
                  <a:r>
                    <a:rPr lang="en-US">
                      <a:noFill/>
                    </a:rPr>
                    <a:t> </a:t>
                  </a:r>
                </a:p>
              </p:txBody>
            </p:sp>
          </mc:Fallback>
        </mc:AlternateContent>
        <p:cxnSp>
          <p:nvCxnSpPr>
            <p:cNvPr id="73" name="Straight Arrow Connector 72"/>
            <p:cNvCxnSpPr>
              <a:endCxn id="70" idx="0"/>
            </p:cNvCxnSpPr>
            <p:nvPr/>
          </p:nvCxnSpPr>
          <p:spPr>
            <a:xfrm>
              <a:off x="4483743" y="4525190"/>
              <a:ext cx="7078" cy="23731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74" name="Straight Arrow Connector 73"/>
            <p:cNvCxnSpPr>
              <a:stCxn id="70" idx="2"/>
              <a:endCxn id="71" idx="0"/>
            </p:cNvCxnSpPr>
            <p:nvPr/>
          </p:nvCxnSpPr>
          <p:spPr>
            <a:xfrm>
              <a:off x="4490821" y="5143500"/>
              <a:ext cx="1" cy="22860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sp>
        <p:nvSpPr>
          <p:cNvPr id="38" name="TextBox 37"/>
          <p:cNvSpPr txBox="1"/>
          <p:nvPr/>
        </p:nvSpPr>
        <p:spPr>
          <a:xfrm>
            <a:off x="5181600" y="1066800"/>
            <a:ext cx="2971800" cy="338554"/>
          </a:xfrm>
          <a:prstGeom prst="rect">
            <a:avLst/>
          </a:prstGeom>
          <a:noFill/>
          <a:ln w="25400">
            <a:solidFill>
              <a:schemeClr val="accent1">
                <a:lumMod val="40000"/>
                <a:lumOff val="60000"/>
              </a:schemeClr>
            </a:solidFill>
          </a:ln>
        </p:spPr>
        <p:txBody>
          <a:bodyPr wrap="square" rtlCol="0">
            <a:spAutoFit/>
          </a:bodyPr>
          <a:lstStyle/>
          <a:p>
            <a:pPr algn="ctr"/>
            <a:r>
              <a:rPr lang="en-US" sz="1600" dirty="0" smtClean="0"/>
              <a:t>Very light</a:t>
            </a:r>
            <a:endParaRPr lang="en-US" sz="1600" dirty="0"/>
          </a:p>
        </p:txBody>
      </p:sp>
      <p:pic>
        <p:nvPicPr>
          <p:cNvPr id="39" name="Picture 5" descr="C:\Users\310153563\Documents\GitHub\COPDBodyMedia_2nd_analysis\COPDBodyMedia2_paper\IEEEtran_windows\figure\png\figure_5_onlygaiss_verylight.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0596" y="1463338"/>
            <a:ext cx="3733808" cy="2799289"/>
          </a:xfrm>
          <a:prstGeom prst="rect">
            <a:avLst/>
          </a:prstGeom>
          <a:noFill/>
          <a:extLst>
            <a:ext uri="{909E8E84-426E-40DD-AFC4-6F175D3DCCD1}">
              <a14:hiddenFill xmlns:a14="http://schemas.microsoft.com/office/drawing/2010/main">
                <a:solidFill>
                  <a:srgbClr val="FFFFFF"/>
                </a:solidFill>
              </a14:hiddenFill>
            </a:ext>
          </a:extLst>
        </p:spPr>
      </p:pic>
      <p:cxnSp>
        <p:nvCxnSpPr>
          <p:cNvPr id="3" name="Curved Connector 2"/>
          <p:cNvCxnSpPr>
            <a:stCxn id="72" idx="2"/>
          </p:cNvCxnSpPr>
          <p:nvPr/>
        </p:nvCxnSpPr>
        <p:spPr>
          <a:xfrm rot="5400000" flipH="1" flipV="1">
            <a:off x="2692663" y="1549663"/>
            <a:ext cx="2362200" cy="3682474"/>
          </a:xfrm>
          <a:prstGeom prst="curvedConnector4">
            <a:avLst>
              <a:gd name="adj1" fmla="val -9677"/>
              <a:gd name="adj2" fmla="val 56984"/>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37256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Group 67"/>
          <p:cNvGrpSpPr>
            <a:grpSpLocks noChangeAspect="1"/>
          </p:cNvGrpSpPr>
          <p:nvPr/>
        </p:nvGrpSpPr>
        <p:grpSpPr>
          <a:xfrm>
            <a:off x="777715" y="1677040"/>
            <a:ext cx="2725200" cy="2894960"/>
            <a:chOff x="1981200" y="76200"/>
            <a:chExt cx="5450400" cy="5789920"/>
          </a:xfrm>
        </p:grpSpPr>
        <p:grpSp>
          <p:nvGrpSpPr>
            <p:cNvPr id="69" name="Group 68"/>
            <p:cNvGrpSpPr/>
            <p:nvPr/>
          </p:nvGrpSpPr>
          <p:grpSpPr>
            <a:xfrm>
              <a:off x="1981200" y="76200"/>
              <a:ext cx="5450400" cy="4661354"/>
              <a:chOff x="1905000" y="-7200"/>
              <a:chExt cx="5450400" cy="4661354"/>
            </a:xfrm>
          </p:grpSpPr>
          <p:pic>
            <p:nvPicPr>
              <p:cNvPr id="75" name="Picture 74"/>
              <p:cNvPicPr/>
              <p:nvPr/>
            </p:nvPicPr>
            <p:blipFill>
              <a:blip r:embed="rId2"/>
              <a:stretch>
                <a:fillRect/>
              </a:stretch>
            </p:blipFill>
            <p:spPr>
              <a:xfrm>
                <a:off x="1905000" y="-7200"/>
                <a:ext cx="5333400" cy="3998520"/>
              </a:xfrm>
              <a:prstGeom prst="rect">
                <a:avLst/>
              </a:prstGeom>
            </p:spPr>
          </p:pic>
          <p:sp>
            <p:nvSpPr>
              <p:cNvPr id="76" name="CustomShape 6"/>
              <p:cNvSpPr/>
              <p:nvPr/>
            </p:nvSpPr>
            <p:spPr>
              <a:xfrm>
                <a:off x="2019840" y="3991598"/>
                <a:ext cx="406780" cy="419292"/>
              </a:xfrm>
              <a:prstGeom prst="roundRect">
                <a:avLst>
                  <a:gd name="adj" fmla="val 3600"/>
                </a:avLst>
              </a:prstGeom>
              <a:ln w="36000">
                <a:solidFill>
                  <a:srgbClr val="2323DC"/>
                </a:solidFill>
                <a:round/>
              </a:ln>
            </p:spPr>
          </p:sp>
          <p:sp>
            <p:nvSpPr>
              <p:cNvPr id="77" name="Line 7"/>
              <p:cNvSpPr/>
              <p:nvPr/>
            </p:nvSpPr>
            <p:spPr>
              <a:xfrm flipH="1">
                <a:off x="2426620" y="3212329"/>
                <a:ext cx="435616" cy="787980"/>
              </a:xfrm>
              <a:prstGeom prst="line">
                <a:avLst/>
              </a:prstGeom>
              <a:ln w="36000">
                <a:solidFill>
                  <a:srgbClr val="2300DC"/>
                </a:solidFill>
                <a:round/>
              </a:ln>
            </p:spPr>
          </p:sp>
          <p:sp>
            <p:nvSpPr>
              <p:cNvPr id="78" name="Line 8"/>
              <p:cNvSpPr/>
              <p:nvPr/>
            </p:nvSpPr>
            <p:spPr>
              <a:xfrm flipH="1">
                <a:off x="2030697" y="3212328"/>
                <a:ext cx="832558" cy="779271"/>
              </a:xfrm>
              <a:prstGeom prst="line">
                <a:avLst/>
              </a:prstGeom>
              <a:ln w="36000">
                <a:solidFill>
                  <a:srgbClr val="2300DC"/>
                </a:solidFill>
                <a:round/>
              </a:ln>
            </p:spPr>
          </p:sp>
          <p:sp>
            <p:nvSpPr>
              <p:cNvPr id="79" name="Line 9"/>
              <p:cNvSpPr/>
              <p:nvPr/>
            </p:nvSpPr>
            <p:spPr>
              <a:xfrm flipH="1">
                <a:off x="2426619" y="3212328"/>
                <a:ext cx="436635" cy="1198562"/>
              </a:xfrm>
              <a:prstGeom prst="line">
                <a:avLst/>
              </a:prstGeom>
              <a:ln w="36000">
                <a:solidFill>
                  <a:srgbClr val="2300DC"/>
                </a:solidFill>
                <a:round/>
              </a:ln>
            </p:spPr>
          </p:sp>
          <p:sp>
            <p:nvSpPr>
              <p:cNvPr id="80" name="Line 19"/>
              <p:cNvSpPr/>
              <p:nvPr/>
            </p:nvSpPr>
            <p:spPr>
              <a:xfrm flipH="1">
                <a:off x="2019839" y="3212329"/>
                <a:ext cx="842397" cy="1198562"/>
              </a:xfrm>
              <a:prstGeom prst="line">
                <a:avLst/>
              </a:prstGeom>
              <a:ln>
                <a:solidFill>
                  <a:srgbClr val="2300DC"/>
                </a:solidFill>
                <a:custDash>
                  <a:ds d="508000" sp="508000"/>
                  <a:ds d="508000" sp="508000"/>
                </a:custDash>
              </a:ln>
            </p:spPr>
          </p:sp>
          <p:grpSp>
            <p:nvGrpSpPr>
              <p:cNvPr id="81" name="Group 80"/>
              <p:cNvGrpSpPr/>
              <p:nvPr/>
            </p:nvGrpSpPr>
            <p:grpSpPr>
              <a:xfrm>
                <a:off x="4536000" y="846910"/>
                <a:ext cx="2819400" cy="3572690"/>
                <a:chOff x="2743200" y="838200"/>
                <a:chExt cx="2819400" cy="3572690"/>
              </a:xfrm>
            </p:grpSpPr>
            <p:sp>
              <p:nvSpPr>
                <p:cNvPr id="95" name="CustomShape 20"/>
                <p:cNvSpPr/>
                <p:nvPr/>
              </p:nvSpPr>
              <p:spPr>
                <a:xfrm>
                  <a:off x="5155819" y="3991598"/>
                  <a:ext cx="406780" cy="419292"/>
                </a:xfrm>
                <a:prstGeom prst="roundRect">
                  <a:avLst>
                    <a:gd name="adj" fmla="val 3600"/>
                  </a:avLst>
                </a:prstGeom>
                <a:ln w="36000">
                  <a:solidFill>
                    <a:srgbClr val="FF420E"/>
                  </a:solidFill>
                  <a:round/>
                </a:ln>
              </p:spPr>
            </p:sp>
            <p:sp>
              <p:nvSpPr>
                <p:cNvPr id="96" name="Line 21"/>
                <p:cNvSpPr/>
                <p:nvPr/>
              </p:nvSpPr>
              <p:spPr>
                <a:xfrm>
                  <a:off x="2743200" y="838200"/>
                  <a:ext cx="2819399" cy="3162108"/>
                </a:xfrm>
                <a:prstGeom prst="line">
                  <a:avLst/>
                </a:prstGeom>
                <a:ln w="36000">
                  <a:solidFill>
                    <a:srgbClr val="FF420E"/>
                  </a:solidFill>
                  <a:round/>
                </a:ln>
              </p:spPr>
            </p:sp>
            <p:sp>
              <p:nvSpPr>
                <p:cNvPr id="97" name="Line 22"/>
                <p:cNvSpPr/>
                <p:nvPr/>
              </p:nvSpPr>
              <p:spPr>
                <a:xfrm>
                  <a:off x="2743200" y="838200"/>
                  <a:ext cx="2412619" cy="3153398"/>
                </a:xfrm>
                <a:prstGeom prst="line">
                  <a:avLst/>
                </a:prstGeom>
                <a:ln w="36000">
                  <a:solidFill>
                    <a:srgbClr val="FF420E"/>
                  </a:solidFill>
                  <a:round/>
                </a:ln>
              </p:spPr>
            </p:sp>
            <p:sp>
              <p:nvSpPr>
                <p:cNvPr id="98" name="Line 23"/>
                <p:cNvSpPr/>
                <p:nvPr/>
              </p:nvSpPr>
              <p:spPr>
                <a:xfrm>
                  <a:off x="2743200" y="838200"/>
                  <a:ext cx="2819400" cy="3572690"/>
                </a:xfrm>
                <a:prstGeom prst="line">
                  <a:avLst/>
                </a:prstGeom>
                <a:ln>
                  <a:solidFill>
                    <a:srgbClr val="FF420E"/>
                  </a:solidFill>
                  <a:prstDash val="dash"/>
                </a:ln>
              </p:spPr>
            </p:sp>
            <p:sp>
              <p:nvSpPr>
                <p:cNvPr id="99" name="Line 24"/>
                <p:cNvSpPr/>
                <p:nvPr/>
              </p:nvSpPr>
              <p:spPr>
                <a:xfrm>
                  <a:off x="2743200" y="838200"/>
                  <a:ext cx="2412620" cy="3572690"/>
                </a:xfrm>
                <a:prstGeom prst="line">
                  <a:avLst/>
                </a:prstGeom>
                <a:ln w="36000">
                  <a:solidFill>
                    <a:srgbClr val="FF420E"/>
                  </a:solidFill>
                  <a:round/>
                </a:ln>
              </p:spPr>
            </p:sp>
          </p:grpSp>
          <p:grpSp>
            <p:nvGrpSpPr>
              <p:cNvPr id="82" name="Group 81"/>
              <p:cNvGrpSpPr/>
              <p:nvPr/>
            </p:nvGrpSpPr>
            <p:grpSpPr>
              <a:xfrm>
                <a:off x="4917000" y="1676401"/>
                <a:ext cx="1910180" cy="2743199"/>
                <a:chOff x="3195220" y="1676401"/>
                <a:chExt cx="1910180" cy="2743199"/>
              </a:xfrm>
            </p:grpSpPr>
            <p:sp>
              <p:nvSpPr>
                <p:cNvPr id="90" name="Line 14"/>
                <p:cNvSpPr/>
                <p:nvPr/>
              </p:nvSpPr>
              <p:spPr>
                <a:xfrm>
                  <a:off x="3195220" y="1676401"/>
                  <a:ext cx="1503400" cy="2323907"/>
                </a:xfrm>
                <a:prstGeom prst="line">
                  <a:avLst/>
                </a:prstGeom>
                <a:ln w="36000">
                  <a:solidFill>
                    <a:srgbClr val="E6FF00"/>
                  </a:solidFill>
                  <a:round/>
                </a:ln>
              </p:spPr>
            </p:sp>
            <p:sp>
              <p:nvSpPr>
                <p:cNvPr id="91" name="Line 15"/>
                <p:cNvSpPr/>
                <p:nvPr/>
              </p:nvSpPr>
              <p:spPr>
                <a:xfrm>
                  <a:off x="3195220" y="1676401"/>
                  <a:ext cx="1900341" cy="2743199"/>
                </a:xfrm>
                <a:prstGeom prst="line">
                  <a:avLst/>
                </a:prstGeom>
                <a:ln>
                  <a:solidFill>
                    <a:srgbClr val="E6FF00"/>
                  </a:solidFill>
                  <a:prstDash val="dash"/>
                </a:ln>
              </p:spPr>
            </p:sp>
            <p:sp>
              <p:nvSpPr>
                <p:cNvPr id="92" name="Line 16"/>
                <p:cNvSpPr/>
                <p:nvPr/>
              </p:nvSpPr>
              <p:spPr>
                <a:xfrm>
                  <a:off x="3195220" y="1676401"/>
                  <a:ext cx="1503400" cy="2743199"/>
                </a:xfrm>
                <a:prstGeom prst="line">
                  <a:avLst/>
                </a:prstGeom>
                <a:ln w="36000">
                  <a:solidFill>
                    <a:srgbClr val="E6FF00"/>
                  </a:solidFill>
                  <a:round/>
                </a:ln>
              </p:spPr>
            </p:sp>
            <p:sp>
              <p:nvSpPr>
                <p:cNvPr id="93" name="Line 13"/>
                <p:cNvSpPr/>
                <p:nvPr/>
              </p:nvSpPr>
              <p:spPr>
                <a:xfrm>
                  <a:off x="3195220" y="1676401"/>
                  <a:ext cx="1910180" cy="2332792"/>
                </a:xfrm>
                <a:prstGeom prst="line">
                  <a:avLst/>
                </a:prstGeom>
                <a:ln w="36000">
                  <a:solidFill>
                    <a:srgbClr val="E6FF00"/>
                  </a:solidFill>
                  <a:round/>
                </a:ln>
              </p:spPr>
            </p:sp>
            <p:sp>
              <p:nvSpPr>
                <p:cNvPr id="94" name="CustomShape 12"/>
                <p:cNvSpPr/>
                <p:nvPr/>
              </p:nvSpPr>
              <p:spPr>
                <a:xfrm>
                  <a:off x="4698620" y="4000308"/>
                  <a:ext cx="406780" cy="419292"/>
                </a:xfrm>
                <a:prstGeom prst="roundRect">
                  <a:avLst>
                    <a:gd name="adj" fmla="val 3600"/>
                  </a:avLst>
                </a:prstGeom>
                <a:ln w="36000">
                  <a:solidFill>
                    <a:srgbClr val="E6FF00"/>
                  </a:solidFill>
                  <a:round/>
                </a:ln>
              </p:spPr>
            </p:sp>
          </p:grpSp>
          <p:grpSp>
            <p:nvGrpSpPr>
              <p:cNvPr id="83" name="Group 82"/>
              <p:cNvGrpSpPr/>
              <p:nvPr/>
            </p:nvGrpSpPr>
            <p:grpSpPr>
              <a:xfrm>
                <a:off x="2478600" y="2427658"/>
                <a:ext cx="3872044" cy="2226496"/>
                <a:chOff x="609600" y="2427658"/>
                <a:chExt cx="3872044" cy="2226496"/>
              </a:xfrm>
            </p:grpSpPr>
            <p:sp>
              <p:nvSpPr>
                <p:cNvPr id="84" name="Line 10"/>
                <p:cNvSpPr/>
                <p:nvPr/>
              </p:nvSpPr>
              <p:spPr>
                <a:xfrm>
                  <a:off x="2922375" y="2433058"/>
                  <a:ext cx="1559267" cy="1977832"/>
                </a:xfrm>
                <a:prstGeom prst="line">
                  <a:avLst/>
                </a:prstGeom>
                <a:ln>
                  <a:solidFill>
                    <a:srgbClr val="00CCCC"/>
                  </a:solidFill>
                  <a:custDash>
                    <a:ds d="508000" sp="508000"/>
                    <a:ds d="508000" sp="508000"/>
                  </a:custDash>
                </a:ln>
              </p:spPr>
            </p:sp>
            <p:sp>
              <p:nvSpPr>
                <p:cNvPr id="85" name="Line 11"/>
                <p:cNvSpPr/>
                <p:nvPr/>
              </p:nvSpPr>
              <p:spPr>
                <a:xfrm flipH="1">
                  <a:off x="609601" y="2433058"/>
                  <a:ext cx="2312774" cy="1977832"/>
                </a:xfrm>
                <a:prstGeom prst="line">
                  <a:avLst/>
                </a:prstGeom>
                <a:ln>
                  <a:solidFill>
                    <a:srgbClr val="00CCCC"/>
                  </a:solidFill>
                  <a:custDash>
                    <a:ds d="508000" sp="508000"/>
                    <a:ds d="508000" sp="508000"/>
                  </a:custDash>
                </a:ln>
              </p:spPr>
            </p:sp>
            <p:sp>
              <p:nvSpPr>
                <p:cNvPr id="86" name="CustomShape 17"/>
                <p:cNvSpPr/>
                <p:nvPr/>
              </p:nvSpPr>
              <p:spPr>
                <a:xfrm>
                  <a:off x="609601" y="3991598"/>
                  <a:ext cx="3872041" cy="419292"/>
                </a:xfrm>
                <a:prstGeom prst="roundRect">
                  <a:avLst>
                    <a:gd name="adj" fmla="val 3600"/>
                  </a:avLst>
                </a:prstGeom>
                <a:ln w="36000">
                  <a:solidFill>
                    <a:srgbClr val="00CCCC"/>
                  </a:solidFill>
                  <a:round/>
                </a:ln>
              </p:spPr>
            </p:sp>
            <p:sp>
              <p:nvSpPr>
                <p:cNvPr id="87" name="Line 18"/>
                <p:cNvSpPr/>
                <p:nvPr/>
              </p:nvSpPr>
              <p:spPr>
                <a:xfrm>
                  <a:off x="2922375" y="2427658"/>
                  <a:ext cx="1559267" cy="1572650"/>
                </a:xfrm>
                <a:prstGeom prst="line">
                  <a:avLst/>
                </a:prstGeom>
                <a:ln w="36000">
                  <a:solidFill>
                    <a:srgbClr val="00CCCC"/>
                  </a:solidFill>
                  <a:round/>
                </a:ln>
              </p:spPr>
            </p:sp>
            <p:sp>
              <p:nvSpPr>
                <p:cNvPr id="88" name="Line 5"/>
                <p:cNvSpPr/>
                <p:nvPr/>
              </p:nvSpPr>
              <p:spPr>
                <a:xfrm flipH="1">
                  <a:off x="609600" y="2427658"/>
                  <a:ext cx="2312775" cy="1572650"/>
                </a:xfrm>
                <a:prstGeom prst="line">
                  <a:avLst/>
                </a:prstGeom>
                <a:ln w="36000">
                  <a:solidFill>
                    <a:srgbClr val="00CCCC"/>
                  </a:solidFill>
                  <a:round/>
                </a:ln>
              </p:spPr>
            </p:sp>
            <p:sp>
              <p:nvSpPr>
                <p:cNvPr id="89" name="TextBox 88"/>
                <p:cNvSpPr txBox="1"/>
                <p:nvPr/>
              </p:nvSpPr>
              <p:spPr>
                <a:xfrm>
                  <a:off x="609602" y="4038600"/>
                  <a:ext cx="3872042" cy="615554"/>
                </a:xfrm>
                <a:prstGeom prst="rect">
                  <a:avLst/>
                </a:prstGeom>
                <a:noFill/>
              </p:spPr>
              <p:txBody>
                <a:bodyPr wrap="square" rtlCol="0">
                  <a:spAutoFit/>
                </a:bodyPr>
                <a:lstStyle/>
                <a:p>
                  <a:pPr algn="ctr"/>
                  <a:endParaRPr lang="en-US" sz="1400" dirty="0"/>
                </a:p>
              </p:txBody>
            </p:sp>
          </p:grpSp>
        </p:grpSp>
        <p:sp>
          <p:nvSpPr>
            <p:cNvPr id="70" name="Rectangle 69"/>
            <p:cNvSpPr/>
            <p:nvPr/>
          </p:nvSpPr>
          <p:spPr>
            <a:xfrm>
              <a:off x="3462121" y="4762500"/>
              <a:ext cx="2057400" cy="381000"/>
            </a:xfrm>
            <a:prstGeom prst="rect">
              <a:avLst/>
            </a:prstGeom>
            <a:no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dirty="0" smtClean="0">
                  <a:solidFill>
                    <a:srgbClr val="000000"/>
                  </a:solidFill>
                </a:rPr>
                <a:t>Feature selection</a:t>
              </a:r>
              <a:endParaRPr lang="en-US" sz="800" dirty="0">
                <a:solidFill>
                  <a:srgbClr val="000000"/>
                </a:solidFill>
              </a:endParaRPr>
            </a:p>
          </p:txBody>
        </p:sp>
        <p:sp>
          <p:nvSpPr>
            <p:cNvPr id="71" name="CustomShape 17"/>
            <p:cNvSpPr/>
            <p:nvPr/>
          </p:nvSpPr>
          <p:spPr>
            <a:xfrm>
              <a:off x="3462122" y="5372100"/>
              <a:ext cx="2057400" cy="419292"/>
            </a:xfrm>
            <a:prstGeom prst="roundRect">
              <a:avLst>
                <a:gd name="adj" fmla="val 3600"/>
              </a:avLst>
            </a:prstGeom>
            <a:ln w="36000">
              <a:solidFill>
                <a:srgbClr val="00CCCC"/>
              </a:solidFill>
              <a:round/>
            </a:ln>
          </p:spPr>
        </p:sp>
        <mc:AlternateContent xmlns:mc="http://schemas.openxmlformats.org/markup-compatibility/2006" xmlns:a14="http://schemas.microsoft.com/office/drawing/2010/main">
          <mc:Choice Requires="a14">
            <p:sp>
              <p:nvSpPr>
                <p:cNvPr id="72" name="TextBox 71"/>
                <p:cNvSpPr txBox="1"/>
                <p:nvPr/>
              </p:nvSpPr>
              <p:spPr>
                <a:xfrm>
                  <a:off x="3462122" y="5420740"/>
                  <a:ext cx="2057400" cy="445380"/>
                </a:xfrm>
                <a:prstGeom prst="rect">
                  <a:avLst/>
                </a:prstGeom>
                <a:noFill/>
              </p:spPr>
              <p:txBody>
                <a:bodyPr wrap="square" rtlCol="0">
                  <a:spAutoFit/>
                </a:bodyPr>
                <a:lstStyle/>
                <a:p>
                  <a:pPr algn="ctr"/>
                  <a14:m>
                    <m:oMath xmlns:m="http://schemas.openxmlformats.org/officeDocument/2006/math">
                      <m:sSub>
                        <m:sSubPr>
                          <m:ctrlPr>
                            <a:rPr lang="en-US" sz="800" i="1" smtClean="0">
                              <a:latin typeface="Cambria Math"/>
                            </a:rPr>
                          </m:ctrlPr>
                        </m:sSubPr>
                        <m:e>
                          <m:r>
                            <a:rPr lang="en-US" sz="800" i="1">
                              <a:latin typeface="Cambria Math"/>
                            </a:rPr>
                            <m:t>𝐼𝐶</m:t>
                          </m:r>
                        </m:e>
                        <m:sub>
                          <m:r>
                            <a:rPr lang="en-US" sz="800" i="1">
                              <a:latin typeface="Cambria Math"/>
                            </a:rPr>
                            <m:t>𝑖</m:t>
                          </m:r>
                        </m:sub>
                      </m:sSub>
                      <m:r>
                        <a:rPr lang="en-US" sz="800" b="0" i="1" smtClean="0">
                          <a:latin typeface="Cambria Math"/>
                        </a:rPr>
                        <m:t>,</m:t>
                      </m:r>
                    </m:oMath>
                  </a14:m>
                  <a:r>
                    <a:rPr lang="en-US" sz="800" dirty="0">
                      <a:ea typeface="Cambria Math"/>
                    </a:rPr>
                    <a:t> </a:t>
                  </a:r>
                  <a14:m>
                    <m:oMath xmlns:m="http://schemas.openxmlformats.org/officeDocument/2006/math">
                      <m:sSubSup>
                        <m:sSubSupPr>
                          <m:ctrlPr>
                            <a:rPr lang="en-US" sz="800" i="1">
                              <a:latin typeface="Cambria Math"/>
                              <a:ea typeface="Cambria Math"/>
                            </a:rPr>
                          </m:ctrlPr>
                        </m:sSubSupPr>
                        <m:e>
                          <m:r>
                            <a:rPr lang="en-US" sz="800" b="0" i="1" smtClean="0">
                              <a:latin typeface="Cambria Math"/>
                              <a:ea typeface="Cambria Math"/>
                            </a:rPr>
                            <m:t>𝑓</m:t>
                          </m:r>
                        </m:e>
                        <m:sub>
                          <m:r>
                            <a:rPr lang="en-US" sz="800" i="1">
                              <a:latin typeface="Cambria Math"/>
                              <a:ea typeface="Cambria Math"/>
                            </a:rPr>
                            <m:t>𝑖</m:t>
                          </m:r>
                        </m:sub>
                        <m:sup>
                          <m:r>
                            <a:rPr lang="en-US" sz="800" b="0" i="1" smtClean="0">
                              <a:latin typeface="Cambria Math"/>
                              <a:ea typeface="Cambria Math"/>
                            </a:rPr>
                            <m:t>1</m:t>
                          </m:r>
                        </m:sup>
                      </m:sSubSup>
                    </m:oMath>
                  </a14:m>
                  <a:r>
                    <a:rPr lang="en-US" sz="800" dirty="0" smtClean="0"/>
                    <a:t>,</a:t>
                  </a:r>
                  <a14:m>
                    <m:oMath xmlns:m="http://schemas.openxmlformats.org/officeDocument/2006/math">
                      <m:sSubSup>
                        <m:sSubSupPr>
                          <m:ctrlPr>
                            <a:rPr lang="en-US" sz="800" i="1" smtClean="0">
                              <a:latin typeface="Cambria Math"/>
                              <a:ea typeface="Cambria Math"/>
                            </a:rPr>
                          </m:ctrlPr>
                        </m:sSubSupPr>
                        <m:e>
                          <m:r>
                            <a:rPr lang="en-US" sz="800" b="0" i="1" smtClean="0">
                              <a:latin typeface="Cambria Math"/>
                              <a:ea typeface="Cambria Math"/>
                            </a:rPr>
                            <m:t>𝑓</m:t>
                          </m:r>
                        </m:e>
                        <m:sub>
                          <m:r>
                            <a:rPr lang="en-US" sz="800" i="1">
                              <a:latin typeface="Cambria Math"/>
                              <a:ea typeface="Cambria Math"/>
                            </a:rPr>
                            <m:t>𝑖</m:t>
                          </m:r>
                        </m:sub>
                        <m:sup>
                          <m:r>
                            <a:rPr lang="en-US" sz="800" b="0" i="1" smtClean="0">
                              <a:latin typeface="Cambria Math"/>
                              <a:ea typeface="Cambria Math"/>
                            </a:rPr>
                            <m:t>2</m:t>
                          </m:r>
                        </m:sup>
                      </m:sSubSup>
                      <m:r>
                        <a:rPr lang="en-US" sz="800" b="0" i="1" smtClean="0">
                          <a:latin typeface="Cambria Math"/>
                          <a:ea typeface="Cambria Math"/>
                        </a:rPr>
                        <m:t>,</m:t>
                      </m:r>
                      <m:sSubSup>
                        <m:sSubSupPr>
                          <m:ctrlPr>
                            <a:rPr lang="en-US" sz="800" i="1">
                              <a:latin typeface="Cambria Math"/>
                              <a:ea typeface="Cambria Math"/>
                            </a:rPr>
                          </m:ctrlPr>
                        </m:sSubSupPr>
                        <m:e>
                          <m:r>
                            <a:rPr lang="en-US" sz="800" b="0" i="1" smtClean="0">
                              <a:latin typeface="Cambria Math"/>
                              <a:ea typeface="Cambria Math"/>
                            </a:rPr>
                            <m:t>𝑓</m:t>
                          </m:r>
                        </m:e>
                        <m:sub>
                          <m:r>
                            <a:rPr lang="en-US" sz="800" i="1">
                              <a:latin typeface="Cambria Math"/>
                              <a:ea typeface="Cambria Math"/>
                            </a:rPr>
                            <m:t>𝑖</m:t>
                          </m:r>
                        </m:sub>
                        <m:sup>
                          <m:r>
                            <a:rPr lang="en-US" sz="800" b="0" i="1" smtClean="0">
                              <a:latin typeface="Cambria Math"/>
                              <a:ea typeface="Cambria Math"/>
                            </a:rPr>
                            <m:t>3</m:t>
                          </m:r>
                        </m:sup>
                      </m:sSubSup>
                    </m:oMath>
                  </a14:m>
                  <a:endParaRPr lang="en-US" sz="800" dirty="0"/>
                </a:p>
              </p:txBody>
            </p:sp>
          </mc:Choice>
          <mc:Fallback xmlns="">
            <p:sp>
              <p:nvSpPr>
                <p:cNvPr id="72" name="TextBox 71"/>
                <p:cNvSpPr txBox="1">
                  <a:spLocks noRot="1" noChangeAspect="1" noMove="1" noResize="1" noEditPoints="1" noAdjustHandles="1" noChangeArrowheads="1" noChangeShapeType="1" noTextEdit="1"/>
                </p:cNvSpPr>
                <p:nvPr/>
              </p:nvSpPr>
              <p:spPr>
                <a:xfrm>
                  <a:off x="3462122" y="5420740"/>
                  <a:ext cx="2057400" cy="445380"/>
                </a:xfrm>
                <a:prstGeom prst="rect">
                  <a:avLst/>
                </a:prstGeom>
                <a:blipFill rotWithShape="1">
                  <a:blip r:embed="rId3"/>
                  <a:stretch>
                    <a:fillRect b="-8108"/>
                  </a:stretch>
                </a:blipFill>
              </p:spPr>
              <p:txBody>
                <a:bodyPr/>
                <a:lstStyle/>
                <a:p>
                  <a:r>
                    <a:rPr lang="en-US">
                      <a:noFill/>
                    </a:rPr>
                    <a:t> </a:t>
                  </a:r>
                </a:p>
              </p:txBody>
            </p:sp>
          </mc:Fallback>
        </mc:AlternateContent>
        <p:cxnSp>
          <p:nvCxnSpPr>
            <p:cNvPr id="73" name="Straight Arrow Connector 72"/>
            <p:cNvCxnSpPr>
              <a:endCxn id="70" idx="0"/>
            </p:cNvCxnSpPr>
            <p:nvPr/>
          </p:nvCxnSpPr>
          <p:spPr>
            <a:xfrm>
              <a:off x="4483743" y="4525190"/>
              <a:ext cx="7078" cy="23731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74" name="Straight Arrow Connector 73"/>
            <p:cNvCxnSpPr>
              <a:stCxn id="70" idx="2"/>
              <a:endCxn id="71" idx="0"/>
            </p:cNvCxnSpPr>
            <p:nvPr/>
          </p:nvCxnSpPr>
          <p:spPr>
            <a:xfrm>
              <a:off x="4490821" y="5143500"/>
              <a:ext cx="1" cy="22860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sp>
        <p:nvSpPr>
          <p:cNvPr id="38" name="TextBox 37"/>
          <p:cNvSpPr txBox="1"/>
          <p:nvPr/>
        </p:nvSpPr>
        <p:spPr>
          <a:xfrm>
            <a:off x="5181600" y="1066800"/>
            <a:ext cx="2971800" cy="338554"/>
          </a:xfrm>
          <a:prstGeom prst="rect">
            <a:avLst/>
          </a:prstGeom>
          <a:noFill/>
          <a:ln w="25400">
            <a:solidFill>
              <a:schemeClr val="accent1">
                <a:lumMod val="40000"/>
                <a:lumOff val="60000"/>
              </a:schemeClr>
            </a:solidFill>
          </a:ln>
        </p:spPr>
        <p:txBody>
          <a:bodyPr wrap="square" rtlCol="0">
            <a:spAutoFit/>
          </a:bodyPr>
          <a:lstStyle/>
          <a:p>
            <a:pPr algn="ctr"/>
            <a:r>
              <a:rPr lang="en-US" sz="1600" dirty="0" smtClean="0"/>
              <a:t>Very light</a:t>
            </a:r>
            <a:endParaRPr lang="en-US" sz="1600" dirty="0"/>
          </a:p>
        </p:txBody>
      </p:sp>
      <p:pic>
        <p:nvPicPr>
          <p:cNvPr id="39" name="Picture 5" descr="C:\Users\310153563\Documents\GitHub\COPDBodyMedia_2nd_analysis\COPDBodyMedia2_paper\IEEEtran_windows\figure\png\figure_5_onlygaiss_verylight.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0596" y="1463338"/>
            <a:ext cx="3733808" cy="2799289"/>
          </a:xfrm>
          <a:prstGeom prst="rect">
            <a:avLst/>
          </a:prstGeom>
          <a:noFill/>
          <a:extLst>
            <a:ext uri="{909E8E84-426E-40DD-AFC4-6F175D3DCCD1}">
              <a14:hiddenFill xmlns:a14="http://schemas.microsoft.com/office/drawing/2010/main">
                <a:solidFill>
                  <a:srgbClr val="FFFFFF"/>
                </a:solidFill>
              </a14:hiddenFill>
            </a:ext>
          </a:extLst>
        </p:spPr>
      </p:pic>
      <p:cxnSp>
        <p:nvCxnSpPr>
          <p:cNvPr id="3" name="Curved Connector 2"/>
          <p:cNvCxnSpPr>
            <a:stCxn id="72" idx="2"/>
          </p:cNvCxnSpPr>
          <p:nvPr/>
        </p:nvCxnSpPr>
        <p:spPr>
          <a:xfrm rot="5400000" flipH="1" flipV="1">
            <a:off x="2692663" y="1549663"/>
            <a:ext cx="2362200" cy="3682474"/>
          </a:xfrm>
          <a:prstGeom prst="curvedConnector4">
            <a:avLst>
              <a:gd name="adj1" fmla="val -9677"/>
              <a:gd name="adj2" fmla="val 56984"/>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Curved Connector 8"/>
          <p:cNvCxnSpPr>
            <a:stCxn id="72" idx="2"/>
          </p:cNvCxnSpPr>
          <p:nvPr/>
        </p:nvCxnSpPr>
        <p:spPr>
          <a:xfrm rot="5400000" flipH="1" flipV="1">
            <a:off x="3173210" y="963411"/>
            <a:ext cx="2467905" cy="4749274"/>
          </a:xfrm>
          <a:prstGeom prst="curvedConnector4">
            <a:avLst>
              <a:gd name="adj1" fmla="val -9263"/>
              <a:gd name="adj2" fmla="val 55415"/>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201363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Group 67"/>
          <p:cNvGrpSpPr>
            <a:grpSpLocks noChangeAspect="1"/>
          </p:cNvGrpSpPr>
          <p:nvPr/>
        </p:nvGrpSpPr>
        <p:grpSpPr>
          <a:xfrm>
            <a:off x="777715" y="1677040"/>
            <a:ext cx="2725200" cy="2894960"/>
            <a:chOff x="1981200" y="76200"/>
            <a:chExt cx="5450400" cy="5789920"/>
          </a:xfrm>
        </p:grpSpPr>
        <p:grpSp>
          <p:nvGrpSpPr>
            <p:cNvPr id="69" name="Group 68"/>
            <p:cNvGrpSpPr/>
            <p:nvPr/>
          </p:nvGrpSpPr>
          <p:grpSpPr>
            <a:xfrm>
              <a:off x="1981200" y="76200"/>
              <a:ext cx="5450400" cy="4661354"/>
              <a:chOff x="1905000" y="-7200"/>
              <a:chExt cx="5450400" cy="4661354"/>
            </a:xfrm>
          </p:grpSpPr>
          <p:pic>
            <p:nvPicPr>
              <p:cNvPr id="75" name="Picture 74"/>
              <p:cNvPicPr/>
              <p:nvPr/>
            </p:nvPicPr>
            <p:blipFill>
              <a:blip r:embed="rId2"/>
              <a:stretch>
                <a:fillRect/>
              </a:stretch>
            </p:blipFill>
            <p:spPr>
              <a:xfrm>
                <a:off x="1905000" y="-7200"/>
                <a:ext cx="5333400" cy="3998520"/>
              </a:xfrm>
              <a:prstGeom prst="rect">
                <a:avLst/>
              </a:prstGeom>
            </p:spPr>
          </p:pic>
          <p:sp>
            <p:nvSpPr>
              <p:cNvPr id="76" name="CustomShape 6"/>
              <p:cNvSpPr/>
              <p:nvPr/>
            </p:nvSpPr>
            <p:spPr>
              <a:xfrm>
                <a:off x="2019840" y="3991598"/>
                <a:ext cx="406780" cy="419292"/>
              </a:xfrm>
              <a:prstGeom prst="roundRect">
                <a:avLst>
                  <a:gd name="adj" fmla="val 3600"/>
                </a:avLst>
              </a:prstGeom>
              <a:ln w="36000">
                <a:solidFill>
                  <a:srgbClr val="2323DC"/>
                </a:solidFill>
                <a:round/>
              </a:ln>
            </p:spPr>
          </p:sp>
          <p:sp>
            <p:nvSpPr>
              <p:cNvPr id="77" name="Line 7"/>
              <p:cNvSpPr/>
              <p:nvPr/>
            </p:nvSpPr>
            <p:spPr>
              <a:xfrm flipH="1">
                <a:off x="2426620" y="3212329"/>
                <a:ext cx="435616" cy="787980"/>
              </a:xfrm>
              <a:prstGeom prst="line">
                <a:avLst/>
              </a:prstGeom>
              <a:ln w="36000">
                <a:solidFill>
                  <a:srgbClr val="2300DC"/>
                </a:solidFill>
                <a:round/>
              </a:ln>
            </p:spPr>
          </p:sp>
          <p:sp>
            <p:nvSpPr>
              <p:cNvPr id="78" name="Line 8"/>
              <p:cNvSpPr/>
              <p:nvPr/>
            </p:nvSpPr>
            <p:spPr>
              <a:xfrm flipH="1">
                <a:off x="2030697" y="3212328"/>
                <a:ext cx="832558" cy="779271"/>
              </a:xfrm>
              <a:prstGeom prst="line">
                <a:avLst/>
              </a:prstGeom>
              <a:ln w="36000">
                <a:solidFill>
                  <a:srgbClr val="2300DC"/>
                </a:solidFill>
                <a:round/>
              </a:ln>
            </p:spPr>
          </p:sp>
          <p:sp>
            <p:nvSpPr>
              <p:cNvPr id="79" name="Line 9"/>
              <p:cNvSpPr/>
              <p:nvPr/>
            </p:nvSpPr>
            <p:spPr>
              <a:xfrm flipH="1">
                <a:off x="2426619" y="3212328"/>
                <a:ext cx="436635" cy="1198562"/>
              </a:xfrm>
              <a:prstGeom prst="line">
                <a:avLst/>
              </a:prstGeom>
              <a:ln w="36000">
                <a:solidFill>
                  <a:srgbClr val="2300DC"/>
                </a:solidFill>
                <a:round/>
              </a:ln>
            </p:spPr>
          </p:sp>
          <p:sp>
            <p:nvSpPr>
              <p:cNvPr id="80" name="Line 19"/>
              <p:cNvSpPr/>
              <p:nvPr/>
            </p:nvSpPr>
            <p:spPr>
              <a:xfrm flipH="1">
                <a:off x="2019839" y="3212329"/>
                <a:ext cx="842397" cy="1198562"/>
              </a:xfrm>
              <a:prstGeom prst="line">
                <a:avLst/>
              </a:prstGeom>
              <a:ln>
                <a:solidFill>
                  <a:srgbClr val="2300DC"/>
                </a:solidFill>
                <a:custDash>
                  <a:ds d="508000" sp="508000"/>
                  <a:ds d="508000" sp="508000"/>
                </a:custDash>
              </a:ln>
            </p:spPr>
          </p:sp>
          <p:grpSp>
            <p:nvGrpSpPr>
              <p:cNvPr id="81" name="Group 80"/>
              <p:cNvGrpSpPr/>
              <p:nvPr/>
            </p:nvGrpSpPr>
            <p:grpSpPr>
              <a:xfrm>
                <a:off x="4536000" y="846910"/>
                <a:ext cx="2819400" cy="3572690"/>
                <a:chOff x="2743200" y="838200"/>
                <a:chExt cx="2819400" cy="3572690"/>
              </a:xfrm>
            </p:grpSpPr>
            <p:sp>
              <p:nvSpPr>
                <p:cNvPr id="95" name="CustomShape 20"/>
                <p:cNvSpPr/>
                <p:nvPr/>
              </p:nvSpPr>
              <p:spPr>
                <a:xfrm>
                  <a:off x="5155819" y="3991598"/>
                  <a:ext cx="406780" cy="419292"/>
                </a:xfrm>
                <a:prstGeom prst="roundRect">
                  <a:avLst>
                    <a:gd name="adj" fmla="val 3600"/>
                  </a:avLst>
                </a:prstGeom>
                <a:ln w="36000">
                  <a:solidFill>
                    <a:srgbClr val="FF420E"/>
                  </a:solidFill>
                  <a:round/>
                </a:ln>
              </p:spPr>
            </p:sp>
            <p:sp>
              <p:nvSpPr>
                <p:cNvPr id="96" name="Line 21"/>
                <p:cNvSpPr/>
                <p:nvPr/>
              </p:nvSpPr>
              <p:spPr>
                <a:xfrm>
                  <a:off x="2743200" y="838200"/>
                  <a:ext cx="2819399" cy="3162108"/>
                </a:xfrm>
                <a:prstGeom prst="line">
                  <a:avLst/>
                </a:prstGeom>
                <a:ln w="36000">
                  <a:solidFill>
                    <a:srgbClr val="FF420E"/>
                  </a:solidFill>
                  <a:round/>
                </a:ln>
              </p:spPr>
            </p:sp>
            <p:sp>
              <p:nvSpPr>
                <p:cNvPr id="97" name="Line 22"/>
                <p:cNvSpPr/>
                <p:nvPr/>
              </p:nvSpPr>
              <p:spPr>
                <a:xfrm>
                  <a:off x="2743200" y="838200"/>
                  <a:ext cx="2412619" cy="3153398"/>
                </a:xfrm>
                <a:prstGeom prst="line">
                  <a:avLst/>
                </a:prstGeom>
                <a:ln w="36000">
                  <a:solidFill>
                    <a:srgbClr val="FF420E"/>
                  </a:solidFill>
                  <a:round/>
                </a:ln>
              </p:spPr>
            </p:sp>
            <p:sp>
              <p:nvSpPr>
                <p:cNvPr id="98" name="Line 23"/>
                <p:cNvSpPr/>
                <p:nvPr/>
              </p:nvSpPr>
              <p:spPr>
                <a:xfrm>
                  <a:off x="2743200" y="838200"/>
                  <a:ext cx="2819400" cy="3572690"/>
                </a:xfrm>
                <a:prstGeom prst="line">
                  <a:avLst/>
                </a:prstGeom>
                <a:ln>
                  <a:solidFill>
                    <a:srgbClr val="FF420E"/>
                  </a:solidFill>
                  <a:prstDash val="dash"/>
                </a:ln>
              </p:spPr>
            </p:sp>
            <p:sp>
              <p:nvSpPr>
                <p:cNvPr id="99" name="Line 24"/>
                <p:cNvSpPr/>
                <p:nvPr/>
              </p:nvSpPr>
              <p:spPr>
                <a:xfrm>
                  <a:off x="2743200" y="838200"/>
                  <a:ext cx="2412620" cy="3572690"/>
                </a:xfrm>
                <a:prstGeom prst="line">
                  <a:avLst/>
                </a:prstGeom>
                <a:ln w="36000">
                  <a:solidFill>
                    <a:srgbClr val="FF420E"/>
                  </a:solidFill>
                  <a:round/>
                </a:ln>
              </p:spPr>
            </p:sp>
          </p:grpSp>
          <p:grpSp>
            <p:nvGrpSpPr>
              <p:cNvPr id="82" name="Group 81"/>
              <p:cNvGrpSpPr/>
              <p:nvPr/>
            </p:nvGrpSpPr>
            <p:grpSpPr>
              <a:xfrm>
                <a:off x="4917000" y="1676401"/>
                <a:ext cx="1910180" cy="2743199"/>
                <a:chOff x="3195220" y="1676401"/>
                <a:chExt cx="1910180" cy="2743199"/>
              </a:xfrm>
            </p:grpSpPr>
            <p:sp>
              <p:nvSpPr>
                <p:cNvPr id="90" name="Line 14"/>
                <p:cNvSpPr/>
                <p:nvPr/>
              </p:nvSpPr>
              <p:spPr>
                <a:xfrm>
                  <a:off x="3195220" y="1676401"/>
                  <a:ext cx="1503400" cy="2323907"/>
                </a:xfrm>
                <a:prstGeom prst="line">
                  <a:avLst/>
                </a:prstGeom>
                <a:ln w="36000">
                  <a:solidFill>
                    <a:srgbClr val="E6FF00"/>
                  </a:solidFill>
                  <a:round/>
                </a:ln>
              </p:spPr>
            </p:sp>
            <p:sp>
              <p:nvSpPr>
                <p:cNvPr id="91" name="Line 15"/>
                <p:cNvSpPr/>
                <p:nvPr/>
              </p:nvSpPr>
              <p:spPr>
                <a:xfrm>
                  <a:off x="3195220" y="1676401"/>
                  <a:ext cx="1900341" cy="2743199"/>
                </a:xfrm>
                <a:prstGeom prst="line">
                  <a:avLst/>
                </a:prstGeom>
                <a:ln>
                  <a:solidFill>
                    <a:srgbClr val="E6FF00"/>
                  </a:solidFill>
                  <a:prstDash val="dash"/>
                </a:ln>
              </p:spPr>
            </p:sp>
            <p:sp>
              <p:nvSpPr>
                <p:cNvPr id="92" name="Line 16"/>
                <p:cNvSpPr/>
                <p:nvPr/>
              </p:nvSpPr>
              <p:spPr>
                <a:xfrm>
                  <a:off x="3195220" y="1676401"/>
                  <a:ext cx="1503400" cy="2743199"/>
                </a:xfrm>
                <a:prstGeom prst="line">
                  <a:avLst/>
                </a:prstGeom>
                <a:ln w="36000">
                  <a:solidFill>
                    <a:srgbClr val="E6FF00"/>
                  </a:solidFill>
                  <a:round/>
                </a:ln>
              </p:spPr>
            </p:sp>
            <p:sp>
              <p:nvSpPr>
                <p:cNvPr id="93" name="Line 13"/>
                <p:cNvSpPr/>
                <p:nvPr/>
              </p:nvSpPr>
              <p:spPr>
                <a:xfrm>
                  <a:off x="3195220" y="1676401"/>
                  <a:ext cx="1910180" cy="2332792"/>
                </a:xfrm>
                <a:prstGeom prst="line">
                  <a:avLst/>
                </a:prstGeom>
                <a:ln w="36000">
                  <a:solidFill>
                    <a:srgbClr val="E6FF00"/>
                  </a:solidFill>
                  <a:round/>
                </a:ln>
              </p:spPr>
            </p:sp>
            <p:sp>
              <p:nvSpPr>
                <p:cNvPr id="94" name="CustomShape 12"/>
                <p:cNvSpPr/>
                <p:nvPr/>
              </p:nvSpPr>
              <p:spPr>
                <a:xfrm>
                  <a:off x="4698620" y="4000308"/>
                  <a:ext cx="406780" cy="419292"/>
                </a:xfrm>
                <a:prstGeom prst="roundRect">
                  <a:avLst>
                    <a:gd name="adj" fmla="val 3600"/>
                  </a:avLst>
                </a:prstGeom>
                <a:ln w="36000">
                  <a:solidFill>
                    <a:srgbClr val="E6FF00"/>
                  </a:solidFill>
                  <a:round/>
                </a:ln>
              </p:spPr>
            </p:sp>
          </p:grpSp>
          <p:grpSp>
            <p:nvGrpSpPr>
              <p:cNvPr id="83" name="Group 82"/>
              <p:cNvGrpSpPr/>
              <p:nvPr/>
            </p:nvGrpSpPr>
            <p:grpSpPr>
              <a:xfrm>
                <a:off x="2478600" y="2427658"/>
                <a:ext cx="3872044" cy="2226496"/>
                <a:chOff x="609600" y="2427658"/>
                <a:chExt cx="3872044" cy="2226496"/>
              </a:xfrm>
            </p:grpSpPr>
            <p:sp>
              <p:nvSpPr>
                <p:cNvPr id="84" name="Line 10"/>
                <p:cNvSpPr/>
                <p:nvPr/>
              </p:nvSpPr>
              <p:spPr>
                <a:xfrm>
                  <a:off x="2922375" y="2433058"/>
                  <a:ext cx="1559267" cy="1977832"/>
                </a:xfrm>
                <a:prstGeom prst="line">
                  <a:avLst/>
                </a:prstGeom>
                <a:ln>
                  <a:solidFill>
                    <a:srgbClr val="00CCCC"/>
                  </a:solidFill>
                  <a:custDash>
                    <a:ds d="508000" sp="508000"/>
                    <a:ds d="508000" sp="508000"/>
                  </a:custDash>
                </a:ln>
              </p:spPr>
            </p:sp>
            <p:sp>
              <p:nvSpPr>
                <p:cNvPr id="85" name="Line 11"/>
                <p:cNvSpPr/>
                <p:nvPr/>
              </p:nvSpPr>
              <p:spPr>
                <a:xfrm flipH="1">
                  <a:off x="609601" y="2433058"/>
                  <a:ext cx="2312774" cy="1977832"/>
                </a:xfrm>
                <a:prstGeom prst="line">
                  <a:avLst/>
                </a:prstGeom>
                <a:ln>
                  <a:solidFill>
                    <a:srgbClr val="00CCCC"/>
                  </a:solidFill>
                  <a:custDash>
                    <a:ds d="508000" sp="508000"/>
                    <a:ds d="508000" sp="508000"/>
                  </a:custDash>
                </a:ln>
              </p:spPr>
            </p:sp>
            <p:sp>
              <p:nvSpPr>
                <p:cNvPr id="86" name="CustomShape 17"/>
                <p:cNvSpPr/>
                <p:nvPr/>
              </p:nvSpPr>
              <p:spPr>
                <a:xfrm>
                  <a:off x="609601" y="3991598"/>
                  <a:ext cx="3872041" cy="419292"/>
                </a:xfrm>
                <a:prstGeom prst="roundRect">
                  <a:avLst>
                    <a:gd name="adj" fmla="val 3600"/>
                  </a:avLst>
                </a:prstGeom>
                <a:ln w="36000">
                  <a:solidFill>
                    <a:srgbClr val="00CCCC"/>
                  </a:solidFill>
                  <a:round/>
                </a:ln>
              </p:spPr>
            </p:sp>
            <p:sp>
              <p:nvSpPr>
                <p:cNvPr id="87" name="Line 18"/>
                <p:cNvSpPr/>
                <p:nvPr/>
              </p:nvSpPr>
              <p:spPr>
                <a:xfrm>
                  <a:off x="2922375" y="2427658"/>
                  <a:ext cx="1559267" cy="1572650"/>
                </a:xfrm>
                <a:prstGeom prst="line">
                  <a:avLst/>
                </a:prstGeom>
                <a:ln w="36000">
                  <a:solidFill>
                    <a:srgbClr val="00CCCC"/>
                  </a:solidFill>
                  <a:round/>
                </a:ln>
              </p:spPr>
            </p:sp>
            <p:sp>
              <p:nvSpPr>
                <p:cNvPr id="88" name="Line 5"/>
                <p:cNvSpPr/>
                <p:nvPr/>
              </p:nvSpPr>
              <p:spPr>
                <a:xfrm flipH="1">
                  <a:off x="609600" y="2427658"/>
                  <a:ext cx="2312775" cy="1572650"/>
                </a:xfrm>
                <a:prstGeom prst="line">
                  <a:avLst/>
                </a:prstGeom>
                <a:ln w="36000">
                  <a:solidFill>
                    <a:srgbClr val="00CCCC"/>
                  </a:solidFill>
                  <a:round/>
                </a:ln>
              </p:spPr>
            </p:sp>
            <p:sp>
              <p:nvSpPr>
                <p:cNvPr id="89" name="TextBox 88"/>
                <p:cNvSpPr txBox="1"/>
                <p:nvPr/>
              </p:nvSpPr>
              <p:spPr>
                <a:xfrm>
                  <a:off x="609602" y="4038600"/>
                  <a:ext cx="3872042" cy="615554"/>
                </a:xfrm>
                <a:prstGeom prst="rect">
                  <a:avLst/>
                </a:prstGeom>
                <a:noFill/>
              </p:spPr>
              <p:txBody>
                <a:bodyPr wrap="square" rtlCol="0">
                  <a:spAutoFit/>
                </a:bodyPr>
                <a:lstStyle/>
                <a:p>
                  <a:pPr algn="ctr"/>
                  <a:endParaRPr lang="en-US" sz="1400" dirty="0"/>
                </a:p>
              </p:txBody>
            </p:sp>
          </p:grpSp>
        </p:grpSp>
        <p:sp>
          <p:nvSpPr>
            <p:cNvPr id="70" name="Rectangle 69"/>
            <p:cNvSpPr/>
            <p:nvPr/>
          </p:nvSpPr>
          <p:spPr>
            <a:xfrm>
              <a:off x="3462121" y="4762500"/>
              <a:ext cx="2057400" cy="381000"/>
            </a:xfrm>
            <a:prstGeom prst="rect">
              <a:avLst/>
            </a:prstGeom>
            <a:no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dirty="0" smtClean="0">
                  <a:solidFill>
                    <a:srgbClr val="000000"/>
                  </a:solidFill>
                </a:rPr>
                <a:t>Feature selection</a:t>
              </a:r>
              <a:endParaRPr lang="en-US" sz="800" dirty="0">
                <a:solidFill>
                  <a:srgbClr val="000000"/>
                </a:solidFill>
              </a:endParaRPr>
            </a:p>
          </p:txBody>
        </p:sp>
        <p:sp>
          <p:nvSpPr>
            <p:cNvPr id="71" name="CustomShape 17"/>
            <p:cNvSpPr/>
            <p:nvPr/>
          </p:nvSpPr>
          <p:spPr>
            <a:xfrm>
              <a:off x="3462122" y="5372100"/>
              <a:ext cx="2057400" cy="419292"/>
            </a:xfrm>
            <a:prstGeom prst="roundRect">
              <a:avLst>
                <a:gd name="adj" fmla="val 3600"/>
              </a:avLst>
            </a:prstGeom>
            <a:ln w="36000">
              <a:solidFill>
                <a:srgbClr val="00CCCC"/>
              </a:solidFill>
              <a:round/>
            </a:ln>
          </p:spPr>
        </p:sp>
        <mc:AlternateContent xmlns:mc="http://schemas.openxmlformats.org/markup-compatibility/2006" xmlns:a14="http://schemas.microsoft.com/office/drawing/2010/main">
          <mc:Choice Requires="a14">
            <p:sp>
              <p:nvSpPr>
                <p:cNvPr id="72" name="TextBox 71"/>
                <p:cNvSpPr txBox="1"/>
                <p:nvPr/>
              </p:nvSpPr>
              <p:spPr>
                <a:xfrm>
                  <a:off x="3462122" y="5420740"/>
                  <a:ext cx="2057400" cy="445380"/>
                </a:xfrm>
                <a:prstGeom prst="rect">
                  <a:avLst/>
                </a:prstGeom>
                <a:noFill/>
              </p:spPr>
              <p:txBody>
                <a:bodyPr wrap="square" rtlCol="0">
                  <a:spAutoFit/>
                </a:bodyPr>
                <a:lstStyle/>
                <a:p>
                  <a:pPr algn="ctr"/>
                  <a14:m>
                    <m:oMath xmlns:m="http://schemas.openxmlformats.org/officeDocument/2006/math">
                      <m:sSub>
                        <m:sSubPr>
                          <m:ctrlPr>
                            <a:rPr lang="en-US" sz="800" i="1" smtClean="0">
                              <a:latin typeface="Cambria Math"/>
                            </a:rPr>
                          </m:ctrlPr>
                        </m:sSubPr>
                        <m:e>
                          <m:r>
                            <a:rPr lang="en-US" sz="800" i="1">
                              <a:latin typeface="Cambria Math"/>
                            </a:rPr>
                            <m:t>𝐼𝐶</m:t>
                          </m:r>
                        </m:e>
                        <m:sub>
                          <m:r>
                            <a:rPr lang="en-US" sz="800" i="1">
                              <a:latin typeface="Cambria Math"/>
                            </a:rPr>
                            <m:t>𝑖</m:t>
                          </m:r>
                        </m:sub>
                      </m:sSub>
                      <m:r>
                        <a:rPr lang="en-US" sz="800" b="0" i="1" smtClean="0">
                          <a:latin typeface="Cambria Math"/>
                        </a:rPr>
                        <m:t>,</m:t>
                      </m:r>
                    </m:oMath>
                  </a14:m>
                  <a:r>
                    <a:rPr lang="en-US" sz="800" dirty="0">
                      <a:ea typeface="Cambria Math"/>
                    </a:rPr>
                    <a:t> </a:t>
                  </a:r>
                  <a14:m>
                    <m:oMath xmlns:m="http://schemas.openxmlformats.org/officeDocument/2006/math">
                      <m:sSubSup>
                        <m:sSubSupPr>
                          <m:ctrlPr>
                            <a:rPr lang="en-US" sz="800" i="1">
                              <a:latin typeface="Cambria Math"/>
                              <a:ea typeface="Cambria Math"/>
                            </a:rPr>
                          </m:ctrlPr>
                        </m:sSubSupPr>
                        <m:e>
                          <m:r>
                            <a:rPr lang="en-US" sz="800" b="0" i="1" smtClean="0">
                              <a:latin typeface="Cambria Math"/>
                              <a:ea typeface="Cambria Math"/>
                            </a:rPr>
                            <m:t>𝑓</m:t>
                          </m:r>
                        </m:e>
                        <m:sub>
                          <m:r>
                            <a:rPr lang="en-US" sz="800" i="1">
                              <a:latin typeface="Cambria Math"/>
                              <a:ea typeface="Cambria Math"/>
                            </a:rPr>
                            <m:t>𝑖</m:t>
                          </m:r>
                        </m:sub>
                        <m:sup>
                          <m:r>
                            <a:rPr lang="en-US" sz="800" b="0" i="1" smtClean="0">
                              <a:latin typeface="Cambria Math"/>
                              <a:ea typeface="Cambria Math"/>
                            </a:rPr>
                            <m:t>1</m:t>
                          </m:r>
                        </m:sup>
                      </m:sSubSup>
                    </m:oMath>
                  </a14:m>
                  <a:r>
                    <a:rPr lang="en-US" sz="800" dirty="0" smtClean="0"/>
                    <a:t>,</a:t>
                  </a:r>
                  <a14:m>
                    <m:oMath xmlns:m="http://schemas.openxmlformats.org/officeDocument/2006/math">
                      <m:sSubSup>
                        <m:sSubSupPr>
                          <m:ctrlPr>
                            <a:rPr lang="en-US" sz="800" i="1" smtClean="0">
                              <a:latin typeface="Cambria Math"/>
                              <a:ea typeface="Cambria Math"/>
                            </a:rPr>
                          </m:ctrlPr>
                        </m:sSubSupPr>
                        <m:e>
                          <m:r>
                            <a:rPr lang="en-US" sz="800" b="0" i="1" smtClean="0">
                              <a:latin typeface="Cambria Math"/>
                              <a:ea typeface="Cambria Math"/>
                            </a:rPr>
                            <m:t>𝑓</m:t>
                          </m:r>
                        </m:e>
                        <m:sub>
                          <m:r>
                            <a:rPr lang="en-US" sz="800" i="1">
                              <a:latin typeface="Cambria Math"/>
                              <a:ea typeface="Cambria Math"/>
                            </a:rPr>
                            <m:t>𝑖</m:t>
                          </m:r>
                        </m:sub>
                        <m:sup>
                          <m:r>
                            <a:rPr lang="en-US" sz="800" b="0" i="1" smtClean="0">
                              <a:latin typeface="Cambria Math"/>
                              <a:ea typeface="Cambria Math"/>
                            </a:rPr>
                            <m:t>2</m:t>
                          </m:r>
                        </m:sup>
                      </m:sSubSup>
                      <m:r>
                        <a:rPr lang="en-US" sz="800" b="0" i="1" smtClean="0">
                          <a:latin typeface="Cambria Math"/>
                          <a:ea typeface="Cambria Math"/>
                        </a:rPr>
                        <m:t>,</m:t>
                      </m:r>
                      <m:sSubSup>
                        <m:sSubSupPr>
                          <m:ctrlPr>
                            <a:rPr lang="en-US" sz="800" i="1">
                              <a:latin typeface="Cambria Math"/>
                              <a:ea typeface="Cambria Math"/>
                            </a:rPr>
                          </m:ctrlPr>
                        </m:sSubSupPr>
                        <m:e>
                          <m:r>
                            <a:rPr lang="en-US" sz="800" b="0" i="1" smtClean="0">
                              <a:latin typeface="Cambria Math"/>
                              <a:ea typeface="Cambria Math"/>
                            </a:rPr>
                            <m:t>𝑓</m:t>
                          </m:r>
                        </m:e>
                        <m:sub>
                          <m:r>
                            <a:rPr lang="en-US" sz="800" i="1">
                              <a:latin typeface="Cambria Math"/>
                              <a:ea typeface="Cambria Math"/>
                            </a:rPr>
                            <m:t>𝑖</m:t>
                          </m:r>
                        </m:sub>
                        <m:sup>
                          <m:r>
                            <a:rPr lang="en-US" sz="800" b="0" i="1" smtClean="0">
                              <a:latin typeface="Cambria Math"/>
                              <a:ea typeface="Cambria Math"/>
                            </a:rPr>
                            <m:t>3</m:t>
                          </m:r>
                        </m:sup>
                      </m:sSubSup>
                    </m:oMath>
                  </a14:m>
                  <a:endParaRPr lang="en-US" sz="800" dirty="0"/>
                </a:p>
              </p:txBody>
            </p:sp>
          </mc:Choice>
          <mc:Fallback xmlns="">
            <p:sp>
              <p:nvSpPr>
                <p:cNvPr id="72" name="TextBox 71"/>
                <p:cNvSpPr txBox="1">
                  <a:spLocks noRot="1" noChangeAspect="1" noMove="1" noResize="1" noEditPoints="1" noAdjustHandles="1" noChangeArrowheads="1" noChangeShapeType="1" noTextEdit="1"/>
                </p:cNvSpPr>
                <p:nvPr/>
              </p:nvSpPr>
              <p:spPr>
                <a:xfrm>
                  <a:off x="3462122" y="5420740"/>
                  <a:ext cx="2057400" cy="445380"/>
                </a:xfrm>
                <a:prstGeom prst="rect">
                  <a:avLst/>
                </a:prstGeom>
                <a:blipFill rotWithShape="1">
                  <a:blip r:embed="rId3"/>
                  <a:stretch>
                    <a:fillRect b="-8108"/>
                  </a:stretch>
                </a:blipFill>
              </p:spPr>
              <p:txBody>
                <a:bodyPr/>
                <a:lstStyle/>
                <a:p>
                  <a:r>
                    <a:rPr lang="en-US">
                      <a:noFill/>
                    </a:rPr>
                    <a:t> </a:t>
                  </a:r>
                </a:p>
              </p:txBody>
            </p:sp>
          </mc:Fallback>
        </mc:AlternateContent>
        <p:cxnSp>
          <p:nvCxnSpPr>
            <p:cNvPr id="73" name="Straight Arrow Connector 72"/>
            <p:cNvCxnSpPr>
              <a:endCxn id="70" idx="0"/>
            </p:cNvCxnSpPr>
            <p:nvPr/>
          </p:nvCxnSpPr>
          <p:spPr>
            <a:xfrm>
              <a:off x="4483743" y="4525190"/>
              <a:ext cx="7078" cy="23731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74" name="Straight Arrow Connector 73"/>
            <p:cNvCxnSpPr>
              <a:stCxn id="70" idx="2"/>
              <a:endCxn id="71" idx="0"/>
            </p:cNvCxnSpPr>
            <p:nvPr/>
          </p:nvCxnSpPr>
          <p:spPr>
            <a:xfrm>
              <a:off x="4490821" y="5143500"/>
              <a:ext cx="1" cy="22860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sp>
        <p:nvSpPr>
          <p:cNvPr id="38" name="TextBox 37"/>
          <p:cNvSpPr txBox="1"/>
          <p:nvPr/>
        </p:nvSpPr>
        <p:spPr>
          <a:xfrm>
            <a:off x="5181600" y="1066800"/>
            <a:ext cx="2971800" cy="338554"/>
          </a:xfrm>
          <a:prstGeom prst="rect">
            <a:avLst/>
          </a:prstGeom>
          <a:noFill/>
          <a:ln w="25400">
            <a:solidFill>
              <a:schemeClr val="accent1">
                <a:lumMod val="40000"/>
                <a:lumOff val="60000"/>
              </a:schemeClr>
            </a:solidFill>
          </a:ln>
        </p:spPr>
        <p:txBody>
          <a:bodyPr wrap="square" rtlCol="0">
            <a:spAutoFit/>
          </a:bodyPr>
          <a:lstStyle/>
          <a:p>
            <a:pPr algn="ctr"/>
            <a:r>
              <a:rPr lang="en-US" sz="1600" dirty="0" smtClean="0"/>
              <a:t>Very light</a:t>
            </a:r>
            <a:endParaRPr lang="en-US" sz="1600" dirty="0"/>
          </a:p>
        </p:txBody>
      </p:sp>
      <p:pic>
        <p:nvPicPr>
          <p:cNvPr id="39" name="Picture 5" descr="C:\Users\310153563\Documents\GitHub\COPDBodyMedia_2nd_analysis\COPDBodyMedia2_paper\IEEEtran_windows\figure\png\figure_5_onlygaiss_verylight.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0596" y="1463338"/>
            <a:ext cx="3733808" cy="2799289"/>
          </a:xfrm>
          <a:prstGeom prst="rect">
            <a:avLst/>
          </a:prstGeom>
          <a:noFill/>
          <a:extLst>
            <a:ext uri="{909E8E84-426E-40DD-AFC4-6F175D3DCCD1}">
              <a14:hiddenFill xmlns:a14="http://schemas.microsoft.com/office/drawing/2010/main">
                <a:solidFill>
                  <a:srgbClr val="FFFFFF"/>
                </a:solidFill>
              </a14:hiddenFill>
            </a:ext>
          </a:extLst>
        </p:spPr>
      </p:pic>
      <p:cxnSp>
        <p:nvCxnSpPr>
          <p:cNvPr id="3" name="Curved Connector 2"/>
          <p:cNvCxnSpPr>
            <a:stCxn id="72" idx="2"/>
          </p:cNvCxnSpPr>
          <p:nvPr/>
        </p:nvCxnSpPr>
        <p:spPr>
          <a:xfrm rot="5400000" flipH="1" flipV="1">
            <a:off x="2692663" y="1549663"/>
            <a:ext cx="2362200" cy="3682474"/>
          </a:xfrm>
          <a:prstGeom prst="curvedConnector4">
            <a:avLst>
              <a:gd name="adj1" fmla="val -9677"/>
              <a:gd name="adj2" fmla="val 56984"/>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Curved Connector 8"/>
          <p:cNvCxnSpPr>
            <a:stCxn id="72" idx="2"/>
          </p:cNvCxnSpPr>
          <p:nvPr/>
        </p:nvCxnSpPr>
        <p:spPr>
          <a:xfrm rot="5400000" flipH="1" flipV="1">
            <a:off x="3173210" y="963411"/>
            <a:ext cx="2467905" cy="4749274"/>
          </a:xfrm>
          <a:prstGeom prst="curvedConnector4">
            <a:avLst>
              <a:gd name="adj1" fmla="val -9263"/>
              <a:gd name="adj2" fmla="val 55415"/>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Curved Connector 11"/>
          <p:cNvCxnSpPr/>
          <p:nvPr/>
        </p:nvCxnSpPr>
        <p:spPr>
          <a:xfrm flipV="1">
            <a:off x="2220903" y="2518841"/>
            <a:ext cx="5627697" cy="2015795"/>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685800" y="4952999"/>
            <a:ext cx="2819400" cy="646331"/>
          </a:xfrm>
          <a:prstGeom prst="rect">
            <a:avLst/>
          </a:prstGeom>
          <a:noFill/>
        </p:spPr>
        <p:txBody>
          <a:bodyPr wrap="square" rtlCol="0">
            <a:spAutoFit/>
          </a:bodyPr>
          <a:lstStyle/>
          <a:p>
            <a:pPr algn="ctr"/>
            <a:r>
              <a:rPr lang="en-US" dirty="0" smtClean="0"/>
              <a:t>=</a:t>
            </a:r>
          </a:p>
          <a:p>
            <a:pPr algn="ctr"/>
            <a:r>
              <a:rPr lang="en-US" dirty="0" smtClean="0"/>
              <a:t>VL_L1_L2_L1</a:t>
            </a:r>
            <a:endParaRPr lang="en-US" dirty="0"/>
          </a:p>
        </p:txBody>
      </p:sp>
    </p:spTree>
    <p:extLst>
      <p:ext uri="{BB962C8B-B14F-4D97-AF65-F5344CB8AC3E}">
        <p14:creationId xmlns:p14="http://schemas.microsoft.com/office/powerpoint/2010/main" val="12301859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p:cNvGrpSpPr>
            <a:grpSpLocks noChangeAspect="1"/>
          </p:cNvGrpSpPr>
          <p:nvPr/>
        </p:nvGrpSpPr>
        <p:grpSpPr>
          <a:xfrm>
            <a:off x="76200" y="1425362"/>
            <a:ext cx="3433752" cy="3603838"/>
            <a:chOff x="1981200" y="71015"/>
            <a:chExt cx="5450400" cy="5720377"/>
          </a:xfrm>
        </p:grpSpPr>
        <p:pic>
          <p:nvPicPr>
            <p:cNvPr id="44" name="Picture 43"/>
            <p:cNvPicPr/>
            <p:nvPr/>
          </p:nvPicPr>
          <p:blipFill>
            <a:blip r:embed="rId2"/>
            <a:stretch>
              <a:fillRect/>
            </a:stretch>
          </p:blipFill>
          <p:spPr>
            <a:xfrm>
              <a:off x="1981200" y="71015"/>
              <a:ext cx="5333400" cy="3998520"/>
            </a:xfrm>
            <a:prstGeom prst="rect">
              <a:avLst/>
            </a:prstGeom>
          </p:spPr>
        </p:pic>
        <p:pic>
          <p:nvPicPr>
            <p:cNvPr id="45" name="Picture 44"/>
            <p:cNvPicPr/>
            <p:nvPr/>
          </p:nvPicPr>
          <p:blipFill>
            <a:blip r:embed="rId2"/>
            <a:stretch>
              <a:fillRect/>
            </a:stretch>
          </p:blipFill>
          <p:spPr>
            <a:xfrm>
              <a:off x="1981200" y="76200"/>
              <a:ext cx="5333400" cy="3998520"/>
            </a:xfrm>
            <a:prstGeom prst="rect">
              <a:avLst/>
            </a:prstGeom>
          </p:spPr>
        </p:pic>
        <p:sp>
          <p:nvSpPr>
            <p:cNvPr id="46" name="CustomShape 6"/>
            <p:cNvSpPr/>
            <p:nvPr/>
          </p:nvSpPr>
          <p:spPr>
            <a:xfrm>
              <a:off x="2096040" y="4074998"/>
              <a:ext cx="406780" cy="419292"/>
            </a:xfrm>
            <a:prstGeom prst="roundRect">
              <a:avLst>
                <a:gd name="adj" fmla="val 3600"/>
              </a:avLst>
            </a:prstGeom>
            <a:ln w="36000">
              <a:solidFill>
                <a:srgbClr val="2323DC"/>
              </a:solidFill>
              <a:round/>
            </a:ln>
          </p:spPr>
        </p:sp>
        <p:sp>
          <p:nvSpPr>
            <p:cNvPr id="47" name="Line 7"/>
            <p:cNvSpPr/>
            <p:nvPr/>
          </p:nvSpPr>
          <p:spPr>
            <a:xfrm flipH="1">
              <a:off x="2502818" y="3276600"/>
              <a:ext cx="1208365" cy="807109"/>
            </a:xfrm>
            <a:prstGeom prst="line">
              <a:avLst/>
            </a:prstGeom>
            <a:ln w="36000">
              <a:solidFill>
                <a:srgbClr val="2300DC"/>
              </a:solidFill>
              <a:round/>
            </a:ln>
          </p:spPr>
        </p:sp>
        <p:sp>
          <p:nvSpPr>
            <p:cNvPr id="48" name="Line 8"/>
            <p:cNvSpPr/>
            <p:nvPr/>
          </p:nvSpPr>
          <p:spPr>
            <a:xfrm flipH="1">
              <a:off x="2106897" y="3276600"/>
              <a:ext cx="1604286" cy="798399"/>
            </a:xfrm>
            <a:prstGeom prst="line">
              <a:avLst/>
            </a:prstGeom>
            <a:ln w="36000">
              <a:solidFill>
                <a:srgbClr val="2300DC"/>
              </a:solidFill>
              <a:round/>
            </a:ln>
          </p:spPr>
        </p:sp>
        <p:sp>
          <p:nvSpPr>
            <p:cNvPr id="49" name="Line 9"/>
            <p:cNvSpPr/>
            <p:nvPr/>
          </p:nvSpPr>
          <p:spPr>
            <a:xfrm flipH="1">
              <a:off x="2502818" y="3276600"/>
              <a:ext cx="1208367" cy="1217690"/>
            </a:xfrm>
            <a:prstGeom prst="line">
              <a:avLst/>
            </a:prstGeom>
            <a:ln w="36000">
              <a:solidFill>
                <a:srgbClr val="2300DC"/>
              </a:solidFill>
              <a:round/>
            </a:ln>
          </p:spPr>
        </p:sp>
        <p:sp>
          <p:nvSpPr>
            <p:cNvPr id="50" name="Line 19"/>
            <p:cNvSpPr/>
            <p:nvPr/>
          </p:nvSpPr>
          <p:spPr>
            <a:xfrm flipH="1">
              <a:off x="2096038" y="3276600"/>
              <a:ext cx="1615148" cy="1217691"/>
            </a:xfrm>
            <a:prstGeom prst="line">
              <a:avLst/>
            </a:prstGeom>
            <a:ln>
              <a:solidFill>
                <a:srgbClr val="2300DC"/>
              </a:solidFill>
              <a:custDash>
                <a:ds d="508000" sp="508000"/>
                <a:ds d="508000" sp="508000"/>
              </a:custDash>
            </a:ln>
          </p:spPr>
        </p:sp>
        <p:sp>
          <p:nvSpPr>
            <p:cNvPr id="51" name="CustomShape 20"/>
            <p:cNvSpPr/>
            <p:nvPr/>
          </p:nvSpPr>
          <p:spPr>
            <a:xfrm>
              <a:off x="7024819" y="4083708"/>
              <a:ext cx="406780" cy="419292"/>
            </a:xfrm>
            <a:prstGeom prst="roundRect">
              <a:avLst>
                <a:gd name="adj" fmla="val 3600"/>
              </a:avLst>
            </a:prstGeom>
            <a:ln w="36000">
              <a:solidFill>
                <a:srgbClr val="FF420E"/>
              </a:solidFill>
              <a:round/>
            </a:ln>
          </p:spPr>
        </p:sp>
        <p:sp>
          <p:nvSpPr>
            <p:cNvPr id="52" name="Line 21"/>
            <p:cNvSpPr/>
            <p:nvPr/>
          </p:nvSpPr>
          <p:spPr>
            <a:xfrm>
              <a:off x="3962400" y="990600"/>
              <a:ext cx="3469199" cy="3101818"/>
            </a:xfrm>
            <a:prstGeom prst="line">
              <a:avLst/>
            </a:prstGeom>
            <a:ln w="36000">
              <a:solidFill>
                <a:srgbClr val="FF420E"/>
              </a:solidFill>
              <a:round/>
            </a:ln>
          </p:spPr>
        </p:sp>
        <p:sp>
          <p:nvSpPr>
            <p:cNvPr id="53" name="Line 22"/>
            <p:cNvSpPr/>
            <p:nvPr/>
          </p:nvSpPr>
          <p:spPr>
            <a:xfrm>
              <a:off x="3962400" y="990600"/>
              <a:ext cx="3062419" cy="3093108"/>
            </a:xfrm>
            <a:prstGeom prst="line">
              <a:avLst/>
            </a:prstGeom>
            <a:ln w="36000">
              <a:solidFill>
                <a:srgbClr val="FF420E"/>
              </a:solidFill>
              <a:round/>
            </a:ln>
          </p:spPr>
        </p:sp>
        <p:sp>
          <p:nvSpPr>
            <p:cNvPr id="54" name="Line 23"/>
            <p:cNvSpPr/>
            <p:nvPr/>
          </p:nvSpPr>
          <p:spPr>
            <a:xfrm>
              <a:off x="3962400" y="990600"/>
              <a:ext cx="3469200" cy="3512400"/>
            </a:xfrm>
            <a:prstGeom prst="line">
              <a:avLst/>
            </a:prstGeom>
            <a:ln>
              <a:solidFill>
                <a:srgbClr val="FF420E"/>
              </a:solidFill>
              <a:prstDash val="dash"/>
            </a:ln>
          </p:spPr>
        </p:sp>
        <p:sp>
          <p:nvSpPr>
            <p:cNvPr id="55" name="Line 24"/>
            <p:cNvSpPr/>
            <p:nvPr/>
          </p:nvSpPr>
          <p:spPr>
            <a:xfrm>
              <a:off x="3962400" y="990600"/>
              <a:ext cx="3062420" cy="3512400"/>
            </a:xfrm>
            <a:prstGeom prst="line">
              <a:avLst/>
            </a:prstGeom>
            <a:ln w="36000">
              <a:solidFill>
                <a:srgbClr val="FF420E"/>
              </a:solidFill>
              <a:round/>
            </a:ln>
          </p:spPr>
        </p:sp>
        <p:sp>
          <p:nvSpPr>
            <p:cNvPr id="56" name="Line 14"/>
            <p:cNvSpPr/>
            <p:nvPr/>
          </p:nvSpPr>
          <p:spPr>
            <a:xfrm>
              <a:off x="3962400" y="1759801"/>
              <a:ext cx="2534200" cy="2323907"/>
            </a:xfrm>
            <a:prstGeom prst="line">
              <a:avLst/>
            </a:prstGeom>
            <a:ln w="36000">
              <a:solidFill>
                <a:srgbClr val="E6FF00"/>
              </a:solidFill>
              <a:round/>
            </a:ln>
          </p:spPr>
        </p:sp>
        <p:sp>
          <p:nvSpPr>
            <p:cNvPr id="57" name="Line 15"/>
            <p:cNvSpPr/>
            <p:nvPr/>
          </p:nvSpPr>
          <p:spPr>
            <a:xfrm>
              <a:off x="3962400" y="1759801"/>
              <a:ext cx="2931141" cy="2743199"/>
            </a:xfrm>
            <a:prstGeom prst="line">
              <a:avLst/>
            </a:prstGeom>
            <a:ln>
              <a:solidFill>
                <a:srgbClr val="E6FF00"/>
              </a:solidFill>
              <a:prstDash val="dash"/>
            </a:ln>
          </p:spPr>
        </p:sp>
        <p:sp>
          <p:nvSpPr>
            <p:cNvPr id="58" name="Line 16"/>
            <p:cNvSpPr/>
            <p:nvPr/>
          </p:nvSpPr>
          <p:spPr>
            <a:xfrm>
              <a:off x="3962400" y="1759801"/>
              <a:ext cx="2534200" cy="2743199"/>
            </a:xfrm>
            <a:prstGeom prst="line">
              <a:avLst/>
            </a:prstGeom>
            <a:ln w="36000">
              <a:solidFill>
                <a:srgbClr val="E6FF00"/>
              </a:solidFill>
              <a:round/>
            </a:ln>
          </p:spPr>
        </p:sp>
        <p:sp>
          <p:nvSpPr>
            <p:cNvPr id="59" name="Line 13"/>
            <p:cNvSpPr/>
            <p:nvPr/>
          </p:nvSpPr>
          <p:spPr>
            <a:xfrm>
              <a:off x="3962400" y="1759801"/>
              <a:ext cx="2940980" cy="2332792"/>
            </a:xfrm>
            <a:prstGeom prst="line">
              <a:avLst/>
            </a:prstGeom>
            <a:ln w="36000">
              <a:solidFill>
                <a:srgbClr val="E6FF00"/>
              </a:solidFill>
              <a:round/>
            </a:ln>
          </p:spPr>
        </p:sp>
        <p:sp>
          <p:nvSpPr>
            <p:cNvPr id="60" name="CustomShape 12"/>
            <p:cNvSpPr/>
            <p:nvPr/>
          </p:nvSpPr>
          <p:spPr>
            <a:xfrm>
              <a:off x="6496600" y="4083708"/>
              <a:ext cx="406780" cy="419292"/>
            </a:xfrm>
            <a:prstGeom prst="roundRect">
              <a:avLst>
                <a:gd name="adj" fmla="val 3600"/>
              </a:avLst>
            </a:prstGeom>
            <a:ln w="36000">
              <a:solidFill>
                <a:srgbClr val="E6FF00"/>
              </a:solidFill>
              <a:round/>
            </a:ln>
          </p:spPr>
        </p:sp>
        <p:grpSp>
          <p:nvGrpSpPr>
            <p:cNvPr id="61" name="Group 60"/>
            <p:cNvGrpSpPr/>
            <p:nvPr/>
          </p:nvGrpSpPr>
          <p:grpSpPr>
            <a:xfrm>
              <a:off x="2554800" y="2507009"/>
              <a:ext cx="3872043" cy="1988719"/>
              <a:chOff x="609600" y="2423609"/>
              <a:chExt cx="3872043" cy="1988719"/>
            </a:xfrm>
          </p:grpSpPr>
          <p:sp>
            <p:nvSpPr>
              <p:cNvPr id="67" name="Line 10"/>
              <p:cNvSpPr/>
              <p:nvPr/>
            </p:nvSpPr>
            <p:spPr>
              <a:xfrm>
                <a:off x="1864801" y="2433058"/>
                <a:ext cx="2616842" cy="1977832"/>
              </a:xfrm>
              <a:prstGeom prst="line">
                <a:avLst/>
              </a:prstGeom>
              <a:ln>
                <a:solidFill>
                  <a:srgbClr val="00CCCC"/>
                </a:solidFill>
                <a:custDash>
                  <a:ds d="508000" sp="508000"/>
                  <a:ds d="508000" sp="508000"/>
                </a:custDash>
              </a:ln>
            </p:spPr>
          </p:sp>
          <p:sp>
            <p:nvSpPr>
              <p:cNvPr id="68" name="Line 11"/>
              <p:cNvSpPr/>
              <p:nvPr/>
            </p:nvSpPr>
            <p:spPr>
              <a:xfrm flipH="1">
                <a:off x="609601" y="2433058"/>
                <a:ext cx="1255199" cy="1977832"/>
              </a:xfrm>
              <a:prstGeom prst="line">
                <a:avLst/>
              </a:prstGeom>
              <a:ln>
                <a:solidFill>
                  <a:srgbClr val="00CCCC"/>
                </a:solidFill>
                <a:custDash>
                  <a:ds d="508000" sp="508000"/>
                  <a:ds d="508000" sp="508000"/>
                </a:custDash>
              </a:ln>
            </p:spPr>
          </p:sp>
          <p:sp>
            <p:nvSpPr>
              <p:cNvPr id="69" name="CustomShape 17"/>
              <p:cNvSpPr/>
              <p:nvPr/>
            </p:nvSpPr>
            <p:spPr>
              <a:xfrm>
                <a:off x="609601" y="3991598"/>
                <a:ext cx="3872041" cy="419292"/>
              </a:xfrm>
              <a:prstGeom prst="roundRect">
                <a:avLst>
                  <a:gd name="adj" fmla="val 3600"/>
                </a:avLst>
              </a:prstGeom>
              <a:ln w="36000">
                <a:solidFill>
                  <a:srgbClr val="00CCCC"/>
                </a:solidFill>
                <a:round/>
              </a:ln>
            </p:spPr>
          </p:sp>
          <p:sp>
            <p:nvSpPr>
              <p:cNvPr id="70" name="Line 18"/>
              <p:cNvSpPr/>
              <p:nvPr/>
            </p:nvSpPr>
            <p:spPr>
              <a:xfrm>
                <a:off x="1864801" y="2433058"/>
                <a:ext cx="2616842" cy="1567250"/>
              </a:xfrm>
              <a:prstGeom prst="line">
                <a:avLst/>
              </a:prstGeom>
              <a:ln w="36000">
                <a:solidFill>
                  <a:srgbClr val="00CCCC"/>
                </a:solidFill>
                <a:round/>
              </a:ln>
            </p:spPr>
          </p:sp>
          <p:sp>
            <p:nvSpPr>
              <p:cNvPr id="71" name="Line 5"/>
              <p:cNvSpPr/>
              <p:nvPr/>
            </p:nvSpPr>
            <p:spPr>
              <a:xfrm flipH="1">
                <a:off x="609600" y="2423609"/>
                <a:ext cx="1255200" cy="1576699"/>
              </a:xfrm>
              <a:prstGeom prst="line">
                <a:avLst/>
              </a:prstGeom>
              <a:ln w="36000">
                <a:solidFill>
                  <a:srgbClr val="00CCCC"/>
                </a:solidFill>
                <a:round/>
              </a:ln>
            </p:spPr>
          </p:sp>
          <mc:AlternateContent xmlns:mc="http://schemas.openxmlformats.org/markup-compatibility/2006" xmlns:a14="http://schemas.microsoft.com/office/drawing/2010/main">
            <mc:Choice Requires="a14">
              <p:sp>
                <p:nvSpPr>
                  <p:cNvPr id="72" name="TextBox 71"/>
                  <p:cNvSpPr txBox="1"/>
                  <p:nvPr/>
                </p:nvSpPr>
                <p:spPr>
                  <a:xfrm>
                    <a:off x="609601" y="4038600"/>
                    <a:ext cx="3872042" cy="373728"/>
                  </a:xfrm>
                  <a:prstGeom prst="rect">
                    <a:avLst/>
                  </a:prstGeom>
                  <a:noFill/>
                </p:spPr>
                <p:txBody>
                  <a:bodyPr wrap="square" rtlCol="0">
                    <a:spAutoFit/>
                  </a:bodyPr>
                  <a:lstStyle/>
                  <a:p>
                    <a:pPr algn="ctr"/>
                    <a14:m>
                      <m:oMath xmlns:m="http://schemas.openxmlformats.org/officeDocument/2006/math">
                        <m:r>
                          <a:rPr lang="en-US" sz="1100" b="0" i="1" smtClean="0">
                            <a:latin typeface="Cambria Math"/>
                          </a:rPr>
                          <m:t>𝐼𝐶</m:t>
                        </m:r>
                        <m:r>
                          <a:rPr lang="en-US" sz="1100" b="0" i="1" smtClean="0">
                            <a:latin typeface="Cambria Math"/>
                          </a:rPr>
                          <m:t>, </m:t>
                        </m:r>
                        <m:r>
                          <a:rPr lang="en-US" sz="1100" i="1" smtClean="0">
                            <a:latin typeface="Cambria Math"/>
                          </a:rPr>
                          <m:t>𝑑</m:t>
                        </m:r>
                      </m:oMath>
                    </a14:m>
                    <a:r>
                      <a:rPr lang="en-US" sz="1100" dirty="0" smtClean="0"/>
                      <a:t>,</a:t>
                    </a:r>
                    <a:r>
                      <a:rPr lang="en-US" sz="1100" dirty="0">
                        <a:ea typeface="Cambria Math"/>
                      </a:rPr>
                      <a:t> </a:t>
                    </a:r>
                    <a14:m>
                      <m:oMath xmlns:m="http://schemas.openxmlformats.org/officeDocument/2006/math">
                        <m:sSubSup>
                          <m:sSubSupPr>
                            <m:ctrlPr>
                              <a:rPr lang="en-US" sz="1100" i="1">
                                <a:latin typeface="Cambria Math"/>
                                <a:ea typeface="Cambria Math"/>
                              </a:rPr>
                            </m:ctrlPr>
                          </m:sSubSupPr>
                          <m:e>
                            <m:r>
                              <a:rPr lang="en-US" sz="1100" i="1">
                                <a:latin typeface="Cambria Math"/>
                                <a:ea typeface="Cambria Math"/>
                              </a:rPr>
                              <m:t>𝜇</m:t>
                            </m:r>
                          </m:e>
                          <m:sub>
                            <m:r>
                              <a:rPr lang="en-US" sz="1100" b="0" i="1" smtClean="0">
                                <a:latin typeface="Cambria Math"/>
                                <a:ea typeface="Cambria Math"/>
                              </a:rPr>
                              <m:t>𝑆𝑇</m:t>
                            </m:r>
                          </m:sub>
                          <m:sup/>
                        </m:sSubSup>
                      </m:oMath>
                    </a14:m>
                    <a:r>
                      <a:rPr lang="en-US" sz="1100" dirty="0" smtClean="0"/>
                      <a:t>,</a:t>
                    </a:r>
                    <a14:m>
                      <m:oMath xmlns:m="http://schemas.openxmlformats.org/officeDocument/2006/math">
                        <m:sSubSup>
                          <m:sSubSupPr>
                            <m:ctrlPr>
                              <a:rPr lang="en-US" sz="1100" i="1">
                                <a:latin typeface="Cambria Math"/>
                                <a:ea typeface="Cambria Math"/>
                              </a:rPr>
                            </m:ctrlPr>
                          </m:sSubSupPr>
                          <m:e>
                            <m:r>
                              <a:rPr lang="en-US" sz="1100" i="1">
                                <a:latin typeface="Cambria Math"/>
                                <a:ea typeface="Cambria Math"/>
                              </a:rPr>
                              <m:t>𝜇</m:t>
                            </m:r>
                          </m:e>
                          <m:sub>
                            <m:r>
                              <a:rPr lang="en-US" sz="1100" b="0" i="1" smtClean="0">
                                <a:latin typeface="Cambria Math"/>
                                <a:ea typeface="Cambria Math"/>
                              </a:rPr>
                              <m:t>𝐺𝑆𝑅</m:t>
                            </m:r>
                          </m:sub>
                          <m:sup/>
                        </m:sSubSup>
                        <m:r>
                          <a:rPr lang="en-US" sz="1100" b="0" i="1" smtClean="0">
                            <a:latin typeface="Cambria Math"/>
                            <a:ea typeface="Cambria Math"/>
                          </a:rPr>
                          <m:t>,</m:t>
                        </m:r>
                        <m:sSubSup>
                          <m:sSubSupPr>
                            <m:ctrlPr>
                              <a:rPr lang="en-US" sz="1100" i="1">
                                <a:latin typeface="Cambria Math"/>
                                <a:ea typeface="Cambria Math"/>
                              </a:rPr>
                            </m:ctrlPr>
                          </m:sSubSupPr>
                          <m:e>
                            <m:r>
                              <a:rPr lang="en-US" sz="1100" i="1">
                                <a:latin typeface="Cambria Math"/>
                                <a:ea typeface="Cambria Math"/>
                              </a:rPr>
                              <m:t>𝜇</m:t>
                            </m:r>
                          </m:e>
                          <m:sub>
                            <m:r>
                              <a:rPr lang="en-US" sz="1100" b="0" i="1" smtClean="0">
                                <a:latin typeface="Cambria Math"/>
                                <a:ea typeface="Cambria Math"/>
                              </a:rPr>
                              <m:t>𝑉𝑀</m:t>
                            </m:r>
                          </m:sub>
                          <m:sup/>
                        </m:sSubSup>
                        <m:sSubSup>
                          <m:sSubSupPr>
                            <m:ctrlPr>
                              <a:rPr lang="en-US" sz="1100" i="1">
                                <a:latin typeface="Cambria Math"/>
                                <a:ea typeface="Cambria Math"/>
                              </a:rPr>
                            </m:ctrlPr>
                          </m:sSubSupPr>
                          <m:e>
                            <m:r>
                              <a:rPr lang="en-US" sz="1100" b="0" i="1" smtClean="0">
                                <a:latin typeface="Cambria Math"/>
                                <a:ea typeface="Cambria Math"/>
                              </a:rPr>
                              <m:t>, </m:t>
                            </m:r>
                            <m:r>
                              <a:rPr lang="en-US" sz="1100" i="1">
                                <a:latin typeface="Cambria Math"/>
                                <a:ea typeface="Cambria Math"/>
                              </a:rPr>
                              <m:t>𝜇</m:t>
                            </m:r>
                          </m:e>
                          <m:sub>
                            <m:r>
                              <a:rPr lang="en-US" sz="1100" b="0" i="1" smtClean="0">
                                <a:latin typeface="Cambria Math"/>
                                <a:ea typeface="Cambria Math"/>
                              </a:rPr>
                              <m:t>𝑆𝐶</m:t>
                            </m:r>
                          </m:sub>
                          <m:sup/>
                        </m:sSubSup>
                      </m:oMath>
                    </a14:m>
                    <a:endParaRPr lang="en-US" sz="1100" dirty="0"/>
                  </a:p>
                </p:txBody>
              </p:sp>
            </mc:Choice>
            <mc:Fallback xmlns="">
              <p:sp>
                <p:nvSpPr>
                  <p:cNvPr id="72" name="TextBox 71"/>
                  <p:cNvSpPr txBox="1">
                    <a:spLocks noRot="1" noChangeAspect="1" noMove="1" noResize="1" noEditPoints="1" noAdjustHandles="1" noChangeArrowheads="1" noChangeShapeType="1" noTextEdit="1"/>
                  </p:cNvSpPr>
                  <p:nvPr/>
                </p:nvSpPr>
                <p:spPr>
                  <a:xfrm>
                    <a:off x="609601" y="4038600"/>
                    <a:ext cx="3872042" cy="373728"/>
                  </a:xfrm>
                  <a:prstGeom prst="rect">
                    <a:avLst/>
                  </a:prstGeom>
                  <a:blipFill rotWithShape="1">
                    <a:blip r:embed="rId3"/>
                    <a:stretch>
                      <a:fillRect b="-28205"/>
                    </a:stretch>
                  </a:blipFill>
                </p:spPr>
                <p:txBody>
                  <a:bodyPr/>
                  <a:lstStyle/>
                  <a:p>
                    <a:r>
                      <a:rPr lang="en-US">
                        <a:noFill/>
                      </a:rPr>
                      <a:t> </a:t>
                    </a:r>
                  </a:p>
                </p:txBody>
              </p:sp>
            </mc:Fallback>
          </mc:AlternateContent>
        </p:grpSp>
        <p:sp>
          <p:nvSpPr>
            <p:cNvPr id="62" name="Rectangle 61"/>
            <p:cNvSpPr/>
            <p:nvPr/>
          </p:nvSpPr>
          <p:spPr>
            <a:xfrm>
              <a:off x="3462121" y="4762500"/>
              <a:ext cx="2057400" cy="381000"/>
            </a:xfrm>
            <a:prstGeom prst="rect">
              <a:avLst/>
            </a:prstGeom>
            <a:no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Feature selection</a:t>
              </a:r>
              <a:endParaRPr lang="en-US" sz="1000" dirty="0">
                <a:solidFill>
                  <a:srgbClr val="000000"/>
                </a:solidFill>
              </a:endParaRPr>
            </a:p>
          </p:txBody>
        </p:sp>
        <p:sp>
          <p:nvSpPr>
            <p:cNvPr id="63" name="CustomShape 17"/>
            <p:cNvSpPr/>
            <p:nvPr/>
          </p:nvSpPr>
          <p:spPr>
            <a:xfrm>
              <a:off x="3462122" y="5372100"/>
              <a:ext cx="2057400" cy="419292"/>
            </a:xfrm>
            <a:prstGeom prst="roundRect">
              <a:avLst>
                <a:gd name="adj" fmla="val 3600"/>
              </a:avLst>
            </a:prstGeom>
            <a:ln w="36000">
              <a:solidFill>
                <a:srgbClr val="00CCCC"/>
              </a:solidFill>
              <a:round/>
            </a:ln>
          </p:spPr>
        </p:sp>
        <mc:AlternateContent xmlns:mc="http://schemas.openxmlformats.org/markup-compatibility/2006" xmlns:a14="http://schemas.microsoft.com/office/drawing/2010/main">
          <mc:Choice Requires="a14">
            <p:sp>
              <p:nvSpPr>
                <p:cNvPr id="64" name="TextBox 63"/>
                <p:cNvSpPr txBox="1"/>
                <p:nvPr/>
              </p:nvSpPr>
              <p:spPr>
                <a:xfrm>
                  <a:off x="3462121" y="5420741"/>
                  <a:ext cx="2057400" cy="351744"/>
                </a:xfrm>
                <a:prstGeom prst="rect">
                  <a:avLst/>
                </a:prstGeom>
                <a:noFill/>
              </p:spPr>
              <p:txBody>
                <a:bodyPr wrap="square" rtlCol="0">
                  <a:spAutoFit/>
                </a:bodyPr>
                <a:lstStyle/>
                <a:p>
                  <a:pPr algn="ctr"/>
                  <a14:m>
                    <m:oMath xmlns:m="http://schemas.openxmlformats.org/officeDocument/2006/math">
                      <m:r>
                        <a:rPr lang="en-US" sz="1000" b="0" i="1" smtClean="0">
                          <a:latin typeface="Cambria Math"/>
                        </a:rPr>
                        <m:t>𝐼𝐶</m:t>
                      </m:r>
                      <m:r>
                        <a:rPr lang="en-US" sz="1000" b="0" i="1" smtClean="0">
                          <a:latin typeface="Cambria Math"/>
                        </a:rPr>
                        <m:t>,</m:t>
                      </m:r>
                    </m:oMath>
                  </a14:m>
                  <a:r>
                    <a:rPr lang="en-US" sz="1000" dirty="0">
                      <a:ea typeface="Cambria Math"/>
                    </a:rPr>
                    <a:t> </a:t>
                  </a:r>
                  <a14:m>
                    <m:oMath xmlns:m="http://schemas.openxmlformats.org/officeDocument/2006/math">
                      <m:sSubSup>
                        <m:sSubSupPr>
                          <m:ctrlPr>
                            <a:rPr lang="en-US" sz="1000" i="1">
                              <a:latin typeface="Cambria Math"/>
                              <a:ea typeface="Cambria Math"/>
                            </a:rPr>
                          </m:ctrlPr>
                        </m:sSubSupPr>
                        <m:e>
                          <m:r>
                            <a:rPr lang="en-US" sz="1000" b="0" i="1" smtClean="0">
                              <a:latin typeface="Cambria Math"/>
                              <a:ea typeface="Cambria Math"/>
                            </a:rPr>
                            <m:t>𝑓</m:t>
                          </m:r>
                        </m:e>
                        <m:sub>
                          <m:r>
                            <a:rPr lang="en-US" sz="1000" b="0" i="1" smtClean="0">
                              <a:latin typeface="Cambria Math"/>
                              <a:ea typeface="Cambria Math"/>
                            </a:rPr>
                            <m:t>1</m:t>
                          </m:r>
                        </m:sub>
                        <m:sup/>
                      </m:sSubSup>
                    </m:oMath>
                  </a14:m>
                  <a:r>
                    <a:rPr lang="en-US" sz="1000" dirty="0" smtClean="0"/>
                    <a:t>,</a:t>
                  </a:r>
                  <a14:m>
                    <m:oMath xmlns:m="http://schemas.openxmlformats.org/officeDocument/2006/math">
                      <m:sSubSup>
                        <m:sSubSupPr>
                          <m:ctrlPr>
                            <a:rPr lang="en-US" sz="1000" i="1" smtClean="0">
                              <a:latin typeface="Cambria Math"/>
                              <a:ea typeface="Cambria Math"/>
                            </a:rPr>
                          </m:ctrlPr>
                        </m:sSubSupPr>
                        <m:e>
                          <m:r>
                            <a:rPr lang="en-US" sz="1000" b="0" i="1" smtClean="0">
                              <a:latin typeface="Cambria Math"/>
                              <a:ea typeface="Cambria Math"/>
                            </a:rPr>
                            <m:t>𝑓</m:t>
                          </m:r>
                        </m:e>
                        <m:sub>
                          <m:r>
                            <a:rPr lang="en-US" sz="1000" b="0" i="1" smtClean="0">
                              <a:latin typeface="Cambria Math"/>
                              <a:ea typeface="Cambria Math"/>
                            </a:rPr>
                            <m:t>2</m:t>
                          </m:r>
                        </m:sub>
                        <m:sup/>
                      </m:sSubSup>
                      <m:r>
                        <a:rPr lang="en-US" sz="1000" b="0" i="1" smtClean="0">
                          <a:latin typeface="Cambria Math"/>
                          <a:ea typeface="Cambria Math"/>
                        </a:rPr>
                        <m:t>,</m:t>
                      </m:r>
                      <m:sSubSup>
                        <m:sSubSupPr>
                          <m:ctrlPr>
                            <a:rPr lang="en-US" sz="1000" i="1">
                              <a:latin typeface="Cambria Math"/>
                              <a:ea typeface="Cambria Math"/>
                            </a:rPr>
                          </m:ctrlPr>
                        </m:sSubSupPr>
                        <m:e>
                          <m:r>
                            <a:rPr lang="en-US" sz="1000" b="0" i="1" smtClean="0">
                              <a:latin typeface="Cambria Math"/>
                              <a:ea typeface="Cambria Math"/>
                            </a:rPr>
                            <m:t>𝑓</m:t>
                          </m:r>
                        </m:e>
                        <m:sub>
                          <m:r>
                            <a:rPr lang="en-US" sz="1000" b="0" i="1" smtClean="0">
                              <a:latin typeface="Cambria Math"/>
                              <a:ea typeface="Cambria Math"/>
                            </a:rPr>
                            <m:t>3</m:t>
                          </m:r>
                        </m:sub>
                        <m:sup/>
                      </m:sSubSup>
                    </m:oMath>
                  </a14:m>
                  <a:endParaRPr lang="en-US" sz="1000" dirty="0"/>
                </a:p>
              </p:txBody>
            </p:sp>
          </mc:Choice>
          <mc:Fallback xmlns="">
            <p:sp>
              <p:nvSpPr>
                <p:cNvPr id="64" name="TextBox 63"/>
                <p:cNvSpPr txBox="1">
                  <a:spLocks noRot="1" noChangeAspect="1" noMove="1" noResize="1" noEditPoints="1" noAdjustHandles="1" noChangeArrowheads="1" noChangeShapeType="1" noTextEdit="1"/>
                </p:cNvSpPr>
                <p:nvPr/>
              </p:nvSpPr>
              <p:spPr>
                <a:xfrm>
                  <a:off x="3462121" y="5420741"/>
                  <a:ext cx="2057400" cy="351744"/>
                </a:xfrm>
                <a:prstGeom prst="rect">
                  <a:avLst/>
                </a:prstGeom>
                <a:blipFill rotWithShape="1">
                  <a:blip r:embed="rId4"/>
                  <a:stretch>
                    <a:fillRect b="-27778"/>
                  </a:stretch>
                </a:blipFill>
              </p:spPr>
              <p:txBody>
                <a:bodyPr/>
                <a:lstStyle/>
                <a:p>
                  <a:r>
                    <a:rPr lang="en-US">
                      <a:noFill/>
                    </a:rPr>
                    <a:t> </a:t>
                  </a:r>
                </a:p>
              </p:txBody>
            </p:sp>
          </mc:Fallback>
        </mc:AlternateContent>
        <p:cxnSp>
          <p:nvCxnSpPr>
            <p:cNvPr id="65" name="Straight Arrow Connector 64"/>
            <p:cNvCxnSpPr>
              <a:endCxn id="62" idx="0"/>
            </p:cNvCxnSpPr>
            <p:nvPr/>
          </p:nvCxnSpPr>
          <p:spPr>
            <a:xfrm>
              <a:off x="4483743" y="4525190"/>
              <a:ext cx="7078" cy="23731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a:stCxn id="62" idx="2"/>
              <a:endCxn id="63" idx="0"/>
            </p:cNvCxnSpPr>
            <p:nvPr/>
          </p:nvCxnSpPr>
          <p:spPr>
            <a:xfrm>
              <a:off x="4490821" y="5143500"/>
              <a:ext cx="1" cy="22860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7" name="Group 6"/>
          <p:cNvGrpSpPr/>
          <p:nvPr/>
        </p:nvGrpSpPr>
        <p:grpSpPr>
          <a:xfrm>
            <a:off x="5257800" y="1523498"/>
            <a:ext cx="2847975" cy="2857500"/>
            <a:chOff x="4008441" y="1523498"/>
            <a:chExt cx="2847975" cy="2857500"/>
          </a:xfrm>
        </p:grpSpPr>
        <p:pic>
          <p:nvPicPr>
            <p:cNvPr id="3" name="Picture 4" descr="Note Pap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8441" y="1523498"/>
              <a:ext cx="2847975" cy="285750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p:cNvGrpSpPr/>
            <p:nvPr/>
          </p:nvGrpSpPr>
          <p:grpSpPr>
            <a:xfrm>
              <a:off x="4343400" y="2089846"/>
              <a:ext cx="2052637" cy="1891200"/>
              <a:chOff x="4343400" y="2089846"/>
              <a:chExt cx="2052637" cy="1891200"/>
            </a:xfrm>
          </p:grpSpPr>
          <p:sp>
            <p:nvSpPr>
              <p:cNvPr id="73" name="CustomShape 6"/>
              <p:cNvSpPr/>
              <p:nvPr/>
            </p:nvSpPr>
            <p:spPr>
              <a:xfrm>
                <a:off x="4419599" y="2089846"/>
                <a:ext cx="256271" cy="264154"/>
              </a:xfrm>
              <a:prstGeom prst="roundRect">
                <a:avLst>
                  <a:gd name="adj" fmla="val 3600"/>
                </a:avLst>
              </a:prstGeom>
              <a:ln w="36000">
                <a:solidFill>
                  <a:srgbClr val="2323DC"/>
                </a:solidFill>
                <a:round/>
              </a:ln>
            </p:spPr>
          </p:sp>
          <p:sp>
            <p:nvSpPr>
              <p:cNvPr id="74" name="CustomShape 12"/>
              <p:cNvSpPr/>
              <p:nvPr/>
            </p:nvSpPr>
            <p:spPr>
              <a:xfrm>
                <a:off x="4748664" y="2089846"/>
                <a:ext cx="256271" cy="264154"/>
              </a:xfrm>
              <a:prstGeom prst="roundRect">
                <a:avLst>
                  <a:gd name="adj" fmla="val 3600"/>
                </a:avLst>
              </a:prstGeom>
              <a:ln w="36000">
                <a:solidFill>
                  <a:srgbClr val="E6FF00"/>
                </a:solidFill>
                <a:round/>
              </a:ln>
            </p:spPr>
          </p:sp>
          <p:sp>
            <p:nvSpPr>
              <p:cNvPr id="75" name="CustomShape 20"/>
              <p:cNvSpPr/>
              <p:nvPr/>
            </p:nvSpPr>
            <p:spPr>
              <a:xfrm>
                <a:off x="5081135" y="2089846"/>
                <a:ext cx="256271" cy="264154"/>
              </a:xfrm>
              <a:prstGeom prst="roundRect">
                <a:avLst>
                  <a:gd name="adj" fmla="val 3600"/>
                </a:avLst>
              </a:prstGeom>
              <a:ln w="36000">
                <a:solidFill>
                  <a:srgbClr val="FF420E"/>
                </a:solidFill>
                <a:round/>
              </a:ln>
            </p:spPr>
          </p:sp>
          <p:sp>
            <p:nvSpPr>
              <p:cNvPr id="86" name="CustomShape 20_"/>
              <p:cNvSpPr/>
              <p:nvPr/>
            </p:nvSpPr>
            <p:spPr>
              <a:xfrm>
                <a:off x="5413606" y="2089846"/>
                <a:ext cx="256271" cy="264154"/>
              </a:xfrm>
              <a:prstGeom prst="roundRect">
                <a:avLst>
                  <a:gd name="adj" fmla="val 3600"/>
                </a:avLst>
              </a:prstGeom>
              <a:ln w="36000">
                <a:solidFill>
                  <a:srgbClr val="FF420E"/>
                </a:solidFill>
                <a:round/>
              </a:ln>
            </p:spPr>
          </p:sp>
          <p:sp>
            <p:nvSpPr>
              <p:cNvPr id="87" name="CustomShape 6_"/>
              <p:cNvSpPr/>
              <p:nvPr/>
            </p:nvSpPr>
            <p:spPr>
              <a:xfrm>
                <a:off x="5740400" y="2089846"/>
                <a:ext cx="256271" cy="264154"/>
              </a:xfrm>
              <a:prstGeom prst="roundRect">
                <a:avLst>
                  <a:gd name="adj" fmla="val 3600"/>
                </a:avLst>
              </a:prstGeom>
              <a:ln w="36000">
                <a:solidFill>
                  <a:srgbClr val="00B0F0"/>
                </a:solidFill>
                <a:round/>
              </a:ln>
            </p:spPr>
          </p:sp>
          <p:sp>
            <p:nvSpPr>
              <p:cNvPr id="88" name="CustomShape 6__"/>
              <p:cNvSpPr/>
              <p:nvPr/>
            </p:nvSpPr>
            <p:spPr>
              <a:xfrm>
                <a:off x="4419599" y="2428471"/>
                <a:ext cx="256271" cy="264154"/>
              </a:xfrm>
              <a:prstGeom prst="roundRect">
                <a:avLst>
                  <a:gd name="adj" fmla="val 3600"/>
                </a:avLst>
              </a:prstGeom>
              <a:ln w="36000">
                <a:solidFill>
                  <a:srgbClr val="00B0F0"/>
                </a:solidFill>
                <a:round/>
              </a:ln>
            </p:spPr>
          </p:sp>
          <p:sp>
            <p:nvSpPr>
              <p:cNvPr id="89" name="CustomShape 12_"/>
              <p:cNvSpPr/>
              <p:nvPr/>
            </p:nvSpPr>
            <p:spPr>
              <a:xfrm>
                <a:off x="4748663" y="2439471"/>
                <a:ext cx="256271" cy="264154"/>
              </a:xfrm>
              <a:prstGeom prst="roundRect">
                <a:avLst>
                  <a:gd name="adj" fmla="val 3600"/>
                </a:avLst>
              </a:prstGeom>
              <a:ln w="36000">
                <a:solidFill>
                  <a:srgbClr val="E6FF00"/>
                </a:solidFill>
                <a:round/>
              </a:ln>
            </p:spPr>
          </p:sp>
          <p:sp>
            <p:nvSpPr>
              <p:cNvPr id="90" name="CustomShape 20__"/>
              <p:cNvSpPr/>
              <p:nvPr/>
            </p:nvSpPr>
            <p:spPr>
              <a:xfrm>
                <a:off x="5083405" y="2420742"/>
                <a:ext cx="256271" cy="264154"/>
              </a:xfrm>
              <a:prstGeom prst="roundRect">
                <a:avLst>
                  <a:gd name="adj" fmla="val 3600"/>
                </a:avLst>
              </a:prstGeom>
              <a:ln w="36000">
                <a:solidFill>
                  <a:srgbClr val="FF420E"/>
                </a:solidFill>
                <a:round/>
              </a:ln>
            </p:spPr>
          </p:sp>
          <p:sp>
            <p:nvSpPr>
              <p:cNvPr id="91" name="CustomShape 6___"/>
              <p:cNvSpPr/>
              <p:nvPr/>
            </p:nvSpPr>
            <p:spPr>
              <a:xfrm>
                <a:off x="5419956" y="2420742"/>
                <a:ext cx="256271" cy="264154"/>
              </a:xfrm>
              <a:prstGeom prst="roundRect">
                <a:avLst>
                  <a:gd name="adj" fmla="val 3600"/>
                </a:avLst>
              </a:prstGeom>
              <a:ln w="36000">
                <a:solidFill>
                  <a:srgbClr val="00B0F0"/>
                </a:solidFill>
                <a:round/>
              </a:ln>
            </p:spPr>
          </p:sp>
          <p:sp>
            <p:nvSpPr>
              <p:cNvPr id="92" name="CustomShape 20___"/>
              <p:cNvSpPr/>
              <p:nvPr/>
            </p:nvSpPr>
            <p:spPr>
              <a:xfrm>
                <a:off x="5740399" y="2420337"/>
                <a:ext cx="256271" cy="264154"/>
              </a:xfrm>
              <a:prstGeom prst="roundRect">
                <a:avLst>
                  <a:gd name="adj" fmla="val 3600"/>
                </a:avLst>
              </a:prstGeom>
              <a:ln w="36000">
                <a:solidFill>
                  <a:srgbClr val="FF420E"/>
                </a:solidFill>
                <a:round/>
              </a:ln>
            </p:spPr>
          </p:sp>
          <p:sp>
            <p:nvSpPr>
              <p:cNvPr id="93" name="CustomShape 6____"/>
              <p:cNvSpPr/>
              <p:nvPr/>
            </p:nvSpPr>
            <p:spPr>
              <a:xfrm>
                <a:off x="4419600" y="2766593"/>
                <a:ext cx="256271" cy="264154"/>
              </a:xfrm>
              <a:prstGeom prst="roundRect">
                <a:avLst>
                  <a:gd name="adj" fmla="val 3600"/>
                </a:avLst>
              </a:prstGeom>
              <a:ln w="36000">
                <a:solidFill>
                  <a:srgbClr val="2323DC"/>
                </a:solidFill>
                <a:round/>
              </a:ln>
            </p:spPr>
          </p:sp>
          <p:sp>
            <p:nvSpPr>
              <p:cNvPr id="102" name="CustomShape 12__"/>
              <p:cNvSpPr/>
              <p:nvPr/>
            </p:nvSpPr>
            <p:spPr>
              <a:xfrm>
                <a:off x="4748665" y="2766593"/>
                <a:ext cx="256271" cy="264154"/>
              </a:xfrm>
              <a:prstGeom prst="roundRect">
                <a:avLst>
                  <a:gd name="adj" fmla="val 3600"/>
                </a:avLst>
              </a:prstGeom>
              <a:ln w="36000">
                <a:solidFill>
                  <a:srgbClr val="E6FF00"/>
                </a:solidFill>
                <a:round/>
              </a:ln>
            </p:spPr>
          </p:sp>
          <p:sp>
            <p:nvSpPr>
              <p:cNvPr id="110" name="CustomShape 20____"/>
              <p:cNvSpPr/>
              <p:nvPr/>
            </p:nvSpPr>
            <p:spPr>
              <a:xfrm>
                <a:off x="5081136" y="2766593"/>
                <a:ext cx="256271" cy="264154"/>
              </a:xfrm>
              <a:prstGeom prst="roundRect">
                <a:avLst>
                  <a:gd name="adj" fmla="val 3600"/>
                </a:avLst>
              </a:prstGeom>
              <a:ln w="36000">
                <a:solidFill>
                  <a:srgbClr val="FF420E"/>
                </a:solidFill>
                <a:round/>
              </a:ln>
            </p:spPr>
          </p:sp>
          <p:sp>
            <p:nvSpPr>
              <p:cNvPr id="111" name="CustomShape 12___"/>
              <p:cNvSpPr/>
              <p:nvPr/>
            </p:nvSpPr>
            <p:spPr>
              <a:xfrm>
                <a:off x="5410200" y="2766593"/>
                <a:ext cx="256271" cy="264154"/>
              </a:xfrm>
              <a:prstGeom prst="roundRect">
                <a:avLst>
                  <a:gd name="adj" fmla="val 3600"/>
                </a:avLst>
              </a:prstGeom>
              <a:ln w="36000">
                <a:solidFill>
                  <a:srgbClr val="E6FF00"/>
                </a:solidFill>
                <a:round/>
              </a:ln>
            </p:spPr>
          </p:sp>
          <p:sp>
            <p:nvSpPr>
              <p:cNvPr id="112" name="CustomShape 20_____"/>
              <p:cNvSpPr/>
              <p:nvPr/>
            </p:nvSpPr>
            <p:spPr>
              <a:xfrm>
                <a:off x="5740188" y="2770860"/>
                <a:ext cx="256271" cy="264154"/>
              </a:xfrm>
              <a:prstGeom prst="roundRect">
                <a:avLst>
                  <a:gd name="adj" fmla="val 3600"/>
                </a:avLst>
              </a:prstGeom>
              <a:ln w="36000">
                <a:solidFill>
                  <a:srgbClr val="FF420E"/>
                </a:solidFill>
                <a:round/>
              </a:ln>
            </p:spPr>
          </p:sp>
          <p:sp>
            <p:nvSpPr>
              <p:cNvPr id="113" name="CustomShape 6_____"/>
              <p:cNvSpPr/>
              <p:nvPr/>
            </p:nvSpPr>
            <p:spPr>
              <a:xfrm>
                <a:off x="4419598" y="3111107"/>
                <a:ext cx="256271" cy="264154"/>
              </a:xfrm>
              <a:prstGeom prst="roundRect">
                <a:avLst>
                  <a:gd name="adj" fmla="val 3600"/>
                </a:avLst>
              </a:prstGeom>
              <a:ln w="36000">
                <a:solidFill>
                  <a:srgbClr val="00B0F0"/>
                </a:solidFill>
                <a:round/>
              </a:ln>
            </p:spPr>
          </p:sp>
          <p:sp>
            <p:nvSpPr>
              <p:cNvPr id="114" name="CustomShape 6______"/>
              <p:cNvSpPr/>
              <p:nvPr/>
            </p:nvSpPr>
            <p:spPr>
              <a:xfrm>
                <a:off x="4748662" y="3111107"/>
                <a:ext cx="256271" cy="264154"/>
              </a:xfrm>
              <a:prstGeom prst="roundRect">
                <a:avLst>
                  <a:gd name="adj" fmla="val 3600"/>
                </a:avLst>
              </a:prstGeom>
              <a:ln w="36000">
                <a:solidFill>
                  <a:srgbClr val="00B0F0"/>
                </a:solidFill>
                <a:round/>
              </a:ln>
            </p:spPr>
          </p:sp>
          <p:sp>
            <p:nvSpPr>
              <p:cNvPr id="115" name="TextBox 114"/>
              <p:cNvSpPr txBox="1"/>
              <p:nvPr/>
            </p:nvSpPr>
            <p:spPr>
              <a:xfrm>
                <a:off x="5029200" y="3030747"/>
                <a:ext cx="1014865" cy="369332"/>
              </a:xfrm>
              <a:prstGeom prst="rect">
                <a:avLst/>
              </a:prstGeom>
              <a:noFill/>
            </p:spPr>
            <p:txBody>
              <a:bodyPr wrap="square" rtlCol="0">
                <a:spAutoFit/>
              </a:bodyPr>
              <a:lstStyle/>
              <a:p>
                <a:r>
                  <a:rPr lang="en-US" dirty="0" smtClean="0"/>
                  <a:t>… … … …</a:t>
                </a:r>
                <a:endParaRPr lang="en-US" dirty="0"/>
              </a:p>
            </p:txBody>
          </p:sp>
          <p:sp>
            <p:nvSpPr>
              <p:cNvPr id="116" name="TextBox 115"/>
              <p:cNvSpPr txBox="1"/>
              <p:nvPr/>
            </p:nvSpPr>
            <p:spPr>
              <a:xfrm>
                <a:off x="4343400" y="3347215"/>
                <a:ext cx="2052637" cy="369332"/>
              </a:xfrm>
              <a:prstGeom prst="rect">
                <a:avLst/>
              </a:prstGeom>
              <a:noFill/>
            </p:spPr>
            <p:txBody>
              <a:bodyPr wrap="square" rtlCol="0">
                <a:spAutoFit/>
              </a:bodyPr>
              <a:lstStyle/>
              <a:p>
                <a:r>
                  <a:rPr lang="en-US" dirty="0" smtClean="0"/>
                  <a:t>… … … … … … … …</a:t>
                </a:r>
                <a:endParaRPr lang="en-US" dirty="0"/>
              </a:p>
            </p:txBody>
          </p:sp>
          <p:sp>
            <p:nvSpPr>
              <p:cNvPr id="124" name="CustomShape 20______"/>
              <p:cNvSpPr/>
              <p:nvPr/>
            </p:nvSpPr>
            <p:spPr>
              <a:xfrm>
                <a:off x="4520064" y="3716892"/>
                <a:ext cx="256271" cy="264154"/>
              </a:xfrm>
              <a:prstGeom prst="roundRect">
                <a:avLst>
                  <a:gd name="adj" fmla="val 3600"/>
                </a:avLst>
              </a:prstGeom>
              <a:ln w="36000">
                <a:solidFill>
                  <a:srgbClr val="FF420E"/>
                </a:solidFill>
                <a:round/>
              </a:ln>
            </p:spPr>
          </p:sp>
          <p:sp>
            <p:nvSpPr>
              <p:cNvPr id="125" name="CustomShape 12____"/>
              <p:cNvSpPr/>
              <p:nvPr/>
            </p:nvSpPr>
            <p:spPr>
              <a:xfrm>
                <a:off x="4901064" y="3716892"/>
                <a:ext cx="256271" cy="264154"/>
              </a:xfrm>
              <a:prstGeom prst="roundRect">
                <a:avLst>
                  <a:gd name="adj" fmla="val 3600"/>
                </a:avLst>
              </a:prstGeom>
              <a:ln w="36000">
                <a:solidFill>
                  <a:srgbClr val="E6FF00"/>
                </a:solidFill>
                <a:round/>
              </a:ln>
            </p:spPr>
          </p:sp>
          <p:sp>
            <p:nvSpPr>
              <p:cNvPr id="126" name="CustomShape 6_______"/>
              <p:cNvSpPr/>
              <p:nvPr/>
            </p:nvSpPr>
            <p:spPr>
              <a:xfrm>
                <a:off x="5261083" y="3712470"/>
                <a:ext cx="256271" cy="264154"/>
              </a:xfrm>
              <a:prstGeom prst="roundRect">
                <a:avLst>
                  <a:gd name="adj" fmla="val 3600"/>
                </a:avLst>
              </a:prstGeom>
              <a:ln w="36000">
                <a:solidFill>
                  <a:srgbClr val="00B0F0"/>
                </a:solidFill>
                <a:round/>
              </a:ln>
            </p:spPr>
          </p:sp>
          <p:sp>
            <p:nvSpPr>
              <p:cNvPr id="127" name="CustomShape 6________"/>
              <p:cNvSpPr/>
              <p:nvPr/>
            </p:nvSpPr>
            <p:spPr>
              <a:xfrm>
                <a:off x="5669754" y="3712470"/>
                <a:ext cx="256271" cy="264154"/>
              </a:xfrm>
              <a:prstGeom prst="roundRect">
                <a:avLst>
                  <a:gd name="adj" fmla="val 3600"/>
                </a:avLst>
              </a:prstGeom>
              <a:ln w="36000">
                <a:solidFill>
                  <a:srgbClr val="00B0F0"/>
                </a:solidFill>
                <a:round/>
              </a:ln>
            </p:spPr>
          </p:sp>
        </p:grpSp>
      </p:grpSp>
      <p:sp>
        <p:nvSpPr>
          <p:cNvPr id="76" name="TextBox 75"/>
          <p:cNvSpPr txBox="1"/>
          <p:nvPr/>
        </p:nvSpPr>
        <p:spPr>
          <a:xfrm>
            <a:off x="228600" y="5221069"/>
            <a:ext cx="2819400" cy="646331"/>
          </a:xfrm>
          <a:prstGeom prst="rect">
            <a:avLst/>
          </a:prstGeom>
          <a:noFill/>
        </p:spPr>
        <p:txBody>
          <a:bodyPr wrap="square" rtlCol="0">
            <a:spAutoFit/>
          </a:bodyPr>
          <a:lstStyle/>
          <a:p>
            <a:pPr algn="ctr"/>
            <a:r>
              <a:rPr lang="en-US" dirty="0" smtClean="0"/>
              <a:t>=</a:t>
            </a:r>
          </a:p>
          <a:p>
            <a:pPr algn="ctr"/>
            <a:r>
              <a:rPr lang="en-US" dirty="0" smtClean="0"/>
              <a:t>VL_L1_L2_L1</a:t>
            </a:r>
            <a:endParaRPr lang="en-US" dirty="0"/>
          </a:p>
        </p:txBody>
      </p:sp>
      <p:cxnSp>
        <p:nvCxnSpPr>
          <p:cNvPr id="77" name="Curved Connector 76"/>
          <p:cNvCxnSpPr>
            <a:stCxn id="76" idx="3"/>
          </p:cNvCxnSpPr>
          <p:nvPr/>
        </p:nvCxnSpPr>
        <p:spPr>
          <a:xfrm flipV="1">
            <a:off x="3048000" y="3353405"/>
            <a:ext cx="2544759" cy="219083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57290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3886200" y="1659147"/>
            <a:ext cx="5019675" cy="2838450"/>
            <a:chOff x="3886200" y="304800"/>
            <a:chExt cx="5019675" cy="2838450"/>
          </a:xfrm>
        </p:grpSpPr>
        <p:pic>
          <p:nvPicPr>
            <p:cNvPr id="1028" name="Picture 4" descr="http://images.clipartpanda.com/book-20clip-20art-di855LndT.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304800"/>
              <a:ext cx="5019675" cy="2838450"/>
            </a:xfrm>
            <a:prstGeom prst="rect">
              <a:avLst/>
            </a:prstGeom>
            <a:noFill/>
            <a:extLst>
              <a:ext uri="{909E8E84-426E-40DD-AFC4-6F175D3DCCD1}">
                <a14:hiddenFill xmlns:a14="http://schemas.microsoft.com/office/drawing/2010/main">
                  <a:solidFill>
                    <a:srgbClr val="FFFFFF"/>
                  </a:solidFill>
                </a14:hiddenFill>
              </a:ext>
            </a:extLst>
          </p:spPr>
        </p:pic>
        <p:sp>
          <p:nvSpPr>
            <p:cNvPr id="76" name="CustomShape 6"/>
            <p:cNvSpPr/>
            <p:nvPr/>
          </p:nvSpPr>
          <p:spPr>
            <a:xfrm>
              <a:off x="4419599" y="735499"/>
              <a:ext cx="256271" cy="264154"/>
            </a:xfrm>
            <a:prstGeom prst="roundRect">
              <a:avLst>
                <a:gd name="adj" fmla="val 3600"/>
              </a:avLst>
            </a:prstGeom>
            <a:ln w="36000">
              <a:solidFill>
                <a:srgbClr val="2323DC"/>
              </a:solidFill>
              <a:round/>
            </a:ln>
          </p:spPr>
        </p:sp>
        <p:sp>
          <p:nvSpPr>
            <p:cNvPr id="77" name="CustomShape 12"/>
            <p:cNvSpPr/>
            <p:nvPr/>
          </p:nvSpPr>
          <p:spPr>
            <a:xfrm>
              <a:off x="4748664" y="735499"/>
              <a:ext cx="256271" cy="264154"/>
            </a:xfrm>
            <a:prstGeom prst="roundRect">
              <a:avLst>
                <a:gd name="adj" fmla="val 3600"/>
              </a:avLst>
            </a:prstGeom>
            <a:ln w="36000">
              <a:solidFill>
                <a:srgbClr val="E6FF00"/>
              </a:solidFill>
              <a:round/>
            </a:ln>
          </p:spPr>
        </p:sp>
        <p:sp>
          <p:nvSpPr>
            <p:cNvPr id="78" name="CustomShape 20"/>
            <p:cNvSpPr/>
            <p:nvPr/>
          </p:nvSpPr>
          <p:spPr>
            <a:xfrm>
              <a:off x="5081135" y="735499"/>
              <a:ext cx="256271" cy="264154"/>
            </a:xfrm>
            <a:prstGeom prst="roundRect">
              <a:avLst>
                <a:gd name="adj" fmla="val 3600"/>
              </a:avLst>
            </a:prstGeom>
            <a:ln w="36000">
              <a:solidFill>
                <a:srgbClr val="FF420E"/>
              </a:solidFill>
              <a:round/>
            </a:ln>
          </p:spPr>
        </p:sp>
        <p:sp>
          <p:nvSpPr>
            <p:cNvPr id="79" name="CustomShape 20_"/>
            <p:cNvSpPr/>
            <p:nvPr/>
          </p:nvSpPr>
          <p:spPr>
            <a:xfrm>
              <a:off x="5413606" y="735499"/>
              <a:ext cx="256271" cy="264154"/>
            </a:xfrm>
            <a:prstGeom prst="roundRect">
              <a:avLst>
                <a:gd name="adj" fmla="val 3600"/>
              </a:avLst>
            </a:prstGeom>
            <a:ln w="36000">
              <a:solidFill>
                <a:srgbClr val="FF420E"/>
              </a:solidFill>
              <a:round/>
            </a:ln>
          </p:spPr>
        </p:sp>
        <p:sp>
          <p:nvSpPr>
            <p:cNvPr id="80" name="CustomShape 6_"/>
            <p:cNvSpPr/>
            <p:nvPr/>
          </p:nvSpPr>
          <p:spPr>
            <a:xfrm>
              <a:off x="5740400" y="735499"/>
              <a:ext cx="256271" cy="264154"/>
            </a:xfrm>
            <a:prstGeom prst="roundRect">
              <a:avLst>
                <a:gd name="adj" fmla="val 3600"/>
              </a:avLst>
            </a:prstGeom>
            <a:ln w="36000">
              <a:solidFill>
                <a:srgbClr val="00B0F0"/>
              </a:solidFill>
              <a:round/>
            </a:ln>
          </p:spPr>
        </p:sp>
        <p:sp>
          <p:nvSpPr>
            <p:cNvPr id="81" name="CustomShape 6__"/>
            <p:cNvSpPr/>
            <p:nvPr/>
          </p:nvSpPr>
          <p:spPr>
            <a:xfrm>
              <a:off x="4419599" y="1074124"/>
              <a:ext cx="256271" cy="264154"/>
            </a:xfrm>
            <a:prstGeom prst="roundRect">
              <a:avLst>
                <a:gd name="adj" fmla="val 3600"/>
              </a:avLst>
            </a:prstGeom>
            <a:ln w="36000">
              <a:solidFill>
                <a:srgbClr val="00B0F0"/>
              </a:solidFill>
              <a:round/>
            </a:ln>
          </p:spPr>
        </p:sp>
        <p:sp>
          <p:nvSpPr>
            <p:cNvPr id="82" name="CustomShape 12_"/>
            <p:cNvSpPr/>
            <p:nvPr/>
          </p:nvSpPr>
          <p:spPr>
            <a:xfrm>
              <a:off x="4748663" y="1085124"/>
              <a:ext cx="256271" cy="264154"/>
            </a:xfrm>
            <a:prstGeom prst="roundRect">
              <a:avLst>
                <a:gd name="adj" fmla="val 3600"/>
              </a:avLst>
            </a:prstGeom>
            <a:ln w="36000">
              <a:solidFill>
                <a:srgbClr val="E6FF00"/>
              </a:solidFill>
              <a:round/>
            </a:ln>
          </p:spPr>
        </p:sp>
        <p:sp>
          <p:nvSpPr>
            <p:cNvPr id="83" name="CustomShape 20__"/>
            <p:cNvSpPr/>
            <p:nvPr/>
          </p:nvSpPr>
          <p:spPr>
            <a:xfrm>
              <a:off x="5083405" y="1066395"/>
              <a:ext cx="256271" cy="264154"/>
            </a:xfrm>
            <a:prstGeom prst="roundRect">
              <a:avLst>
                <a:gd name="adj" fmla="val 3600"/>
              </a:avLst>
            </a:prstGeom>
            <a:ln w="36000">
              <a:solidFill>
                <a:srgbClr val="FF420E"/>
              </a:solidFill>
              <a:round/>
            </a:ln>
          </p:spPr>
        </p:sp>
        <p:sp>
          <p:nvSpPr>
            <p:cNvPr id="84" name="CustomShape 6___"/>
            <p:cNvSpPr/>
            <p:nvPr/>
          </p:nvSpPr>
          <p:spPr>
            <a:xfrm>
              <a:off x="5419956" y="1066395"/>
              <a:ext cx="256271" cy="264154"/>
            </a:xfrm>
            <a:prstGeom prst="roundRect">
              <a:avLst>
                <a:gd name="adj" fmla="val 3600"/>
              </a:avLst>
            </a:prstGeom>
            <a:ln w="36000">
              <a:solidFill>
                <a:srgbClr val="00B0F0"/>
              </a:solidFill>
              <a:round/>
            </a:ln>
          </p:spPr>
        </p:sp>
        <p:sp>
          <p:nvSpPr>
            <p:cNvPr id="85" name="CustomShape 20___"/>
            <p:cNvSpPr/>
            <p:nvPr/>
          </p:nvSpPr>
          <p:spPr>
            <a:xfrm>
              <a:off x="5740399" y="1065990"/>
              <a:ext cx="256271" cy="264154"/>
            </a:xfrm>
            <a:prstGeom prst="roundRect">
              <a:avLst>
                <a:gd name="adj" fmla="val 3600"/>
              </a:avLst>
            </a:prstGeom>
            <a:ln w="36000">
              <a:solidFill>
                <a:srgbClr val="FF420E"/>
              </a:solidFill>
              <a:round/>
            </a:ln>
          </p:spPr>
        </p:sp>
        <p:sp>
          <p:nvSpPr>
            <p:cNvPr id="94" name="CustomShape 6____"/>
            <p:cNvSpPr/>
            <p:nvPr/>
          </p:nvSpPr>
          <p:spPr>
            <a:xfrm>
              <a:off x="4419600" y="1412246"/>
              <a:ext cx="256271" cy="264154"/>
            </a:xfrm>
            <a:prstGeom prst="roundRect">
              <a:avLst>
                <a:gd name="adj" fmla="val 3600"/>
              </a:avLst>
            </a:prstGeom>
            <a:ln w="36000">
              <a:solidFill>
                <a:srgbClr val="2323DC"/>
              </a:solidFill>
              <a:round/>
            </a:ln>
          </p:spPr>
        </p:sp>
        <p:sp>
          <p:nvSpPr>
            <p:cNvPr id="95" name="CustomShape 12__"/>
            <p:cNvSpPr/>
            <p:nvPr/>
          </p:nvSpPr>
          <p:spPr>
            <a:xfrm>
              <a:off x="4748665" y="1412246"/>
              <a:ext cx="256271" cy="264154"/>
            </a:xfrm>
            <a:prstGeom prst="roundRect">
              <a:avLst>
                <a:gd name="adj" fmla="val 3600"/>
              </a:avLst>
            </a:prstGeom>
            <a:ln w="36000">
              <a:solidFill>
                <a:srgbClr val="E6FF00"/>
              </a:solidFill>
              <a:round/>
            </a:ln>
          </p:spPr>
        </p:sp>
        <p:sp>
          <p:nvSpPr>
            <p:cNvPr id="96" name="CustomShape 20____"/>
            <p:cNvSpPr/>
            <p:nvPr/>
          </p:nvSpPr>
          <p:spPr>
            <a:xfrm>
              <a:off x="5081136" y="1412246"/>
              <a:ext cx="256271" cy="264154"/>
            </a:xfrm>
            <a:prstGeom prst="roundRect">
              <a:avLst>
                <a:gd name="adj" fmla="val 3600"/>
              </a:avLst>
            </a:prstGeom>
            <a:ln w="36000">
              <a:solidFill>
                <a:srgbClr val="FF420E"/>
              </a:solidFill>
              <a:round/>
            </a:ln>
          </p:spPr>
        </p:sp>
        <p:sp>
          <p:nvSpPr>
            <p:cNvPr id="97" name="CustomShape 12___"/>
            <p:cNvSpPr/>
            <p:nvPr/>
          </p:nvSpPr>
          <p:spPr>
            <a:xfrm>
              <a:off x="5410200" y="1412246"/>
              <a:ext cx="256271" cy="264154"/>
            </a:xfrm>
            <a:prstGeom prst="roundRect">
              <a:avLst>
                <a:gd name="adj" fmla="val 3600"/>
              </a:avLst>
            </a:prstGeom>
            <a:ln w="36000">
              <a:solidFill>
                <a:srgbClr val="E6FF00"/>
              </a:solidFill>
              <a:round/>
            </a:ln>
          </p:spPr>
        </p:sp>
        <p:sp>
          <p:nvSpPr>
            <p:cNvPr id="98" name="CustomShape 20_____"/>
            <p:cNvSpPr/>
            <p:nvPr/>
          </p:nvSpPr>
          <p:spPr>
            <a:xfrm>
              <a:off x="5740188" y="1416513"/>
              <a:ext cx="256271" cy="264154"/>
            </a:xfrm>
            <a:prstGeom prst="roundRect">
              <a:avLst>
                <a:gd name="adj" fmla="val 3600"/>
              </a:avLst>
            </a:prstGeom>
            <a:ln w="36000">
              <a:solidFill>
                <a:srgbClr val="FF420E"/>
              </a:solidFill>
              <a:round/>
            </a:ln>
          </p:spPr>
        </p:sp>
        <p:sp>
          <p:nvSpPr>
            <p:cNvPr id="99" name="CustomShape 6_____"/>
            <p:cNvSpPr/>
            <p:nvPr/>
          </p:nvSpPr>
          <p:spPr>
            <a:xfrm>
              <a:off x="4419598" y="1756760"/>
              <a:ext cx="256271" cy="264154"/>
            </a:xfrm>
            <a:prstGeom prst="roundRect">
              <a:avLst>
                <a:gd name="adj" fmla="val 3600"/>
              </a:avLst>
            </a:prstGeom>
            <a:ln w="36000">
              <a:solidFill>
                <a:srgbClr val="00B0F0"/>
              </a:solidFill>
              <a:round/>
            </a:ln>
          </p:spPr>
        </p:sp>
        <p:sp>
          <p:nvSpPr>
            <p:cNvPr id="100" name="CustomShape 6______"/>
            <p:cNvSpPr/>
            <p:nvPr/>
          </p:nvSpPr>
          <p:spPr>
            <a:xfrm>
              <a:off x="4748662" y="1756760"/>
              <a:ext cx="256271" cy="264154"/>
            </a:xfrm>
            <a:prstGeom prst="roundRect">
              <a:avLst>
                <a:gd name="adj" fmla="val 3600"/>
              </a:avLst>
            </a:prstGeom>
            <a:ln w="36000">
              <a:solidFill>
                <a:srgbClr val="00B0F0"/>
              </a:solidFill>
              <a:round/>
            </a:ln>
          </p:spPr>
        </p:sp>
        <p:sp>
          <p:nvSpPr>
            <p:cNvPr id="4" name="TextBox 3"/>
            <p:cNvSpPr txBox="1"/>
            <p:nvPr/>
          </p:nvSpPr>
          <p:spPr>
            <a:xfrm>
              <a:off x="5029200" y="1676400"/>
              <a:ext cx="1014865" cy="369332"/>
            </a:xfrm>
            <a:prstGeom prst="rect">
              <a:avLst/>
            </a:prstGeom>
            <a:noFill/>
          </p:spPr>
          <p:txBody>
            <a:bodyPr wrap="square" rtlCol="0">
              <a:spAutoFit/>
            </a:bodyPr>
            <a:lstStyle/>
            <a:p>
              <a:r>
                <a:rPr lang="en-US" dirty="0" smtClean="0"/>
                <a:t>… … … …</a:t>
              </a:r>
              <a:endParaRPr lang="en-US" dirty="0"/>
            </a:p>
          </p:txBody>
        </p:sp>
        <p:sp>
          <p:nvSpPr>
            <p:cNvPr id="101" name="TextBox 100"/>
            <p:cNvSpPr txBox="1"/>
            <p:nvPr/>
          </p:nvSpPr>
          <p:spPr>
            <a:xfrm>
              <a:off x="4343400" y="1992868"/>
              <a:ext cx="2052637" cy="369332"/>
            </a:xfrm>
            <a:prstGeom prst="rect">
              <a:avLst/>
            </a:prstGeom>
            <a:noFill/>
          </p:spPr>
          <p:txBody>
            <a:bodyPr wrap="square" rtlCol="0">
              <a:spAutoFit/>
            </a:bodyPr>
            <a:lstStyle/>
            <a:p>
              <a:r>
                <a:rPr lang="en-US" dirty="0" smtClean="0"/>
                <a:t>… … … … … … … …</a:t>
              </a:r>
              <a:endParaRPr lang="en-US" dirty="0"/>
            </a:p>
          </p:txBody>
        </p:sp>
        <p:sp>
          <p:nvSpPr>
            <p:cNvPr id="103" name="TextBox 102"/>
            <p:cNvSpPr txBox="1"/>
            <p:nvPr/>
          </p:nvSpPr>
          <p:spPr>
            <a:xfrm>
              <a:off x="6396037" y="777286"/>
              <a:ext cx="2052637" cy="369332"/>
            </a:xfrm>
            <a:prstGeom prst="rect">
              <a:avLst/>
            </a:prstGeom>
            <a:noFill/>
          </p:spPr>
          <p:txBody>
            <a:bodyPr wrap="square" rtlCol="0">
              <a:spAutoFit/>
            </a:bodyPr>
            <a:lstStyle/>
            <a:p>
              <a:r>
                <a:rPr lang="en-US" dirty="0" smtClean="0"/>
                <a:t>… … … … … … … …</a:t>
              </a:r>
              <a:endParaRPr lang="en-US" dirty="0"/>
            </a:p>
          </p:txBody>
        </p:sp>
        <p:sp>
          <p:nvSpPr>
            <p:cNvPr id="104" name="TextBox 103"/>
            <p:cNvSpPr txBox="1"/>
            <p:nvPr/>
          </p:nvSpPr>
          <p:spPr>
            <a:xfrm>
              <a:off x="6396037" y="1131046"/>
              <a:ext cx="2052637" cy="369332"/>
            </a:xfrm>
            <a:prstGeom prst="rect">
              <a:avLst/>
            </a:prstGeom>
            <a:noFill/>
          </p:spPr>
          <p:txBody>
            <a:bodyPr wrap="square" rtlCol="0">
              <a:spAutoFit/>
            </a:bodyPr>
            <a:lstStyle/>
            <a:p>
              <a:r>
                <a:rPr lang="en-US" dirty="0" smtClean="0"/>
                <a:t>… … … … … … … …</a:t>
              </a:r>
              <a:endParaRPr lang="en-US" dirty="0"/>
            </a:p>
          </p:txBody>
        </p:sp>
        <p:sp>
          <p:nvSpPr>
            <p:cNvPr id="105" name="TextBox 104"/>
            <p:cNvSpPr txBox="1"/>
            <p:nvPr/>
          </p:nvSpPr>
          <p:spPr>
            <a:xfrm>
              <a:off x="6396037" y="1544323"/>
              <a:ext cx="2052637" cy="369332"/>
            </a:xfrm>
            <a:prstGeom prst="rect">
              <a:avLst/>
            </a:prstGeom>
            <a:noFill/>
          </p:spPr>
          <p:txBody>
            <a:bodyPr wrap="square" rtlCol="0">
              <a:spAutoFit/>
            </a:bodyPr>
            <a:lstStyle/>
            <a:p>
              <a:r>
                <a:rPr lang="en-US" dirty="0" smtClean="0"/>
                <a:t>… … … … … … … …</a:t>
              </a:r>
              <a:endParaRPr lang="en-US" dirty="0"/>
            </a:p>
          </p:txBody>
        </p:sp>
        <p:sp>
          <p:nvSpPr>
            <p:cNvPr id="106" name="CustomShape 20______"/>
            <p:cNvSpPr/>
            <p:nvPr/>
          </p:nvSpPr>
          <p:spPr>
            <a:xfrm>
              <a:off x="6553200" y="1973251"/>
              <a:ext cx="256271" cy="264154"/>
            </a:xfrm>
            <a:prstGeom prst="roundRect">
              <a:avLst>
                <a:gd name="adj" fmla="val 3600"/>
              </a:avLst>
            </a:prstGeom>
            <a:ln w="36000">
              <a:solidFill>
                <a:srgbClr val="FF420E"/>
              </a:solidFill>
              <a:round/>
            </a:ln>
          </p:spPr>
        </p:sp>
        <p:sp>
          <p:nvSpPr>
            <p:cNvPr id="107" name="CustomShape 12____"/>
            <p:cNvSpPr/>
            <p:nvPr/>
          </p:nvSpPr>
          <p:spPr>
            <a:xfrm>
              <a:off x="6934200" y="1973251"/>
              <a:ext cx="256271" cy="264154"/>
            </a:xfrm>
            <a:prstGeom prst="roundRect">
              <a:avLst>
                <a:gd name="adj" fmla="val 3600"/>
              </a:avLst>
            </a:prstGeom>
            <a:ln w="36000">
              <a:solidFill>
                <a:srgbClr val="E6FF00"/>
              </a:solidFill>
              <a:round/>
            </a:ln>
          </p:spPr>
        </p:sp>
        <p:sp>
          <p:nvSpPr>
            <p:cNvPr id="108" name="CustomShape 6_______"/>
            <p:cNvSpPr/>
            <p:nvPr/>
          </p:nvSpPr>
          <p:spPr>
            <a:xfrm>
              <a:off x="7294219" y="1968829"/>
              <a:ext cx="256271" cy="264154"/>
            </a:xfrm>
            <a:prstGeom prst="roundRect">
              <a:avLst>
                <a:gd name="adj" fmla="val 3600"/>
              </a:avLst>
            </a:prstGeom>
            <a:ln w="36000">
              <a:solidFill>
                <a:srgbClr val="00B0F0"/>
              </a:solidFill>
              <a:round/>
            </a:ln>
          </p:spPr>
        </p:sp>
        <p:sp>
          <p:nvSpPr>
            <p:cNvPr id="109" name="CustomShape 6________"/>
            <p:cNvSpPr/>
            <p:nvPr/>
          </p:nvSpPr>
          <p:spPr>
            <a:xfrm>
              <a:off x="7702890" y="1968829"/>
              <a:ext cx="256271" cy="264154"/>
            </a:xfrm>
            <a:prstGeom prst="roundRect">
              <a:avLst>
                <a:gd name="adj" fmla="val 3600"/>
              </a:avLst>
            </a:prstGeom>
            <a:ln w="36000">
              <a:solidFill>
                <a:srgbClr val="00B0F0"/>
              </a:solidFill>
              <a:round/>
            </a:ln>
          </p:spPr>
        </p:sp>
      </p:grpSp>
      <p:sp>
        <p:nvSpPr>
          <p:cNvPr id="2" name="TextBox 1"/>
          <p:cNvSpPr txBox="1"/>
          <p:nvPr/>
        </p:nvSpPr>
        <p:spPr>
          <a:xfrm>
            <a:off x="4114800" y="5181600"/>
            <a:ext cx="4876800" cy="646331"/>
          </a:xfrm>
          <a:prstGeom prst="rect">
            <a:avLst/>
          </a:prstGeom>
          <a:noFill/>
        </p:spPr>
        <p:txBody>
          <a:bodyPr wrap="square" rtlCol="0">
            <a:spAutoFit/>
          </a:bodyPr>
          <a:lstStyle/>
          <a:p>
            <a:r>
              <a:rPr lang="en-US" dirty="0" smtClean="0"/>
              <a:t>What are the topics present in the set of documents? </a:t>
            </a:r>
          </a:p>
        </p:txBody>
      </p:sp>
      <p:grpSp>
        <p:nvGrpSpPr>
          <p:cNvPr id="74" name="Group 73"/>
          <p:cNvGrpSpPr/>
          <p:nvPr/>
        </p:nvGrpSpPr>
        <p:grpSpPr>
          <a:xfrm>
            <a:off x="457200" y="1676400"/>
            <a:ext cx="2847975" cy="2857500"/>
            <a:chOff x="4008441" y="1523498"/>
            <a:chExt cx="2847975" cy="2857500"/>
          </a:xfrm>
        </p:grpSpPr>
        <p:pic>
          <p:nvPicPr>
            <p:cNvPr id="75" name="Picture 4" descr="Note Pap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8441" y="1523498"/>
              <a:ext cx="2847975" cy="2857500"/>
            </a:xfrm>
            <a:prstGeom prst="rect">
              <a:avLst/>
            </a:prstGeom>
            <a:noFill/>
            <a:extLst>
              <a:ext uri="{909E8E84-426E-40DD-AFC4-6F175D3DCCD1}">
                <a14:hiddenFill xmlns:a14="http://schemas.microsoft.com/office/drawing/2010/main">
                  <a:solidFill>
                    <a:srgbClr val="FFFFFF"/>
                  </a:solidFill>
                </a14:hiddenFill>
              </a:ext>
            </a:extLst>
          </p:spPr>
        </p:pic>
        <p:grpSp>
          <p:nvGrpSpPr>
            <p:cNvPr id="86" name="Group 85"/>
            <p:cNvGrpSpPr/>
            <p:nvPr/>
          </p:nvGrpSpPr>
          <p:grpSpPr>
            <a:xfrm>
              <a:off x="4343400" y="2089846"/>
              <a:ext cx="2052637" cy="1891200"/>
              <a:chOff x="4343400" y="2089846"/>
              <a:chExt cx="2052637" cy="1891200"/>
            </a:xfrm>
          </p:grpSpPr>
          <p:sp>
            <p:nvSpPr>
              <p:cNvPr id="87" name="CustomShape 6"/>
              <p:cNvSpPr/>
              <p:nvPr/>
            </p:nvSpPr>
            <p:spPr>
              <a:xfrm>
                <a:off x="4419599" y="2089846"/>
                <a:ext cx="256271" cy="264154"/>
              </a:xfrm>
              <a:prstGeom prst="roundRect">
                <a:avLst>
                  <a:gd name="adj" fmla="val 3600"/>
                </a:avLst>
              </a:prstGeom>
              <a:ln w="36000">
                <a:solidFill>
                  <a:srgbClr val="2323DC"/>
                </a:solidFill>
                <a:round/>
              </a:ln>
            </p:spPr>
          </p:sp>
          <p:sp>
            <p:nvSpPr>
              <p:cNvPr id="88" name="CustomShape 12"/>
              <p:cNvSpPr/>
              <p:nvPr/>
            </p:nvSpPr>
            <p:spPr>
              <a:xfrm>
                <a:off x="4748664" y="2089846"/>
                <a:ext cx="256271" cy="264154"/>
              </a:xfrm>
              <a:prstGeom prst="roundRect">
                <a:avLst>
                  <a:gd name="adj" fmla="val 3600"/>
                </a:avLst>
              </a:prstGeom>
              <a:ln w="36000">
                <a:solidFill>
                  <a:srgbClr val="E6FF00"/>
                </a:solidFill>
                <a:round/>
              </a:ln>
            </p:spPr>
          </p:sp>
          <p:sp>
            <p:nvSpPr>
              <p:cNvPr id="89" name="CustomShape 20"/>
              <p:cNvSpPr/>
              <p:nvPr/>
            </p:nvSpPr>
            <p:spPr>
              <a:xfrm>
                <a:off x="5081135" y="2089846"/>
                <a:ext cx="256271" cy="264154"/>
              </a:xfrm>
              <a:prstGeom prst="roundRect">
                <a:avLst>
                  <a:gd name="adj" fmla="val 3600"/>
                </a:avLst>
              </a:prstGeom>
              <a:ln w="36000">
                <a:solidFill>
                  <a:srgbClr val="FF420E"/>
                </a:solidFill>
                <a:round/>
              </a:ln>
            </p:spPr>
          </p:sp>
          <p:sp>
            <p:nvSpPr>
              <p:cNvPr id="90" name="CustomShape 20_"/>
              <p:cNvSpPr/>
              <p:nvPr/>
            </p:nvSpPr>
            <p:spPr>
              <a:xfrm>
                <a:off x="5413606" y="2089846"/>
                <a:ext cx="256271" cy="264154"/>
              </a:xfrm>
              <a:prstGeom prst="roundRect">
                <a:avLst>
                  <a:gd name="adj" fmla="val 3600"/>
                </a:avLst>
              </a:prstGeom>
              <a:ln w="36000">
                <a:solidFill>
                  <a:srgbClr val="FF420E"/>
                </a:solidFill>
                <a:round/>
              </a:ln>
            </p:spPr>
          </p:sp>
          <p:sp>
            <p:nvSpPr>
              <p:cNvPr id="91" name="CustomShape 6_"/>
              <p:cNvSpPr/>
              <p:nvPr/>
            </p:nvSpPr>
            <p:spPr>
              <a:xfrm>
                <a:off x="5740400" y="2089846"/>
                <a:ext cx="256271" cy="264154"/>
              </a:xfrm>
              <a:prstGeom prst="roundRect">
                <a:avLst>
                  <a:gd name="adj" fmla="val 3600"/>
                </a:avLst>
              </a:prstGeom>
              <a:ln w="36000">
                <a:solidFill>
                  <a:srgbClr val="00B0F0"/>
                </a:solidFill>
                <a:round/>
              </a:ln>
            </p:spPr>
          </p:sp>
          <p:sp>
            <p:nvSpPr>
              <p:cNvPr id="92" name="CustomShape 6__"/>
              <p:cNvSpPr/>
              <p:nvPr/>
            </p:nvSpPr>
            <p:spPr>
              <a:xfrm>
                <a:off x="4419599" y="2428471"/>
                <a:ext cx="256271" cy="264154"/>
              </a:xfrm>
              <a:prstGeom prst="roundRect">
                <a:avLst>
                  <a:gd name="adj" fmla="val 3600"/>
                </a:avLst>
              </a:prstGeom>
              <a:ln w="36000">
                <a:solidFill>
                  <a:srgbClr val="00B0F0"/>
                </a:solidFill>
                <a:round/>
              </a:ln>
            </p:spPr>
          </p:sp>
          <p:sp>
            <p:nvSpPr>
              <p:cNvPr id="93" name="CustomShape 12_"/>
              <p:cNvSpPr/>
              <p:nvPr/>
            </p:nvSpPr>
            <p:spPr>
              <a:xfrm>
                <a:off x="4748663" y="2439471"/>
                <a:ext cx="256271" cy="264154"/>
              </a:xfrm>
              <a:prstGeom prst="roundRect">
                <a:avLst>
                  <a:gd name="adj" fmla="val 3600"/>
                </a:avLst>
              </a:prstGeom>
              <a:ln w="36000">
                <a:solidFill>
                  <a:srgbClr val="E6FF00"/>
                </a:solidFill>
                <a:round/>
              </a:ln>
            </p:spPr>
          </p:sp>
          <p:sp>
            <p:nvSpPr>
              <p:cNvPr id="102" name="CustomShape 20__"/>
              <p:cNvSpPr/>
              <p:nvPr/>
            </p:nvSpPr>
            <p:spPr>
              <a:xfrm>
                <a:off x="5083405" y="2420742"/>
                <a:ext cx="256271" cy="264154"/>
              </a:xfrm>
              <a:prstGeom prst="roundRect">
                <a:avLst>
                  <a:gd name="adj" fmla="val 3600"/>
                </a:avLst>
              </a:prstGeom>
              <a:ln w="36000">
                <a:solidFill>
                  <a:srgbClr val="FF420E"/>
                </a:solidFill>
                <a:round/>
              </a:ln>
            </p:spPr>
          </p:sp>
          <p:sp>
            <p:nvSpPr>
              <p:cNvPr id="110" name="CustomShape 6___"/>
              <p:cNvSpPr/>
              <p:nvPr/>
            </p:nvSpPr>
            <p:spPr>
              <a:xfrm>
                <a:off x="5419956" y="2420742"/>
                <a:ext cx="256271" cy="264154"/>
              </a:xfrm>
              <a:prstGeom prst="roundRect">
                <a:avLst>
                  <a:gd name="adj" fmla="val 3600"/>
                </a:avLst>
              </a:prstGeom>
              <a:ln w="36000">
                <a:solidFill>
                  <a:srgbClr val="00B0F0"/>
                </a:solidFill>
                <a:round/>
              </a:ln>
            </p:spPr>
          </p:sp>
          <p:sp>
            <p:nvSpPr>
              <p:cNvPr id="111" name="CustomShape 20___"/>
              <p:cNvSpPr/>
              <p:nvPr/>
            </p:nvSpPr>
            <p:spPr>
              <a:xfrm>
                <a:off x="5740399" y="2420337"/>
                <a:ext cx="256271" cy="264154"/>
              </a:xfrm>
              <a:prstGeom prst="roundRect">
                <a:avLst>
                  <a:gd name="adj" fmla="val 3600"/>
                </a:avLst>
              </a:prstGeom>
              <a:ln w="36000">
                <a:solidFill>
                  <a:srgbClr val="FF420E"/>
                </a:solidFill>
                <a:round/>
              </a:ln>
            </p:spPr>
          </p:sp>
          <p:sp>
            <p:nvSpPr>
              <p:cNvPr id="112" name="CustomShape 6____"/>
              <p:cNvSpPr/>
              <p:nvPr/>
            </p:nvSpPr>
            <p:spPr>
              <a:xfrm>
                <a:off x="4419600" y="2766593"/>
                <a:ext cx="256271" cy="264154"/>
              </a:xfrm>
              <a:prstGeom prst="roundRect">
                <a:avLst>
                  <a:gd name="adj" fmla="val 3600"/>
                </a:avLst>
              </a:prstGeom>
              <a:ln w="36000">
                <a:solidFill>
                  <a:srgbClr val="2323DC"/>
                </a:solidFill>
                <a:round/>
              </a:ln>
            </p:spPr>
          </p:sp>
          <p:sp>
            <p:nvSpPr>
              <p:cNvPr id="113" name="CustomShape 12__"/>
              <p:cNvSpPr/>
              <p:nvPr/>
            </p:nvSpPr>
            <p:spPr>
              <a:xfrm>
                <a:off x="4748665" y="2766593"/>
                <a:ext cx="256271" cy="264154"/>
              </a:xfrm>
              <a:prstGeom prst="roundRect">
                <a:avLst>
                  <a:gd name="adj" fmla="val 3600"/>
                </a:avLst>
              </a:prstGeom>
              <a:ln w="36000">
                <a:solidFill>
                  <a:srgbClr val="E6FF00"/>
                </a:solidFill>
                <a:round/>
              </a:ln>
            </p:spPr>
          </p:sp>
          <p:sp>
            <p:nvSpPr>
              <p:cNvPr id="114" name="CustomShape 20____"/>
              <p:cNvSpPr/>
              <p:nvPr/>
            </p:nvSpPr>
            <p:spPr>
              <a:xfrm>
                <a:off x="5081136" y="2766593"/>
                <a:ext cx="256271" cy="264154"/>
              </a:xfrm>
              <a:prstGeom prst="roundRect">
                <a:avLst>
                  <a:gd name="adj" fmla="val 3600"/>
                </a:avLst>
              </a:prstGeom>
              <a:ln w="36000">
                <a:solidFill>
                  <a:srgbClr val="FF420E"/>
                </a:solidFill>
                <a:round/>
              </a:ln>
            </p:spPr>
          </p:sp>
          <p:sp>
            <p:nvSpPr>
              <p:cNvPr id="115" name="CustomShape 12___"/>
              <p:cNvSpPr/>
              <p:nvPr/>
            </p:nvSpPr>
            <p:spPr>
              <a:xfrm>
                <a:off x="5410200" y="2766593"/>
                <a:ext cx="256271" cy="264154"/>
              </a:xfrm>
              <a:prstGeom prst="roundRect">
                <a:avLst>
                  <a:gd name="adj" fmla="val 3600"/>
                </a:avLst>
              </a:prstGeom>
              <a:ln w="36000">
                <a:solidFill>
                  <a:srgbClr val="E6FF00"/>
                </a:solidFill>
                <a:round/>
              </a:ln>
            </p:spPr>
          </p:sp>
          <p:sp>
            <p:nvSpPr>
              <p:cNvPr id="116" name="CustomShape 20_____"/>
              <p:cNvSpPr/>
              <p:nvPr/>
            </p:nvSpPr>
            <p:spPr>
              <a:xfrm>
                <a:off x="5740188" y="2770860"/>
                <a:ext cx="256271" cy="264154"/>
              </a:xfrm>
              <a:prstGeom prst="roundRect">
                <a:avLst>
                  <a:gd name="adj" fmla="val 3600"/>
                </a:avLst>
              </a:prstGeom>
              <a:ln w="36000">
                <a:solidFill>
                  <a:srgbClr val="FF420E"/>
                </a:solidFill>
                <a:round/>
              </a:ln>
            </p:spPr>
          </p:sp>
          <p:sp>
            <p:nvSpPr>
              <p:cNvPr id="117" name="CustomShape 6_____"/>
              <p:cNvSpPr/>
              <p:nvPr/>
            </p:nvSpPr>
            <p:spPr>
              <a:xfrm>
                <a:off x="4419598" y="3111107"/>
                <a:ext cx="256271" cy="264154"/>
              </a:xfrm>
              <a:prstGeom prst="roundRect">
                <a:avLst>
                  <a:gd name="adj" fmla="val 3600"/>
                </a:avLst>
              </a:prstGeom>
              <a:ln w="36000">
                <a:solidFill>
                  <a:srgbClr val="00B0F0"/>
                </a:solidFill>
                <a:round/>
              </a:ln>
            </p:spPr>
          </p:sp>
          <p:sp>
            <p:nvSpPr>
              <p:cNvPr id="118" name="CustomShape 6______"/>
              <p:cNvSpPr/>
              <p:nvPr/>
            </p:nvSpPr>
            <p:spPr>
              <a:xfrm>
                <a:off x="4748662" y="3111107"/>
                <a:ext cx="256271" cy="264154"/>
              </a:xfrm>
              <a:prstGeom prst="roundRect">
                <a:avLst>
                  <a:gd name="adj" fmla="val 3600"/>
                </a:avLst>
              </a:prstGeom>
              <a:ln w="36000">
                <a:solidFill>
                  <a:srgbClr val="00B0F0"/>
                </a:solidFill>
                <a:round/>
              </a:ln>
            </p:spPr>
          </p:sp>
          <p:sp>
            <p:nvSpPr>
              <p:cNvPr id="119" name="TextBox 118"/>
              <p:cNvSpPr txBox="1"/>
              <p:nvPr/>
            </p:nvSpPr>
            <p:spPr>
              <a:xfrm>
                <a:off x="5029200" y="3030747"/>
                <a:ext cx="1014865" cy="369332"/>
              </a:xfrm>
              <a:prstGeom prst="rect">
                <a:avLst/>
              </a:prstGeom>
              <a:noFill/>
            </p:spPr>
            <p:txBody>
              <a:bodyPr wrap="square" rtlCol="0">
                <a:spAutoFit/>
              </a:bodyPr>
              <a:lstStyle/>
              <a:p>
                <a:r>
                  <a:rPr lang="en-US" dirty="0" smtClean="0"/>
                  <a:t>… … … …</a:t>
                </a:r>
                <a:endParaRPr lang="en-US" dirty="0"/>
              </a:p>
            </p:txBody>
          </p:sp>
          <p:sp>
            <p:nvSpPr>
              <p:cNvPr id="120" name="TextBox 119"/>
              <p:cNvSpPr txBox="1"/>
              <p:nvPr/>
            </p:nvSpPr>
            <p:spPr>
              <a:xfrm>
                <a:off x="4343400" y="3347215"/>
                <a:ext cx="2052637" cy="369332"/>
              </a:xfrm>
              <a:prstGeom prst="rect">
                <a:avLst/>
              </a:prstGeom>
              <a:noFill/>
            </p:spPr>
            <p:txBody>
              <a:bodyPr wrap="square" rtlCol="0">
                <a:spAutoFit/>
              </a:bodyPr>
              <a:lstStyle/>
              <a:p>
                <a:r>
                  <a:rPr lang="en-US" dirty="0" smtClean="0"/>
                  <a:t>… … … … … … … …</a:t>
                </a:r>
                <a:endParaRPr lang="en-US" dirty="0"/>
              </a:p>
            </p:txBody>
          </p:sp>
          <p:sp>
            <p:nvSpPr>
              <p:cNvPr id="121" name="CustomShape 20______"/>
              <p:cNvSpPr/>
              <p:nvPr/>
            </p:nvSpPr>
            <p:spPr>
              <a:xfrm>
                <a:off x="4520064" y="3716892"/>
                <a:ext cx="256271" cy="264154"/>
              </a:xfrm>
              <a:prstGeom prst="roundRect">
                <a:avLst>
                  <a:gd name="adj" fmla="val 3600"/>
                </a:avLst>
              </a:prstGeom>
              <a:ln w="36000">
                <a:solidFill>
                  <a:srgbClr val="FF420E"/>
                </a:solidFill>
                <a:round/>
              </a:ln>
            </p:spPr>
          </p:sp>
          <p:sp>
            <p:nvSpPr>
              <p:cNvPr id="122" name="CustomShape 12____"/>
              <p:cNvSpPr/>
              <p:nvPr/>
            </p:nvSpPr>
            <p:spPr>
              <a:xfrm>
                <a:off x="4901064" y="3716892"/>
                <a:ext cx="256271" cy="264154"/>
              </a:xfrm>
              <a:prstGeom prst="roundRect">
                <a:avLst>
                  <a:gd name="adj" fmla="val 3600"/>
                </a:avLst>
              </a:prstGeom>
              <a:ln w="36000">
                <a:solidFill>
                  <a:srgbClr val="E6FF00"/>
                </a:solidFill>
                <a:round/>
              </a:ln>
            </p:spPr>
          </p:sp>
          <p:sp>
            <p:nvSpPr>
              <p:cNvPr id="123" name="CustomShape 6_______"/>
              <p:cNvSpPr/>
              <p:nvPr/>
            </p:nvSpPr>
            <p:spPr>
              <a:xfrm>
                <a:off x="5261083" y="3712470"/>
                <a:ext cx="256271" cy="264154"/>
              </a:xfrm>
              <a:prstGeom prst="roundRect">
                <a:avLst>
                  <a:gd name="adj" fmla="val 3600"/>
                </a:avLst>
              </a:prstGeom>
              <a:ln w="36000">
                <a:solidFill>
                  <a:srgbClr val="00B0F0"/>
                </a:solidFill>
                <a:round/>
              </a:ln>
            </p:spPr>
          </p:sp>
          <p:sp>
            <p:nvSpPr>
              <p:cNvPr id="124" name="CustomShape 6________"/>
              <p:cNvSpPr/>
              <p:nvPr/>
            </p:nvSpPr>
            <p:spPr>
              <a:xfrm>
                <a:off x="5669754" y="3712470"/>
                <a:ext cx="256271" cy="264154"/>
              </a:xfrm>
              <a:prstGeom prst="roundRect">
                <a:avLst>
                  <a:gd name="adj" fmla="val 3600"/>
                </a:avLst>
              </a:prstGeom>
              <a:ln w="36000">
                <a:solidFill>
                  <a:srgbClr val="00B0F0"/>
                </a:solidFill>
                <a:round/>
              </a:ln>
            </p:spPr>
          </p:sp>
        </p:grpSp>
      </p:grpSp>
    </p:spTree>
    <p:extLst>
      <p:ext uri="{BB962C8B-B14F-4D97-AF65-F5344CB8AC3E}">
        <p14:creationId xmlns:p14="http://schemas.microsoft.com/office/powerpoint/2010/main" val="12096954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flipH="1">
            <a:off x="2590800" y="2449622"/>
            <a:ext cx="3603635" cy="1436578"/>
            <a:chOff x="901767" y="2057400"/>
            <a:chExt cx="6714579" cy="2544019"/>
          </a:xfrm>
        </p:grpSpPr>
        <p:sp>
          <p:nvSpPr>
            <p:cNvPr id="6" name="Rectangle 5"/>
            <p:cNvSpPr/>
            <p:nvPr/>
          </p:nvSpPr>
          <p:spPr>
            <a:xfrm>
              <a:off x="3031495" y="2491264"/>
              <a:ext cx="1965505" cy="1547337"/>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 name="Group 6"/>
            <p:cNvGrpSpPr/>
            <p:nvPr/>
          </p:nvGrpSpPr>
          <p:grpSpPr>
            <a:xfrm>
              <a:off x="3371243" y="2971543"/>
              <a:ext cx="1591182" cy="591768"/>
              <a:chOff x="3431442" y="2895600"/>
              <a:chExt cx="1591182" cy="591768"/>
            </a:xfrm>
          </p:grpSpPr>
          <p:grpSp>
            <p:nvGrpSpPr>
              <p:cNvPr id="32" name="Group 31"/>
              <p:cNvGrpSpPr/>
              <p:nvPr/>
            </p:nvGrpSpPr>
            <p:grpSpPr>
              <a:xfrm>
                <a:off x="3431442" y="2895600"/>
                <a:ext cx="647741" cy="591768"/>
                <a:chOff x="3431443" y="2895085"/>
                <a:chExt cx="647741" cy="591768"/>
              </a:xfrm>
            </p:grpSpPr>
            <p:sp>
              <p:nvSpPr>
                <p:cNvPr id="36" name="Oval 35"/>
                <p:cNvSpPr/>
                <p:nvPr/>
              </p:nvSpPr>
              <p:spPr>
                <a:xfrm>
                  <a:off x="3621984" y="2895085"/>
                  <a:ext cx="304801"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TextBox 36"/>
                    <p:cNvSpPr txBox="1"/>
                    <p:nvPr/>
                  </p:nvSpPr>
                  <p:spPr>
                    <a:xfrm>
                      <a:off x="3431443" y="3105339"/>
                      <a:ext cx="647741" cy="3815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b="0" i="1" smtClean="0">
                                    <a:solidFill>
                                      <a:srgbClr val="000000"/>
                                    </a:solidFill>
                                    <a:latin typeface="Cambria Math"/>
                                  </a:rPr>
                                  <m:t>𝑍</m:t>
                                </m:r>
                              </m:e>
                              <m:sub>
                                <m:r>
                                  <a:rPr lang="en-US" b="0" i="1" smtClean="0">
                                    <a:solidFill>
                                      <a:srgbClr val="000000"/>
                                    </a:solidFill>
                                    <a:latin typeface="Cambria Math"/>
                                  </a:rPr>
                                  <m:t>𝑑</m:t>
                                </m:r>
                                <m:r>
                                  <a:rPr lang="en-US" b="0" i="1" smtClean="0">
                                    <a:solidFill>
                                      <a:srgbClr val="000000"/>
                                    </a:solidFill>
                                    <a:latin typeface="Cambria Math"/>
                                  </a:rPr>
                                  <m:t>,</m:t>
                                </m:r>
                                <m:r>
                                  <a:rPr lang="en-US" b="0" i="1" smtClean="0">
                                    <a:solidFill>
                                      <a:srgbClr val="000000"/>
                                    </a:solidFill>
                                    <a:latin typeface="Cambria Math"/>
                                  </a:rPr>
                                  <m:t>𝑛</m:t>
                                </m:r>
                              </m:sub>
                            </m:sSub>
                          </m:oMath>
                        </m:oMathPara>
                      </a14:m>
                      <a:endParaRPr lang="en-US" dirty="0">
                        <a:solidFill>
                          <a:srgbClr val="000000"/>
                        </a:solidFill>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3431443" y="3105339"/>
                      <a:ext cx="647741" cy="381514"/>
                    </a:xfrm>
                    <a:prstGeom prst="rect">
                      <a:avLst/>
                    </a:prstGeom>
                    <a:blipFill rotWithShape="1">
                      <a:blip r:embed="rId5"/>
                      <a:stretch>
                        <a:fillRect r="-50877" b="-74286"/>
                      </a:stretch>
                    </a:blipFill>
                  </p:spPr>
                  <p:txBody>
                    <a:bodyPr/>
                    <a:lstStyle/>
                    <a:p>
                      <a:r>
                        <a:rPr lang="en-US">
                          <a:noFill/>
                        </a:rPr>
                        <a:t> </a:t>
                      </a:r>
                    </a:p>
                  </p:txBody>
                </p:sp>
              </mc:Fallback>
            </mc:AlternateContent>
          </p:grpSp>
          <p:grpSp>
            <p:nvGrpSpPr>
              <p:cNvPr id="33" name="Group 32"/>
              <p:cNvGrpSpPr/>
              <p:nvPr/>
            </p:nvGrpSpPr>
            <p:grpSpPr>
              <a:xfrm>
                <a:off x="4315444" y="2895600"/>
                <a:ext cx="707180" cy="591254"/>
                <a:chOff x="4315444" y="2895600"/>
                <a:chExt cx="707180" cy="591254"/>
              </a:xfrm>
            </p:grpSpPr>
            <p:sp>
              <p:nvSpPr>
                <p:cNvPr id="34" name="Oval 33"/>
                <p:cNvSpPr/>
                <p:nvPr/>
              </p:nvSpPr>
              <p:spPr>
                <a:xfrm>
                  <a:off x="4509736" y="2895600"/>
                  <a:ext cx="304799" cy="304799"/>
                </a:xfrm>
                <a:prstGeom prst="ellipse">
                  <a:avLst/>
                </a:prstGeom>
                <a:pattFill prst="pct50">
                  <a:fgClr>
                    <a:schemeClr val="tx2"/>
                  </a:fgClr>
                  <a:bgClr>
                    <a:schemeClr val="tx2">
                      <a:lumMod val="50000"/>
                    </a:schemeClr>
                  </a:bgClr>
                </a:patt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TextBox 34"/>
                    <p:cNvSpPr txBox="1"/>
                    <p:nvPr/>
                  </p:nvSpPr>
                  <p:spPr>
                    <a:xfrm>
                      <a:off x="4315444" y="3105340"/>
                      <a:ext cx="707180" cy="3815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b="0" i="1" smtClean="0">
                                    <a:solidFill>
                                      <a:srgbClr val="000000"/>
                                    </a:solidFill>
                                    <a:latin typeface="Cambria Math"/>
                                  </a:rPr>
                                  <m:t>𝑊</m:t>
                                </m:r>
                              </m:e>
                              <m:sub>
                                <m:r>
                                  <a:rPr lang="en-US" b="0" i="1" smtClean="0">
                                    <a:solidFill>
                                      <a:srgbClr val="000000"/>
                                    </a:solidFill>
                                    <a:latin typeface="Cambria Math"/>
                                  </a:rPr>
                                  <m:t>𝑑</m:t>
                                </m:r>
                                <m:r>
                                  <a:rPr lang="en-US" b="0" i="1" smtClean="0">
                                    <a:solidFill>
                                      <a:srgbClr val="000000"/>
                                    </a:solidFill>
                                    <a:latin typeface="Cambria Math"/>
                                  </a:rPr>
                                  <m:t>,</m:t>
                                </m:r>
                                <m:r>
                                  <a:rPr lang="en-US" b="0" i="1" smtClean="0">
                                    <a:solidFill>
                                      <a:srgbClr val="000000"/>
                                    </a:solidFill>
                                    <a:latin typeface="Cambria Math"/>
                                  </a:rPr>
                                  <m:t>𝑛</m:t>
                                </m:r>
                              </m:sub>
                            </m:sSub>
                          </m:oMath>
                        </m:oMathPara>
                      </a14:m>
                      <a:endParaRPr lang="en-US" dirty="0">
                        <a:solidFill>
                          <a:srgbClr val="000000"/>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4315444" y="3105340"/>
                      <a:ext cx="707180" cy="381514"/>
                    </a:xfrm>
                    <a:prstGeom prst="rect">
                      <a:avLst/>
                    </a:prstGeom>
                    <a:blipFill rotWithShape="1">
                      <a:blip r:embed="rId6"/>
                      <a:stretch>
                        <a:fillRect r="-54839" b="-74286"/>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8" name="TextBox 7"/>
                <p:cNvSpPr txBox="1"/>
                <p:nvPr/>
              </p:nvSpPr>
              <p:spPr>
                <a:xfrm>
                  <a:off x="3126720" y="3659386"/>
                  <a:ext cx="472703" cy="4632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solidFill>
                                  <a:srgbClr val="000000"/>
                                </a:solidFill>
                                <a:latin typeface="Cambria Math"/>
                              </a:rPr>
                            </m:ctrlPr>
                          </m:sSubPr>
                          <m:e>
                            <m:r>
                              <a:rPr lang="en-US" sz="1100" b="0" i="1" smtClean="0">
                                <a:solidFill>
                                  <a:srgbClr val="000000"/>
                                </a:solidFill>
                                <a:latin typeface="Cambria Math"/>
                              </a:rPr>
                              <m:t>𝑁</m:t>
                            </m:r>
                          </m:e>
                          <m:sub>
                            <m:r>
                              <a:rPr lang="en-US" sz="1100" b="0" i="1" smtClean="0">
                                <a:solidFill>
                                  <a:srgbClr val="000000"/>
                                </a:solidFill>
                                <a:latin typeface="Cambria Math"/>
                              </a:rPr>
                              <m:t>𝑑</m:t>
                            </m:r>
                          </m:sub>
                        </m:sSub>
                      </m:oMath>
                    </m:oMathPara>
                  </a14:m>
                  <a:endParaRPr lang="en-US" sz="1100" dirty="0">
                    <a:solidFill>
                      <a:srgbClr val="00000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3126720" y="3659386"/>
                  <a:ext cx="472703" cy="463282"/>
                </a:xfrm>
                <a:prstGeom prst="rect">
                  <a:avLst/>
                </a:prstGeom>
                <a:blipFill rotWithShape="1">
                  <a:blip r:embed="rId7"/>
                  <a:stretch>
                    <a:fillRect r="-11905"/>
                  </a:stretch>
                </a:blipFill>
              </p:spPr>
              <p:txBody>
                <a:bodyPr/>
                <a:lstStyle/>
                <a:p>
                  <a:r>
                    <a:rPr lang="en-US">
                      <a:noFill/>
                    </a:rPr>
                    <a:t> </a:t>
                  </a:r>
                </a:p>
              </p:txBody>
            </p:sp>
          </mc:Fallback>
        </mc:AlternateContent>
        <p:grpSp>
          <p:nvGrpSpPr>
            <p:cNvPr id="9" name="Group 8"/>
            <p:cNvGrpSpPr/>
            <p:nvPr/>
          </p:nvGrpSpPr>
          <p:grpSpPr>
            <a:xfrm>
              <a:off x="1715973" y="2057400"/>
              <a:ext cx="3922828" cy="2532351"/>
              <a:chOff x="1480603" y="2057400"/>
              <a:chExt cx="4158197" cy="2532351"/>
            </a:xfrm>
          </p:grpSpPr>
          <mc:AlternateContent xmlns:mc="http://schemas.openxmlformats.org/markup-compatibility/2006" xmlns:a14="http://schemas.microsoft.com/office/drawing/2010/main">
            <mc:Choice Requires="a14">
              <p:sp>
                <p:nvSpPr>
                  <p:cNvPr id="30" name="TextBox 29"/>
                  <p:cNvSpPr txBox="1"/>
                  <p:nvPr/>
                </p:nvSpPr>
                <p:spPr>
                  <a:xfrm>
                    <a:off x="1480603" y="4126469"/>
                    <a:ext cx="641949" cy="4632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solidFill>
                                <a:srgbClr val="000000"/>
                              </a:solidFill>
                              <a:latin typeface="Cambria Math"/>
                            </a:rPr>
                            <m:t>𝐷</m:t>
                          </m:r>
                        </m:oMath>
                      </m:oMathPara>
                    </a14:m>
                    <a:endParaRPr lang="en-US" sz="1100" dirty="0">
                      <a:solidFill>
                        <a:srgbClr val="000000"/>
                      </a:solidFill>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1480603" y="4126469"/>
                    <a:ext cx="641949" cy="463282"/>
                  </a:xfrm>
                  <a:prstGeom prst="rect">
                    <a:avLst/>
                  </a:prstGeom>
                  <a:blipFill rotWithShape="1">
                    <a:blip r:embed="rId8"/>
                    <a:stretch>
                      <a:fillRect/>
                    </a:stretch>
                  </a:blipFill>
                </p:spPr>
                <p:txBody>
                  <a:bodyPr/>
                  <a:lstStyle/>
                  <a:p>
                    <a:r>
                      <a:rPr lang="en-US">
                        <a:noFill/>
                      </a:rPr>
                      <a:t> </a:t>
                    </a:r>
                  </a:p>
                </p:txBody>
              </p:sp>
            </mc:Fallback>
          </mc:AlternateContent>
          <p:sp>
            <p:nvSpPr>
              <p:cNvPr id="31" name="Rectangle 30"/>
              <p:cNvSpPr/>
              <p:nvPr/>
            </p:nvSpPr>
            <p:spPr>
              <a:xfrm>
                <a:off x="1600200" y="2057400"/>
                <a:ext cx="4038600" cy="243840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2362200" y="2971543"/>
              <a:ext cx="492764" cy="579585"/>
              <a:chOff x="2362200" y="2971543"/>
              <a:chExt cx="492764" cy="579585"/>
            </a:xfrm>
          </p:grpSpPr>
          <p:sp>
            <p:nvSpPr>
              <p:cNvPr id="28" name="Oval 27"/>
              <p:cNvSpPr/>
              <p:nvPr/>
            </p:nvSpPr>
            <p:spPr>
              <a:xfrm>
                <a:off x="2438400"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p:cNvSpPr txBox="1"/>
                  <p:nvPr/>
                </p:nvSpPr>
                <p:spPr>
                  <a:xfrm>
                    <a:off x="2362200" y="3181795"/>
                    <a:ext cx="492764"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i="1" smtClean="0">
                                  <a:solidFill>
                                    <a:srgbClr val="000000"/>
                                  </a:solidFill>
                                  <a:latin typeface="Cambria Math"/>
                                  <a:ea typeface="Cambria Math"/>
                                </a:rPr>
                                <m:t>𝜃</m:t>
                              </m:r>
                            </m:e>
                            <m:sub>
                              <m:r>
                                <a:rPr lang="en-US" b="0" i="1" smtClean="0">
                                  <a:solidFill>
                                    <a:srgbClr val="000000"/>
                                  </a:solidFill>
                                  <a:latin typeface="Cambria Math"/>
                                </a:rPr>
                                <m:t>𝑑</m:t>
                              </m:r>
                            </m:sub>
                          </m:sSub>
                        </m:oMath>
                      </m:oMathPara>
                    </a14:m>
                    <a:endParaRPr lang="en-US" dirty="0">
                      <a:solidFill>
                        <a:srgbClr val="000000"/>
                      </a:solidFill>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2362200" y="3181795"/>
                    <a:ext cx="492764" cy="369333"/>
                  </a:xfrm>
                  <a:prstGeom prst="rect">
                    <a:avLst/>
                  </a:prstGeom>
                  <a:blipFill rotWithShape="1">
                    <a:blip r:embed="rId9"/>
                    <a:stretch>
                      <a:fillRect r="-46512" b="-79412"/>
                    </a:stretch>
                  </a:blipFill>
                </p:spPr>
                <p:txBody>
                  <a:bodyPr/>
                  <a:lstStyle/>
                  <a:p>
                    <a:r>
                      <a:rPr lang="en-US">
                        <a:noFill/>
                      </a:rPr>
                      <a:t> </a:t>
                    </a:r>
                  </a:p>
                </p:txBody>
              </p:sp>
            </mc:Fallback>
          </mc:AlternateContent>
        </p:grpSp>
        <p:cxnSp>
          <p:nvCxnSpPr>
            <p:cNvPr id="11" name="Straight Arrow Connector 10"/>
            <p:cNvCxnSpPr>
              <a:stCxn id="28" idx="6"/>
              <a:endCxn id="36" idx="2"/>
            </p:cNvCxnSpPr>
            <p:nvPr/>
          </p:nvCxnSpPr>
          <p:spPr>
            <a:xfrm>
              <a:off x="2743199" y="3123944"/>
              <a:ext cx="818583"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stCxn id="36" idx="6"/>
              <a:endCxn id="34" idx="2"/>
            </p:cNvCxnSpPr>
            <p:nvPr/>
          </p:nvCxnSpPr>
          <p:spPr>
            <a:xfrm>
              <a:off x="3866584" y="3123944"/>
              <a:ext cx="582953"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p:nvGrpSpPr>
          <p:grpSpPr>
            <a:xfrm>
              <a:off x="6155096" y="2971543"/>
              <a:ext cx="490647" cy="579585"/>
              <a:chOff x="6155096" y="2971543"/>
              <a:chExt cx="490647" cy="579585"/>
            </a:xfrm>
          </p:grpSpPr>
          <p:sp>
            <p:nvSpPr>
              <p:cNvPr id="26" name="Oval 25"/>
              <p:cNvSpPr/>
              <p:nvPr/>
            </p:nvSpPr>
            <p:spPr>
              <a:xfrm>
                <a:off x="6231297" y="2971543"/>
                <a:ext cx="304799"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155096" y="3181795"/>
                    <a:ext cx="490647"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i="1">
                                  <a:solidFill>
                                    <a:srgbClr val="000000"/>
                                  </a:solidFill>
                                  <a:latin typeface="Cambria Math"/>
                                  <a:ea typeface="Cambria Math"/>
                                </a:rPr>
                                <m:t>𝛽</m:t>
                              </m:r>
                            </m:e>
                            <m:sub>
                              <m:r>
                                <a:rPr lang="en-US" b="0" i="1" smtClean="0">
                                  <a:solidFill>
                                    <a:srgbClr val="000000"/>
                                  </a:solidFill>
                                  <a:latin typeface="Cambria Math"/>
                                </a:rPr>
                                <m:t>𝑘</m:t>
                              </m:r>
                            </m:sub>
                          </m:sSub>
                        </m:oMath>
                      </m:oMathPara>
                    </a14:m>
                    <a:endParaRPr lang="en-US" dirty="0">
                      <a:solidFill>
                        <a:srgbClr val="000000"/>
                      </a:solidFill>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155096" y="3181795"/>
                    <a:ext cx="490647" cy="369333"/>
                  </a:xfrm>
                  <a:prstGeom prst="rect">
                    <a:avLst/>
                  </a:prstGeom>
                  <a:blipFill rotWithShape="1">
                    <a:blip r:embed="rId10"/>
                    <a:stretch>
                      <a:fillRect l="-6977" r="-46512" b="-102941"/>
                    </a:stretch>
                  </a:blipFill>
                </p:spPr>
                <p:txBody>
                  <a:bodyPr/>
                  <a:lstStyle/>
                  <a:p>
                    <a:r>
                      <a:rPr lang="en-US">
                        <a:noFill/>
                      </a:rPr>
                      <a:t> </a:t>
                    </a:r>
                  </a:p>
                </p:txBody>
              </p:sp>
            </mc:Fallback>
          </mc:AlternateContent>
        </p:grpSp>
        <p:cxnSp>
          <p:nvCxnSpPr>
            <p:cNvPr id="14" name="Straight Arrow Connector 13"/>
            <p:cNvCxnSpPr>
              <a:stCxn id="26" idx="2"/>
              <a:endCxn id="34" idx="6"/>
            </p:cNvCxnSpPr>
            <p:nvPr/>
          </p:nvCxnSpPr>
          <p:spPr>
            <a:xfrm flipH="1">
              <a:off x="4754336" y="3123944"/>
              <a:ext cx="1476962"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5" name="Group 14"/>
            <p:cNvGrpSpPr/>
            <p:nvPr/>
          </p:nvGrpSpPr>
          <p:grpSpPr>
            <a:xfrm>
              <a:off x="7239000" y="2971543"/>
              <a:ext cx="377346" cy="579585"/>
              <a:chOff x="7315200" y="2971543"/>
              <a:chExt cx="377346" cy="579585"/>
            </a:xfrm>
          </p:grpSpPr>
          <p:sp>
            <p:nvSpPr>
              <p:cNvPr id="24" name="Oval 23"/>
              <p:cNvSpPr/>
              <p:nvPr/>
            </p:nvSpPr>
            <p:spPr>
              <a:xfrm>
                <a:off x="7351473"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p:cNvSpPr txBox="1"/>
                  <p:nvPr/>
                </p:nvSpPr>
                <p:spPr>
                  <a:xfrm>
                    <a:off x="7315200" y="3181795"/>
                    <a:ext cx="377346"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a:ea typeface="Cambria Math"/>
                            </a:rPr>
                            <m:t>𝜂</m:t>
                          </m:r>
                        </m:oMath>
                      </m:oMathPara>
                    </a14:m>
                    <a:endParaRPr lang="en-US" dirty="0">
                      <a:solidFill>
                        <a:srgbClr val="000000"/>
                      </a:solidFill>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7315200" y="3181795"/>
                    <a:ext cx="377346" cy="369333"/>
                  </a:xfrm>
                  <a:prstGeom prst="rect">
                    <a:avLst/>
                  </a:prstGeom>
                  <a:blipFill rotWithShape="1">
                    <a:blip r:embed="rId11"/>
                    <a:stretch>
                      <a:fillRect r="-47059" b="-91176"/>
                    </a:stretch>
                  </a:blipFill>
                </p:spPr>
                <p:txBody>
                  <a:bodyPr/>
                  <a:lstStyle/>
                  <a:p>
                    <a:r>
                      <a:rPr lang="en-US">
                        <a:noFill/>
                      </a:rPr>
                      <a:t> </a:t>
                    </a:r>
                  </a:p>
                </p:txBody>
              </p:sp>
            </mc:Fallback>
          </mc:AlternateContent>
        </p:grpSp>
        <p:cxnSp>
          <p:nvCxnSpPr>
            <p:cNvPr id="16" name="Straight Arrow Connector 15"/>
            <p:cNvCxnSpPr>
              <a:stCxn id="24" idx="2"/>
              <a:endCxn id="26" idx="6"/>
            </p:cNvCxnSpPr>
            <p:nvPr/>
          </p:nvCxnSpPr>
          <p:spPr>
            <a:xfrm flipH="1">
              <a:off x="6536097" y="3123944"/>
              <a:ext cx="739178"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7" name="Group 16"/>
            <p:cNvGrpSpPr/>
            <p:nvPr/>
          </p:nvGrpSpPr>
          <p:grpSpPr>
            <a:xfrm>
              <a:off x="5691108" y="2057400"/>
              <a:ext cx="1090692" cy="2544019"/>
              <a:chOff x="5691108" y="2057400"/>
              <a:chExt cx="1090692" cy="2544019"/>
            </a:xfrm>
          </p:grpSpPr>
          <p:sp>
            <p:nvSpPr>
              <p:cNvPr id="22" name="Rectangle 21"/>
              <p:cNvSpPr/>
              <p:nvPr/>
            </p:nvSpPr>
            <p:spPr>
              <a:xfrm>
                <a:off x="5867399" y="2057400"/>
                <a:ext cx="914401" cy="244602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p:cNvSpPr txBox="1"/>
                  <p:nvPr/>
                </p:nvSpPr>
                <p:spPr>
                  <a:xfrm>
                    <a:off x="5691108" y="4138137"/>
                    <a:ext cx="605970" cy="4632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solidFill>
                                <a:srgbClr val="000000"/>
                              </a:solidFill>
                              <a:latin typeface="Cambria Math"/>
                            </a:rPr>
                            <m:t>𝐾</m:t>
                          </m:r>
                        </m:oMath>
                      </m:oMathPara>
                    </a14:m>
                    <a:endParaRPr lang="en-US" sz="1100" dirty="0">
                      <a:solidFill>
                        <a:srgbClr val="000000"/>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5691108" y="4138137"/>
                    <a:ext cx="605970" cy="463282"/>
                  </a:xfrm>
                  <a:prstGeom prst="rect">
                    <a:avLst/>
                  </a:prstGeom>
                  <a:blipFill rotWithShape="1">
                    <a:blip r:embed="rId12"/>
                    <a:stretch>
                      <a:fillRect/>
                    </a:stretch>
                  </a:blipFill>
                </p:spPr>
                <p:txBody>
                  <a:bodyPr/>
                  <a:lstStyle/>
                  <a:p>
                    <a:r>
                      <a:rPr lang="en-US">
                        <a:noFill/>
                      </a:rPr>
                      <a:t> </a:t>
                    </a:r>
                  </a:p>
                </p:txBody>
              </p:sp>
            </mc:Fallback>
          </mc:AlternateContent>
        </p:grpSp>
        <p:grpSp>
          <p:nvGrpSpPr>
            <p:cNvPr id="18" name="Group 17"/>
            <p:cNvGrpSpPr/>
            <p:nvPr/>
          </p:nvGrpSpPr>
          <p:grpSpPr>
            <a:xfrm>
              <a:off x="901767" y="2971543"/>
              <a:ext cx="393633" cy="579073"/>
              <a:chOff x="649527" y="2971543"/>
              <a:chExt cx="393633" cy="579073"/>
            </a:xfrm>
          </p:grpSpPr>
          <p:sp>
            <p:nvSpPr>
              <p:cNvPr id="20" name="Oval 19"/>
              <p:cNvSpPr/>
              <p:nvPr/>
            </p:nvSpPr>
            <p:spPr>
              <a:xfrm>
                <a:off x="685800"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p:cNvSpPr txBox="1"/>
                  <p:nvPr/>
                </p:nvSpPr>
                <p:spPr>
                  <a:xfrm>
                    <a:off x="649527" y="3181283"/>
                    <a:ext cx="393633"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a:ea typeface="Cambria Math"/>
                            </a:rPr>
                            <m:t>𝛼</m:t>
                          </m:r>
                        </m:oMath>
                      </m:oMathPara>
                    </a14:m>
                    <a:endParaRPr lang="en-US" dirty="0">
                      <a:solidFill>
                        <a:srgbClr val="000000"/>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649527" y="3181283"/>
                    <a:ext cx="393633" cy="369333"/>
                  </a:xfrm>
                  <a:prstGeom prst="rect">
                    <a:avLst/>
                  </a:prstGeom>
                  <a:blipFill rotWithShape="1">
                    <a:blip r:embed="rId13"/>
                    <a:stretch>
                      <a:fillRect r="-37143" b="-55882"/>
                    </a:stretch>
                  </a:blipFill>
                </p:spPr>
                <p:txBody>
                  <a:bodyPr/>
                  <a:lstStyle/>
                  <a:p>
                    <a:r>
                      <a:rPr lang="en-US">
                        <a:noFill/>
                      </a:rPr>
                      <a:t> </a:t>
                    </a:r>
                  </a:p>
                </p:txBody>
              </p:sp>
            </mc:Fallback>
          </mc:AlternateContent>
        </p:grpSp>
        <p:cxnSp>
          <p:nvCxnSpPr>
            <p:cNvPr id="19" name="Straight Arrow Connector 18"/>
            <p:cNvCxnSpPr>
              <a:stCxn id="20" idx="6"/>
              <a:endCxn id="28" idx="2"/>
            </p:cNvCxnSpPr>
            <p:nvPr/>
          </p:nvCxnSpPr>
          <p:spPr>
            <a:xfrm>
              <a:off x="1242840" y="3123943"/>
              <a:ext cx="1195560"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67" name="Group 66"/>
          <p:cNvGrpSpPr>
            <a:grpSpLocks noChangeAspect="1"/>
          </p:cNvGrpSpPr>
          <p:nvPr/>
        </p:nvGrpSpPr>
        <p:grpSpPr>
          <a:xfrm>
            <a:off x="2506027" y="337536"/>
            <a:ext cx="3513773" cy="1986915"/>
            <a:chOff x="2066925" y="337535"/>
            <a:chExt cx="5019675" cy="2838450"/>
          </a:xfrm>
        </p:grpSpPr>
        <p:pic>
          <p:nvPicPr>
            <p:cNvPr id="40" name="Picture 4" descr="http://images.clipartpanda.com/book-20clip-20art-di855LndT.jpe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6925" y="337535"/>
              <a:ext cx="5019675" cy="2838450"/>
            </a:xfrm>
            <a:prstGeom prst="rect">
              <a:avLst/>
            </a:prstGeom>
            <a:noFill/>
            <a:extLst>
              <a:ext uri="{909E8E84-426E-40DD-AFC4-6F175D3DCCD1}">
                <a14:hiddenFill xmlns:a14="http://schemas.microsoft.com/office/drawing/2010/main">
                  <a:solidFill>
                    <a:srgbClr val="FFFFFF"/>
                  </a:solidFill>
                </a14:hiddenFill>
              </a:ext>
            </a:extLst>
          </p:spPr>
        </p:pic>
        <p:sp>
          <p:nvSpPr>
            <p:cNvPr id="41" name="CustomShape 6"/>
            <p:cNvSpPr/>
            <p:nvPr/>
          </p:nvSpPr>
          <p:spPr>
            <a:xfrm>
              <a:off x="2600324" y="735499"/>
              <a:ext cx="256271" cy="264154"/>
            </a:xfrm>
            <a:prstGeom prst="roundRect">
              <a:avLst>
                <a:gd name="adj" fmla="val 3600"/>
              </a:avLst>
            </a:prstGeom>
            <a:ln w="36000">
              <a:solidFill>
                <a:srgbClr val="2323DC"/>
              </a:solidFill>
              <a:round/>
            </a:ln>
          </p:spPr>
        </p:sp>
        <p:sp>
          <p:nvSpPr>
            <p:cNvPr id="42" name="CustomShape 12"/>
            <p:cNvSpPr/>
            <p:nvPr/>
          </p:nvSpPr>
          <p:spPr>
            <a:xfrm>
              <a:off x="2929389" y="735499"/>
              <a:ext cx="256271" cy="264154"/>
            </a:xfrm>
            <a:prstGeom prst="roundRect">
              <a:avLst>
                <a:gd name="adj" fmla="val 3600"/>
              </a:avLst>
            </a:prstGeom>
            <a:ln w="36000">
              <a:solidFill>
                <a:srgbClr val="E6FF00"/>
              </a:solidFill>
              <a:round/>
            </a:ln>
          </p:spPr>
        </p:sp>
        <p:sp>
          <p:nvSpPr>
            <p:cNvPr id="43" name="CustomShape 20"/>
            <p:cNvSpPr/>
            <p:nvPr/>
          </p:nvSpPr>
          <p:spPr>
            <a:xfrm>
              <a:off x="3261860" y="735499"/>
              <a:ext cx="256271" cy="264154"/>
            </a:xfrm>
            <a:prstGeom prst="roundRect">
              <a:avLst>
                <a:gd name="adj" fmla="val 3600"/>
              </a:avLst>
            </a:prstGeom>
            <a:ln w="36000">
              <a:solidFill>
                <a:srgbClr val="FF420E"/>
              </a:solidFill>
              <a:round/>
            </a:ln>
          </p:spPr>
        </p:sp>
        <p:sp>
          <p:nvSpPr>
            <p:cNvPr id="44" name="CustomShape 20_"/>
            <p:cNvSpPr/>
            <p:nvPr/>
          </p:nvSpPr>
          <p:spPr>
            <a:xfrm>
              <a:off x="3594331" y="735499"/>
              <a:ext cx="256271" cy="264154"/>
            </a:xfrm>
            <a:prstGeom prst="roundRect">
              <a:avLst>
                <a:gd name="adj" fmla="val 3600"/>
              </a:avLst>
            </a:prstGeom>
            <a:ln w="36000">
              <a:solidFill>
                <a:srgbClr val="FF420E"/>
              </a:solidFill>
              <a:round/>
            </a:ln>
          </p:spPr>
        </p:sp>
        <p:sp>
          <p:nvSpPr>
            <p:cNvPr id="45" name="CustomShape 6_"/>
            <p:cNvSpPr/>
            <p:nvPr/>
          </p:nvSpPr>
          <p:spPr>
            <a:xfrm>
              <a:off x="3921125" y="735499"/>
              <a:ext cx="256271" cy="264154"/>
            </a:xfrm>
            <a:prstGeom prst="roundRect">
              <a:avLst>
                <a:gd name="adj" fmla="val 3600"/>
              </a:avLst>
            </a:prstGeom>
            <a:ln w="36000">
              <a:solidFill>
                <a:srgbClr val="00B0F0"/>
              </a:solidFill>
              <a:round/>
            </a:ln>
          </p:spPr>
        </p:sp>
        <p:sp>
          <p:nvSpPr>
            <p:cNvPr id="46" name="CustomShape 6__"/>
            <p:cNvSpPr/>
            <p:nvPr/>
          </p:nvSpPr>
          <p:spPr>
            <a:xfrm>
              <a:off x="2600324" y="1074124"/>
              <a:ext cx="256271" cy="264154"/>
            </a:xfrm>
            <a:prstGeom prst="roundRect">
              <a:avLst>
                <a:gd name="adj" fmla="val 3600"/>
              </a:avLst>
            </a:prstGeom>
            <a:ln w="36000">
              <a:solidFill>
                <a:srgbClr val="00B0F0"/>
              </a:solidFill>
              <a:round/>
            </a:ln>
          </p:spPr>
        </p:sp>
        <p:sp>
          <p:nvSpPr>
            <p:cNvPr id="47" name="CustomShape 12_"/>
            <p:cNvSpPr/>
            <p:nvPr/>
          </p:nvSpPr>
          <p:spPr>
            <a:xfrm>
              <a:off x="2929388" y="1085124"/>
              <a:ext cx="256271" cy="264154"/>
            </a:xfrm>
            <a:prstGeom prst="roundRect">
              <a:avLst>
                <a:gd name="adj" fmla="val 3600"/>
              </a:avLst>
            </a:prstGeom>
            <a:ln w="36000">
              <a:solidFill>
                <a:srgbClr val="E6FF00"/>
              </a:solidFill>
              <a:round/>
            </a:ln>
          </p:spPr>
        </p:sp>
        <p:sp>
          <p:nvSpPr>
            <p:cNvPr id="48" name="CustomShape 20__"/>
            <p:cNvSpPr/>
            <p:nvPr/>
          </p:nvSpPr>
          <p:spPr>
            <a:xfrm>
              <a:off x="3264130" y="1066395"/>
              <a:ext cx="256271" cy="264154"/>
            </a:xfrm>
            <a:prstGeom prst="roundRect">
              <a:avLst>
                <a:gd name="adj" fmla="val 3600"/>
              </a:avLst>
            </a:prstGeom>
            <a:ln w="36000">
              <a:solidFill>
                <a:srgbClr val="FF420E"/>
              </a:solidFill>
              <a:round/>
            </a:ln>
          </p:spPr>
        </p:sp>
        <p:sp>
          <p:nvSpPr>
            <p:cNvPr id="49" name="CustomShape 6___"/>
            <p:cNvSpPr/>
            <p:nvPr/>
          </p:nvSpPr>
          <p:spPr>
            <a:xfrm>
              <a:off x="3600681" y="1066395"/>
              <a:ext cx="256271" cy="264154"/>
            </a:xfrm>
            <a:prstGeom prst="roundRect">
              <a:avLst>
                <a:gd name="adj" fmla="val 3600"/>
              </a:avLst>
            </a:prstGeom>
            <a:ln w="36000">
              <a:solidFill>
                <a:srgbClr val="00B0F0"/>
              </a:solidFill>
              <a:round/>
            </a:ln>
          </p:spPr>
        </p:sp>
        <p:sp>
          <p:nvSpPr>
            <p:cNvPr id="50" name="CustomShape 20___"/>
            <p:cNvSpPr/>
            <p:nvPr/>
          </p:nvSpPr>
          <p:spPr>
            <a:xfrm>
              <a:off x="3921124" y="1065990"/>
              <a:ext cx="256271" cy="264154"/>
            </a:xfrm>
            <a:prstGeom prst="roundRect">
              <a:avLst>
                <a:gd name="adj" fmla="val 3600"/>
              </a:avLst>
            </a:prstGeom>
            <a:ln w="36000">
              <a:solidFill>
                <a:srgbClr val="FF420E"/>
              </a:solidFill>
              <a:round/>
            </a:ln>
          </p:spPr>
        </p:sp>
        <p:sp>
          <p:nvSpPr>
            <p:cNvPr id="51" name="CustomShape 6____"/>
            <p:cNvSpPr/>
            <p:nvPr/>
          </p:nvSpPr>
          <p:spPr>
            <a:xfrm>
              <a:off x="2600325" y="1412246"/>
              <a:ext cx="256271" cy="264154"/>
            </a:xfrm>
            <a:prstGeom prst="roundRect">
              <a:avLst>
                <a:gd name="adj" fmla="val 3600"/>
              </a:avLst>
            </a:prstGeom>
            <a:ln w="36000">
              <a:solidFill>
                <a:srgbClr val="2323DC"/>
              </a:solidFill>
              <a:round/>
            </a:ln>
          </p:spPr>
        </p:sp>
        <p:sp>
          <p:nvSpPr>
            <p:cNvPr id="52" name="CustomShape 12__"/>
            <p:cNvSpPr/>
            <p:nvPr/>
          </p:nvSpPr>
          <p:spPr>
            <a:xfrm>
              <a:off x="2929390" y="1412246"/>
              <a:ext cx="256271" cy="264154"/>
            </a:xfrm>
            <a:prstGeom prst="roundRect">
              <a:avLst>
                <a:gd name="adj" fmla="val 3600"/>
              </a:avLst>
            </a:prstGeom>
            <a:ln w="36000">
              <a:solidFill>
                <a:srgbClr val="E6FF00"/>
              </a:solidFill>
              <a:round/>
            </a:ln>
          </p:spPr>
        </p:sp>
        <p:sp>
          <p:nvSpPr>
            <p:cNvPr id="53" name="CustomShape 20____"/>
            <p:cNvSpPr/>
            <p:nvPr/>
          </p:nvSpPr>
          <p:spPr>
            <a:xfrm>
              <a:off x="3261861" y="1412246"/>
              <a:ext cx="256271" cy="264154"/>
            </a:xfrm>
            <a:prstGeom prst="roundRect">
              <a:avLst>
                <a:gd name="adj" fmla="val 3600"/>
              </a:avLst>
            </a:prstGeom>
            <a:ln w="36000">
              <a:solidFill>
                <a:srgbClr val="FF420E"/>
              </a:solidFill>
              <a:round/>
            </a:ln>
          </p:spPr>
        </p:sp>
        <p:sp>
          <p:nvSpPr>
            <p:cNvPr id="54" name="CustomShape 12___"/>
            <p:cNvSpPr/>
            <p:nvPr/>
          </p:nvSpPr>
          <p:spPr>
            <a:xfrm>
              <a:off x="3590925" y="1412246"/>
              <a:ext cx="256271" cy="264154"/>
            </a:xfrm>
            <a:prstGeom prst="roundRect">
              <a:avLst>
                <a:gd name="adj" fmla="val 3600"/>
              </a:avLst>
            </a:prstGeom>
            <a:ln w="36000">
              <a:solidFill>
                <a:srgbClr val="E6FF00"/>
              </a:solidFill>
              <a:round/>
            </a:ln>
          </p:spPr>
        </p:sp>
        <p:sp>
          <p:nvSpPr>
            <p:cNvPr id="55" name="CustomShape 20_____"/>
            <p:cNvSpPr/>
            <p:nvPr/>
          </p:nvSpPr>
          <p:spPr>
            <a:xfrm>
              <a:off x="3920913" y="1416513"/>
              <a:ext cx="256271" cy="264154"/>
            </a:xfrm>
            <a:prstGeom prst="roundRect">
              <a:avLst>
                <a:gd name="adj" fmla="val 3600"/>
              </a:avLst>
            </a:prstGeom>
            <a:ln w="36000">
              <a:solidFill>
                <a:srgbClr val="FF420E"/>
              </a:solidFill>
              <a:round/>
            </a:ln>
          </p:spPr>
        </p:sp>
        <p:sp>
          <p:nvSpPr>
            <p:cNvPr id="56" name="CustomShape 6_____"/>
            <p:cNvSpPr/>
            <p:nvPr/>
          </p:nvSpPr>
          <p:spPr>
            <a:xfrm>
              <a:off x="2600323" y="1756760"/>
              <a:ext cx="256271" cy="264154"/>
            </a:xfrm>
            <a:prstGeom prst="roundRect">
              <a:avLst>
                <a:gd name="adj" fmla="val 3600"/>
              </a:avLst>
            </a:prstGeom>
            <a:ln w="36000">
              <a:solidFill>
                <a:srgbClr val="00B0F0"/>
              </a:solidFill>
              <a:round/>
            </a:ln>
          </p:spPr>
        </p:sp>
        <p:sp>
          <p:nvSpPr>
            <p:cNvPr id="57" name="CustomShape 6______"/>
            <p:cNvSpPr/>
            <p:nvPr/>
          </p:nvSpPr>
          <p:spPr>
            <a:xfrm>
              <a:off x="2929387" y="1756760"/>
              <a:ext cx="256271" cy="264154"/>
            </a:xfrm>
            <a:prstGeom prst="roundRect">
              <a:avLst>
                <a:gd name="adj" fmla="val 3600"/>
              </a:avLst>
            </a:prstGeom>
            <a:ln w="36000">
              <a:solidFill>
                <a:srgbClr val="00B0F0"/>
              </a:solidFill>
              <a:round/>
            </a:ln>
          </p:spPr>
        </p:sp>
        <p:sp>
          <p:nvSpPr>
            <p:cNvPr id="58" name="TextBox 57"/>
            <p:cNvSpPr txBox="1"/>
            <p:nvPr/>
          </p:nvSpPr>
          <p:spPr>
            <a:xfrm>
              <a:off x="3209925" y="1676401"/>
              <a:ext cx="1014866" cy="527617"/>
            </a:xfrm>
            <a:prstGeom prst="rect">
              <a:avLst/>
            </a:prstGeom>
            <a:noFill/>
          </p:spPr>
          <p:txBody>
            <a:bodyPr wrap="square" rtlCol="0">
              <a:spAutoFit/>
            </a:bodyPr>
            <a:lstStyle/>
            <a:p>
              <a:r>
                <a:rPr lang="en-US" dirty="0" smtClean="0"/>
                <a:t>… …</a:t>
              </a:r>
              <a:endParaRPr lang="en-US" dirty="0"/>
            </a:p>
          </p:txBody>
        </p:sp>
        <p:sp>
          <p:nvSpPr>
            <p:cNvPr id="60" name="TextBox 59"/>
            <p:cNvSpPr txBox="1"/>
            <p:nvPr/>
          </p:nvSpPr>
          <p:spPr>
            <a:xfrm>
              <a:off x="4576762" y="777286"/>
              <a:ext cx="2052637" cy="369332"/>
            </a:xfrm>
            <a:prstGeom prst="rect">
              <a:avLst/>
            </a:prstGeom>
            <a:noFill/>
          </p:spPr>
          <p:txBody>
            <a:bodyPr wrap="square" rtlCol="0">
              <a:spAutoFit/>
            </a:bodyPr>
            <a:lstStyle/>
            <a:p>
              <a:r>
                <a:rPr lang="en-US" dirty="0" smtClean="0"/>
                <a:t>… … … … … … … …</a:t>
              </a:r>
              <a:endParaRPr lang="en-US" dirty="0"/>
            </a:p>
          </p:txBody>
        </p:sp>
        <p:sp>
          <p:nvSpPr>
            <p:cNvPr id="61" name="TextBox 60"/>
            <p:cNvSpPr txBox="1"/>
            <p:nvPr/>
          </p:nvSpPr>
          <p:spPr>
            <a:xfrm>
              <a:off x="4576762" y="1131046"/>
              <a:ext cx="2052637" cy="527617"/>
            </a:xfrm>
            <a:prstGeom prst="rect">
              <a:avLst/>
            </a:prstGeom>
            <a:noFill/>
          </p:spPr>
          <p:txBody>
            <a:bodyPr wrap="square" rtlCol="0">
              <a:spAutoFit/>
            </a:bodyPr>
            <a:lstStyle/>
            <a:p>
              <a:endParaRPr lang="en-US" dirty="0"/>
            </a:p>
          </p:txBody>
        </p:sp>
        <p:sp>
          <p:nvSpPr>
            <p:cNvPr id="62" name="TextBox 61"/>
            <p:cNvSpPr txBox="1"/>
            <p:nvPr/>
          </p:nvSpPr>
          <p:spPr>
            <a:xfrm>
              <a:off x="4576762" y="1544324"/>
              <a:ext cx="2052637" cy="527617"/>
            </a:xfrm>
            <a:prstGeom prst="rect">
              <a:avLst/>
            </a:prstGeom>
            <a:noFill/>
          </p:spPr>
          <p:txBody>
            <a:bodyPr wrap="square" rtlCol="0">
              <a:spAutoFit/>
            </a:bodyPr>
            <a:lstStyle/>
            <a:p>
              <a:r>
                <a:rPr lang="en-US" dirty="0" smtClean="0"/>
                <a:t>… … … … … …</a:t>
              </a:r>
              <a:endParaRPr lang="en-US" dirty="0"/>
            </a:p>
          </p:txBody>
        </p:sp>
        <p:sp>
          <p:nvSpPr>
            <p:cNvPr id="63" name="CustomShape 20______"/>
            <p:cNvSpPr/>
            <p:nvPr/>
          </p:nvSpPr>
          <p:spPr>
            <a:xfrm>
              <a:off x="4733925" y="1973251"/>
              <a:ext cx="256271" cy="264154"/>
            </a:xfrm>
            <a:prstGeom prst="roundRect">
              <a:avLst>
                <a:gd name="adj" fmla="val 3600"/>
              </a:avLst>
            </a:prstGeom>
            <a:ln w="36000">
              <a:solidFill>
                <a:srgbClr val="FF420E"/>
              </a:solidFill>
              <a:round/>
            </a:ln>
          </p:spPr>
        </p:sp>
        <p:sp>
          <p:nvSpPr>
            <p:cNvPr id="64" name="CustomShape 12____"/>
            <p:cNvSpPr/>
            <p:nvPr/>
          </p:nvSpPr>
          <p:spPr>
            <a:xfrm>
              <a:off x="5114925" y="1973251"/>
              <a:ext cx="256271" cy="264154"/>
            </a:xfrm>
            <a:prstGeom prst="roundRect">
              <a:avLst>
                <a:gd name="adj" fmla="val 3600"/>
              </a:avLst>
            </a:prstGeom>
            <a:ln w="36000">
              <a:solidFill>
                <a:srgbClr val="E6FF00"/>
              </a:solidFill>
              <a:round/>
            </a:ln>
          </p:spPr>
        </p:sp>
        <p:sp>
          <p:nvSpPr>
            <p:cNvPr id="65" name="CustomShape 6_______"/>
            <p:cNvSpPr/>
            <p:nvPr/>
          </p:nvSpPr>
          <p:spPr>
            <a:xfrm>
              <a:off x="5474944" y="1968829"/>
              <a:ext cx="256271" cy="264154"/>
            </a:xfrm>
            <a:prstGeom prst="roundRect">
              <a:avLst>
                <a:gd name="adj" fmla="val 3600"/>
              </a:avLst>
            </a:prstGeom>
            <a:ln w="36000">
              <a:solidFill>
                <a:srgbClr val="00B0F0"/>
              </a:solidFill>
              <a:round/>
            </a:ln>
          </p:spPr>
        </p:sp>
        <p:sp>
          <p:nvSpPr>
            <p:cNvPr id="66" name="CustomShape 6________"/>
            <p:cNvSpPr/>
            <p:nvPr/>
          </p:nvSpPr>
          <p:spPr>
            <a:xfrm>
              <a:off x="5883615" y="1968829"/>
              <a:ext cx="256271" cy="264154"/>
            </a:xfrm>
            <a:prstGeom prst="roundRect">
              <a:avLst>
                <a:gd name="adj" fmla="val 3600"/>
              </a:avLst>
            </a:prstGeom>
            <a:ln w="36000">
              <a:solidFill>
                <a:srgbClr val="00B0F0"/>
              </a:solidFill>
              <a:round/>
            </a:ln>
          </p:spPr>
        </p:sp>
      </p:grpSp>
      <p:sp>
        <p:nvSpPr>
          <p:cNvPr id="68" name="TextBox 67"/>
          <p:cNvSpPr txBox="1"/>
          <p:nvPr/>
        </p:nvSpPr>
        <p:spPr>
          <a:xfrm>
            <a:off x="2909107" y="1447800"/>
            <a:ext cx="1436846" cy="369332"/>
          </a:xfrm>
          <a:prstGeom prst="rect">
            <a:avLst/>
          </a:prstGeom>
          <a:noFill/>
        </p:spPr>
        <p:txBody>
          <a:bodyPr wrap="square" rtlCol="0">
            <a:spAutoFit/>
          </a:bodyPr>
          <a:lstStyle/>
          <a:p>
            <a:r>
              <a:rPr lang="en-US" dirty="0" smtClean="0"/>
              <a:t>… … … … …</a:t>
            </a:r>
            <a:endParaRPr lang="en-US" dirty="0"/>
          </a:p>
        </p:txBody>
      </p:sp>
      <p:cxnSp>
        <p:nvCxnSpPr>
          <p:cNvPr id="70" name="Straight Arrow Connector 69"/>
          <p:cNvCxnSpPr>
            <a:stCxn id="41" idx="2"/>
            <a:endCxn id="34" idx="7"/>
          </p:cNvCxnSpPr>
          <p:nvPr/>
        </p:nvCxnSpPr>
        <p:spPr>
          <a:xfrm>
            <a:off x="2969101" y="801019"/>
            <a:ext cx="1181662"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42" idx="2"/>
            <a:endCxn id="34" idx="7"/>
          </p:cNvCxnSpPr>
          <p:nvPr/>
        </p:nvCxnSpPr>
        <p:spPr>
          <a:xfrm>
            <a:off x="3199447" y="801019"/>
            <a:ext cx="951316"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43" idx="2"/>
            <a:endCxn id="34" idx="7"/>
          </p:cNvCxnSpPr>
          <p:nvPr/>
        </p:nvCxnSpPr>
        <p:spPr>
          <a:xfrm>
            <a:off x="3432177" y="801019"/>
            <a:ext cx="718586"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44" idx="2"/>
            <a:endCxn id="34" idx="7"/>
          </p:cNvCxnSpPr>
          <p:nvPr/>
        </p:nvCxnSpPr>
        <p:spPr>
          <a:xfrm>
            <a:off x="3664906" y="801019"/>
            <a:ext cx="485857"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64" idx="2"/>
            <a:endCxn id="34" idx="1"/>
          </p:cNvCxnSpPr>
          <p:nvPr/>
        </p:nvCxnSpPr>
        <p:spPr>
          <a:xfrm flipH="1">
            <a:off x="4266433" y="1667445"/>
            <a:ext cx="462889" cy="13235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65" idx="2"/>
            <a:endCxn id="34" idx="1"/>
          </p:cNvCxnSpPr>
          <p:nvPr/>
        </p:nvCxnSpPr>
        <p:spPr>
          <a:xfrm flipH="1">
            <a:off x="4266433" y="1664350"/>
            <a:ext cx="714903" cy="13266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66" idx="2"/>
            <a:endCxn id="34" idx="1"/>
          </p:cNvCxnSpPr>
          <p:nvPr/>
        </p:nvCxnSpPr>
        <p:spPr>
          <a:xfrm flipH="1">
            <a:off x="4266433" y="1664350"/>
            <a:ext cx="1000972" cy="13266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63" idx="2"/>
            <a:endCxn id="34" idx="1"/>
          </p:cNvCxnSpPr>
          <p:nvPr/>
        </p:nvCxnSpPr>
        <p:spPr>
          <a:xfrm flipH="1">
            <a:off x="4266433" y="1667445"/>
            <a:ext cx="196189" cy="13235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00595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flipH="1">
            <a:off x="2590800" y="2449622"/>
            <a:ext cx="3603635" cy="1436578"/>
            <a:chOff x="901767" y="2057400"/>
            <a:chExt cx="6714579" cy="2544019"/>
          </a:xfrm>
        </p:grpSpPr>
        <p:sp>
          <p:nvSpPr>
            <p:cNvPr id="6" name="Rectangle 5"/>
            <p:cNvSpPr/>
            <p:nvPr/>
          </p:nvSpPr>
          <p:spPr>
            <a:xfrm>
              <a:off x="3031495" y="2491264"/>
              <a:ext cx="1965505" cy="1547337"/>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 name="Group 6"/>
            <p:cNvGrpSpPr/>
            <p:nvPr/>
          </p:nvGrpSpPr>
          <p:grpSpPr>
            <a:xfrm>
              <a:off x="3371243" y="2971543"/>
              <a:ext cx="1591182" cy="591768"/>
              <a:chOff x="3431442" y="2895600"/>
              <a:chExt cx="1591182" cy="591768"/>
            </a:xfrm>
          </p:grpSpPr>
          <p:grpSp>
            <p:nvGrpSpPr>
              <p:cNvPr id="32" name="Group 31"/>
              <p:cNvGrpSpPr/>
              <p:nvPr/>
            </p:nvGrpSpPr>
            <p:grpSpPr>
              <a:xfrm>
                <a:off x="3431442" y="2895600"/>
                <a:ext cx="647741" cy="591768"/>
                <a:chOff x="3431443" y="2895085"/>
                <a:chExt cx="647741" cy="591768"/>
              </a:xfrm>
            </p:grpSpPr>
            <p:sp>
              <p:nvSpPr>
                <p:cNvPr id="36" name="Oval 35"/>
                <p:cNvSpPr/>
                <p:nvPr/>
              </p:nvSpPr>
              <p:spPr>
                <a:xfrm>
                  <a:off x="3621984" y="2895085"/>
                  <a:ext cx="304801"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TextBox 36"/>
                    <p:cNvSpPr txBox="1"/>
                    <p:nvPr/>
                  </p:nvSpPr>
                  <p:spPr>
                    <a:xfrm>
                      <a:off x="3431443" y="3105339"/>
                      <a:ext cx="647741" cy="3815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b="0" i="1" smtClean="0">
                                    <a:solidFill>
                                      <a:srgbClr val="000000"/>
                                    </a:solidFill>
                                    <a:latin typeface="Cambria Math"/>
                                  </a:rPr>
                                  <m:t>𝑍</m:t>
                                </m:r>
                              </m:e>
                              <m:sub>
                                <m:r>
                                  <a:rPr lang="en-US" b="0" i="1" smtClean="0">
                                    <a:solidFill>
                                      <a:srgbClr val="000000"/>
                                    </a:solidFill>
                                    <a:latin typeface="Cambria Math"/>
                                  </a:rPr>
                                  <m:t>𝑑</m:t>
                                </m:r>
                                <m:r>
                                  <a:rPr lang="en-US" b="0" i="1" smtClean="0">
                                    <a:solidFill>
                                      <a:srgbClr val="000000"/>
                                    </a:solidFill>
                                    <a:latin typeface="Cambria Math"/>
                                  </a:rPr>
                                  <m:t>,</m:t>
                                </m:r>
                                <m:r>
                                  <a:rPr lang="en-US" b="0" i="1" smtClean="0">
                                    <a:solidFill>
                                      <a:srgbClr val="000000"/>
                                    </a:solidFill>
                                    <a:latin typeface="Cambria Math"/>
                                  </a:rPr>
                                  <m:t>𝑛</m:t>
                                </m:r>
                              </m:sub>
                            </m:sSub>
                          </m:oMath>
                        </m:oMathPara>
                      </a14:m>
                      <a:endParaRPr lang="en-US" dirty="0">
                        <a:solidFill>
                          <a:srgbClr val="000000"/>
                        </a:solidFill>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3431443" y="3105339"/>
                      <a:ext cx="647741" cy="381514"/>
                    </a:xfrm>
                    <a:prstGeom prst="rect">
                      <a:avLst/>
                    </a:prstGeom>
                    <a:blipFill rotWithShape="1">
                      <a:blip r:embed="rId5"/>
                      <a:stretch>
                        <a:fillRect r="-50877" b="-74286"/>
                      </a:stretch>
                    </a:blipFill>
                  </p:spPr>
                  <p:txBody>
                    <a:bodyPr/>
                    <a:lstStyle/>
                    <a:p>
                      <a:r>
                        <a:rPr lang="en-US">
                          <a:noFill/>
                        </a:rPr>
                        <a:t> </a:t>
                      </a:r>
                    </a:p>
                  </p:txBody>
                </p:sp>
              </mc:Fallback>
            </mc:AlternateContent>
          </p:grpSp>
          <p:grpSp>
            <p:nvGrpSpPr>
              <p:cNvPr id="33" name="Group 32"/>
              <p:cNvGrpSpPr/>
              <p:nvPr/>
            </p:nvGrpSpPr>
            <p:grpSpPr>
              <a:xfrm>
                <a:off x="4315444" y="2895600"/>
                <a:ext cx="707180" cy="591254"/>
                <a:chOff x="4315444" y="2895600"/>
                <a:chExt cx="707180" cy="591254"/>
              </a:xfrm>
            </p:grpSpPr>
            <p:sp>
              <p:nvSpPr>
                <p:cNvPr id="34" name="Oval 33"/>
                <p:cNvSpPr/>
                <p:nvPr/>
              </p:nvSpPr>
              <p:spPr>
                <a:xfrm>
                  <a:off x="4509736" y="2895600"/>
                  <a:ext cx="304799" cy="304799"/>
                </a:xfrm>
                <a:prstGeom prst="ellipse">
                  <a:avLst/>
                </a:prstGeom>
                <a:pattFill prst="pct50">
                  <a:fgClr>
                    <a:schemeClr val="tx2"/>
                  </a:fgClr>
                  <a:bgClr>
                    <a:schemeClr val="tx2">
                      <a:lumMod val="50000"/>
                    </a:schemeClr>
                  </a:bgClr>
                </a:patt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TextBox 34"/>
                    <p:cNvSpPr txBox="1"/>
                    <p:nvPr/>
                  </p:nvSpPr>
                  <p:spPr>
                    <a:xfrm>
                      <a:off x="4315444" y="3105340"/>
                      <a:ext cx="707180" cy="3815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b="0" i="1" smtClean="0">
                                    <a:solidFill>
                                      <a:srgbClr val="000000"/>
                                    </a:solidFill>
                                    <a:latin typeface="Cambria Math"/>
                                  </a:rPr>
                                  <m:t>𝑊</m:t>
                                </m:r>
                              </m:e>
                              <m:sub>
                                <m:r>
                                  <a:rPr lang="en-US" b="0" i="1" smtClean="0">
                                    <a:solidFill>
                                      <a:srgbClr val="000000"/>
                                    </a:solidFill>
                                    <a:latin typeface="Cambria Math"/>
                                  </a:rPr>
                                  <m:t>𝑑</m:t>
                                </m:r>
                                <m:r>
                                  <a:rPr lang="en-US" b="0" i="1" smtClean="0">
                                    <a:solidFill>
                                      <a:srgbClr val="000000"/>
                                    </a:solidFill>
                                    <a:latin typeface="Cambria Math"/>
                                  </a:rPr>
                                  <m:t>,</m:t>
                                </m:r>
                                <m:r>
                                  <a:rPr lang="en-US" b="0" i="1" smtClean="0">
                                    <a:solidFill>
                                      <a:srgbClr val="000000"/>
                                    </a:solidFill>
                                    <a:latin typeface="Cambria Math"/>
                                  </a:rPr>
                                  <m:t>𝑛</m:t>
                                </m:r>
                              </m:sub>
                            </m:sSub>
                          </m:oMath>
                        </m:oMathPara>
                      </a14:m>
                      <a:endParaRPr lang="en-US" dirty="0">
                        <a:solidFill>
                          <a:srgbClr val="000000"/>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4315444" y="3105340"/>
                      <a:ext cx="707180" cy="381514"/>
                    </a:xfrm>
                    <a:prstGeom prst="rect">
                      <a:avLst/>
                    </a:prstGeom>
                    <a:blipFill rotWithShape="1">
                      <a:blip r:embed="rId6"/>
                      <a:stretch>
                        <a:fillRect r="-54839" b="-74286"/>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8" name="TextBox 7"/>
                <p:cNvSpPr txBox="1"/>
                <p:nvPr/>
              </p:nvSpPr>
              <p:spPr>
                <a:xfrm>
                  <a:off x="3126720" y="3659386"/>
                  <a:ext cx="472703" cy="4632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solidFill>
                                  <a:srgbClr val="000000"/>
                                </a:solidFill>
                                <a:latin typeface="Cambria Math"/>
                              </a:rPr>
                            </m:ctrlPr>
                          </m:sSubPr>
                          <m:e>
                            <m:r>
                              <a:rPr lang="en-US" sz="1100" b="0" i="1" smtClean="0">
                                <a:solidFill>
                                  <a:srgbClr val="000000"/>
                                </a:solidFill>
                                <a:latin typeface="Cambria Math"/>
                              </a:rPr>
                              <m:t>𝑁</m:t>
                            </m:r>
                          </m:e>
                          <m:sub>
                            <m:r>
                              <a:rPr lang="en-US" sz="1100" b="0" i="1" smtClean="0">
                                <a:solidFill>
                                  <a:srgbClr val="000000"/>
                                </a:solidFill>
                                <a:latin typeface="Cambria Math"/>
                              </a:rPr>
                              <m:t>𝑑</m:t>
                            </m:r>
                          </m:sub>
                        </m:sSub>
                      </m:oMath>
                    </m:oMathPara>
                  </a14:m>
                  <a:endParaRPr lang="en-US" sz="1100" dirty="0">
                    <a:solidFill>
                      <a:srgbClr val="00000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3126720" y="3659386"/>
                  <a:ext cx="472703" cy="463282"/>
                </a:xfrm>
                <a:prstGeom prst="rect">
                  <a:avLst/>
                </a:prstGeom>
                <a:blipFill rotWithShape="1">
                  <a:blip r:embed="rId7"/>
                  <a:stretch>
                    <a:fillRect r="-11905"/>
                  </a:stretch>
                </a:blipFill>
              </p:spPr>
              <p:txBody>
                <a:bodyPr/>
                <a:lstStyle/>
                <a:p>
                  <a:r>
                    <a:rPr lang="en-US">
                      <a:noFill/>
                    </a:rPr>
                    <a:t> </a:t>
                  </a:r>
                </a:p>
              </p:txBody>
            </p:sp>
          </mc:Fallback>
        </mc:AlternateContent>
        <p:grpSp>
          <p:nvGrpSpPr>
            <p:cNvPr id="9" name="Group 8"/>
            <p:cNvGrpSpPr/>
            <p:nvPr/>
          </p:nvGrpSpPr>
          <p:grpSpPr>
            <a:xfrm>
              <a:off x="1715973" y="2057400"/>
              <a:ext cx="3922828" cy="2532351"/>
              <a:chOff x="1480603" y="2057400"/>
              <a:chExt cx="4158197" cy="2532351"/>
            </a:xfrm>
          </p:grpSpPr>
          <mc:AlternateContent xmlns:mc="http://schemas.openxmlformats.org/markup-compatibility/2006" xmlns:a14="http://schemas.microsoft.com/office/drawing/2010/main">
            <mc:Choice Requires="a14">
              <p:sp>
                <p:nvSpPr>
                  <p:cNvPr id="30" name="TextBox 29"/>
                  <p:cNvSpPr txBox="1"/>
                  <p:nvPr/>
                </p:nvSpPr>
                <p:spPr>
                  <a:xfrm>
                    <a:off x="1480603" y="4126469"/>
                    <a:ext cx="641949" cy="4632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solidFill>
                                <a:srgbClr val="000000"/>
                              </a:solidFill>
                              <a:latin typeface="Cambria Math"/>
                            </a:rPr>
                            <m:t>𝐷</m:t>
                          </m:r>
                        </m:oMath>
                      </m:oMathPara>
                    </a14:m>
                    <a:endParaRPr lang="en-US" sz="1100" dirty="0">
                      <a:solidFill>
                        <a:srgbClr val="000000"/>
                      </a:solidFill>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1480603" y="4126469"/>
                    <a:ext cx="641949" cy="463282"/>
                  </a:xfrm>
                  <a:prstGeom prst="rect">
                    <a:avLst/>
                  </a:prstGeom>
                  <a:blipFill rotWithShape="1">
                    <a:blip r:embed="rId8"/>
                    <a:stretch>
                      <a:fillRect/>
                    </a:stretch>
                  </a:blipFill>
                </p:spPr>
                <p:txBody>
                  <a:bodyPr/>
                  <a:lstStyle/>
                  <a:p>
                    <a:r>
                      <a:rPr lang="en-US">
                        <a:noFill/>
                      </a:rPr>
                      <a:t> </a:t>
                    </a:r>
                  </a:p>
                </p:txBody>
              </p:sp>
            </mc:Fallback>
          </mc:AlternateContent>
          <p:sp>
            <p:nvSpPr>
              <p:cNvPr id="31" name="Rectangle 30"/>
              <p:cNvSpPr/>
              <p:nvPr/>
            </p:nvSpPr>
            <p:spPr>
              <a:xfrm>
                <a:off x="1600200" y="2057400"/>
                <a:ext cx="4038600" cy="243840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2362200" y="2971543"/>
              <a:ext cx="492764" cy="579585"/>
              <a:chOff x="2362200" y="2971543"/>
              <a:chExt cx="492764" cy="579585"/>
            </a:xfrm>
          </p:grpSpPr>
          <p:sp>
            <p:nvSpPr>
              <p:cNvPr id="28" name="Oval 27"/>
              <p:cNvSpPr/>
              <p:nvPr/>
            </p:nvSpPr>
            <p:spPr>
              <a:xfrm>
                <a:off x="2438400"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p:cNvSpPr txBox="1"/>
                  <p:nvPr/>
                </p:nvSpPr>
                <p:spPr>
                  <a:xfrm>
                    <a:off x="2362200" y="3181795"/>
                    <a:ext cx="492764"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i="1" smtClean="0">
                                  <a:solidFill>
                                    <a:srgbClr val="000000"/>
                                  </a:solidFill>
                                  <a:latin typeface="Cambria Math"/>
                                  <a:ea typeface="Cambria Math"/>
                                </a:rPr>
                                <m:t>𝜃</m:t>
                              </m:r>
                            </m:e>
                            <m:sub>
                              <m:r>
                                <a:rPr lang="en-US" b="0" i="1" smtClean="0">
                                  <a:solidFill>
                                    <a:srgbClr val="000000"/>
                                  </a:solidFill>
                                  <a:latin typeface="Cambria Math"/>
                                </a:rPr>
                                <m:t>𝑑</m:t>
                              </m:r>
                            </m:sub>
                          </m:sSub>
                        </m:oMath>
                      </m:oMathPara>
                    </a14:m>
                    <a:endParaRPr lang="en-US" dirty="0">
                      <a:solidFill>
                        <a:srgbClr val="000000"/>
                      </a:solidFill>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2362200" y="3181795"/>
                    <a:ext cx="492764" cy="369333"/>
                  </a:xfrm>
                  <a:prstGeom prst="rect">
                    <a:avLst/>
                  </a:prstGeom>
                  <a:blipFill rotWithShape="1">
                    <a:blip r:embed="rId9"/>
                    <a:stretch>
                      <a:fillRect r="-46512" b="-79412"/>
                    </a:stretch>
                  </a:blipFill>
                </p:spPr>
                <p:txBody>
                  <a:bodyPr/>
                  <a:lstStyle/>
                  <a:p>
                    <a:r>
                      <a:rPr lang="en-US">
                        <a:noFill/>
                      </a:rPr>
                      <a:t> </a:t>
                    </a:r>
                  </a:p>
                </p:txBody>
              </p:sp>
            </mc:Fallback>
          </mc:AlternateContent>
        </p:grpSp>
        <p:cxnSp>
          <p:nvCxnSpPr>
            <p:cNvPr id="11" name="Straight Arrow Connector 10"/>
            <p:cNvCxnSpPr>
              <a:stCxn id="28" idx="6"/>
              <a:endCxn id="36" idx="2"/>
            </p:cNvCxnSpPr>
            <p:nvPr/>
          </p:nvCxnSpPr>
          <p:spPr>
            <a:xfrm>
              <a:off x="2743199" y="3123944"/>
              <a:ext cx="818583"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stCxn id="36" idx="6"/>
              <a:endCxn id="34" idx="2"/>
            </p:cNvCxnSpPr>
            <p:nvPr/>
          </p:nvCxnSpPr>
          <p:spPr>
            <a:xfrm>
              <a:off x="3866584" y="3123944"/>
              <a:ext cx="582953"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p:nvGrpSpPr>
          <p:grpSpPr>
            <a:xfrm>
              <a:off x="6155096" y="2971543"/>
              <a:ext cx="490647" cy="579585"/>
              <a:chOff x="6155096" y="2971543"/>
              <a:chExt cx="490647" cy="579585"/>
            </a:xfrm>
          </p:grpSpPr>
          <p:sp>
            <p:nvSpPr>
              <p:cNvPr id="26" name="Oval 25"/>
              <p:cNvSpPr/>
              <p:nvPr/>
            </p:nvSpPr>
            <p:spPr>
              <a:xfrm>
                <a:off x="6231297" y="2971543"/>
                <a:ext cx="304799"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155096" y="3181795"/>
                    <a:ext cx="490647"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i="1">
                                  <a:solidFill>
                                    <a:srgbClr val="000000"/>
                                  </a:solidFill>
                                  <a:latin typeface="Cambria Math"/>
                                  <a:ea typeface="Cambria Math"/>
                                </a:rPr>
                                <m:t>𝛽</m:t>
                              </m:r>
                            </m:e>
                            <m:sub>
                              <m:r>
                                <a:rPr lang="en-US" b="0" i="1" smtClean="0">
                                  <a:solidFill>
                                    <a:srgbClr val="000000"/>
                                  </a:solidFill>
                                  <a:latin typeface="Cambria Math"/>
                                </a:rPr>
                                <m:t>𝑘</m:t>
                              </m:r>
                            </m:sub>
                          </m:sSub>
                        </m:oMath>
                      </m:oMathPara>
                    </a14:m>
                    <a:endParaRPr lang="en-US" dirty="0">
                      <a:solidFill>
                        <a:srgbClr val="000000"/>
                      </a:solidFill>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155096" y="3181795"/>
                    <a:ext cx="490647" cy="369333"/>
                  </a:xfrm>
                  <a:prstGeom prst="rect">
                    <a:avLst/>
                  </a:prstGeom>
                  <a:blipFill rotWithShape="1">
                    <a:blip r:embed="rId10"/>
                    <a:stretch>
                      <a:fillRect l="-6977" r="-46512" b="-102941"/>
                    </a:stretch>
                  </a:blipFill>
                </p:spPr>
                <p:txBody>
                  <a:bodyPr/>
                  <a:lstStyle/>
                  <a:p>
                    <a:r>
                      <a:rPr lang="en-US">
                        <a:noFill/>
                      </a:rPr>
                      <a:t> </a:t>
                    </a:r>
                  </a:p>
                </p:txBody>
              </p:sp>
            </mc:Fallback>
          </mc:AlternateContent>
        </p:grpSp>
        <p:cxnSp>
          <p:nvCxnSpPr>
            <p:cNvPr id="14" name="Straight Arrow Connector 13"/>
            <p:cNvCxnSpPr>
              <a:stCxn id="26" idx="2"/>
              <a:endCxn id="34" idx="6"/>
            </p:cNvCxnSpPr>
            <p:nvPr/>
          </p:nvCxnSpPr>
          <p:spPr>
            <a:xfrm flipH="1">
              <a:off x="4754336" y="3123944"/>
              <a:ext cx="1476962"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5" name="Group 14"/>
            <p:cNvGrpSpPr/>
            <p:nvPr/>
          </p:nvGrpSpPr>
          <p:grpSpPr>
            <a:xfrm>
              <a:off x="7239000" y="2971543"/>
              <a:ext cx="377346" cy="579585"/>
              <a:chOff x="7315200" y="2971543"/>
              <a:chExt cx="377346" cy="579585"/>
            </a:xfrm>
          </p:grpSpPr>
          <p:sp>
            <p:nvSpPr>
              <p:cNvPr id="24" name="Oval 23"/>
              <p:cNvSpPr/>
              <p:nvPr/>
            </p:nvSpPr>
            <p:spPr>
              <a:xfrm>
                <a:off x="7351473"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p:cNvSpPr txBox="1"/>
                  <p:nvPr/>
                </p:nvSpPr>
                <p:spPr>
                  <a:xfrm>
                    <a:off x="7315200" y="3181795"/>
                    <a:ext cx="377346"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a:ea typeface="Cambria Math"/>
                            </a:rPr>
                            <m:t>𝜂</m:t>
                          </m:r>
                        </m:oMath>
                      </m:oMathPara>
                    </a14:m>
                    <a:endParaRPr lang="en-US" dirty="0">
                      <a:solidFill>
                        <a:srgbClr val="000000"/>
                      </a:solidFill>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7315200" y="3181795"/>
                    <a:ext cx="377346" cy="369333"/>
                  </a:xfrm>
                  <a:prstGeom prst="rect">
                    <a:avLst/>
                  </a:prstGeom>
                  <a:blipFill rotWithShape="1">
                    <a:blip r:embed="rId11"/>
                    <a:stretch>
                      <a:fillRect r="-47059" b="-91176"/>
                    </a:stretch>
                  </a:blipFill>
                </p:spPr>
                <p:txBody>
                  <a:bodyPr/>
                  <a:lstStyle/>
                  <a:p>
                    <a:r>
                      <a:rPr lang="en-US">
                        <a:noFill/>
                      </a:rPr>
                      <a:t> </a:t>
                    </a:r>
                  </a:p>
                </p:txBody>
              </p:sp>
            </mc:Fallback>
          </mc:AlternateContent>
        </p:grpSp>
        <p:cxnSp>
          <p:nvCxnSpPr>
            <p:cNvPr id="16" name="Straight Arrow Connector 15"/>
            <p:cNvCxnSpPr>
              <a:stCxn id="24" idx="2"/>
              <a:endCxn id="26" idx="6"/>
            </p:cNvCxnSpPr>
            <p:nvPr/>
          </p:nvCxnSpPr>
          <p:spPr>
            <a:xfrm flipH="1">
              <a:off x="6536097" y="3123944"/>
              <a:ext cx="739178"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7" name="Group 16"/>
            <p:cNvGrpSpPr/>
            <p:nvPr/>
          </p:nvGrpSpPr>
          <p:grpSpPr>
            <a:xfrm>
              <a:off x="5691108" y="2057400"/>
              <a:ext cx="1090692" cy="2544019"/>
              <a:chOff x="5691108" y="2057400"/>
              <a:chExt cx="1090692" cy="2544019"/>
            </a:xfrm>
          </p:grpSpPr>
          <p:sp>
            <p:nvSpPr>
              <p:cNvPr id="22" name="Rectangle 21"/>
              <p:cNvSpPr/>
              <p:nvPr/>
            </p:nvSpPr>
            <p:spPr>
              <a:xfrm>
                <a:off x="5867399" y="2057400"/>
                <a:ext cx="914401" cy="244602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p:cNvSpPr txBox="1"/>
                  <p:nvPr/>
                </p:nvSpPr>
                <p:spPr>
                  <a:xfrm>
                    <a:off x="5691108" y="4138137"/>
                    <a:ext cx="605970" cy="4632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solidFill>
                                <a:srgbClr val="000000"/>
                              </a:solidFill>
                              <a:latin typeface="Cambria Math"/>
                            </a:rPr>
                            <m:t>𝐾</m:t>
                          </m:r>
                        </m:oMath>
                      </m:oMathPara>
                    </a14:m>
                    <a:endParaRPr lang="en-US" sz="1100" dirty="0">
                      <a:solidFill>
                        <a:srgbClr val="000000"/>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5691108" y="4138137"/>
                    <a:ext cx="605970" cy="463282"/>
                  </a:xfrm>
                  <a:prstGeom prst="rect">
                    <a:avLst/>
                  </a:prstGeom>
                  <a:blipFill rotWithShape="1">
                    <a:blip r:embed="rId12"/>
                    <a:stretch>
                      <a:fillRect/>
                    </a:stretch>
                  </a:blipFill>
                </p:spPr>
                <p:txBody>
                  <a:bodyPr/>
                  <a:lstStyle/>
                  <a:p>
                    <a:r>
                      <a:rPr lang="en-US">
                        <a:noFill/>
                      </a:rPr>
                      <a:t> </a:t>
                    </a:r>
                  </a:p>
                </p:txBody>
              </p:sp>
            </mc:Fallback>
          </mc:AlternateContent>
        </p:grpSp>
        <p:grpSp>
          <p:nvGrpSpPr>
            <p:cNvPr id="18" name="Group 17"/>
            <p:cNvGrpSpPr/>
            <p:nvPr/>
          </p:nvGrpSpPr>
          <p:grpSpPr>
            <a:xfrm>
              <a:off x="901767" y="2971543"/>
              <a:ext cx="393633" cy="579073"/>
              <a:chOff x="649527" y="2971543"/>
              <a:chExt cx="393633" cy="579073"/>
            </a:xfrm>
          </p:grpSpPr>
          <p:sp>
            <p:nvSpPr>
              <p:cNvPr id="20" name="Oval 19"/>
              <p:cNvSpPr/>
              <p:nvPr/>
            </p:nvSpPr>
            <p:spPr>
              <a:xfrm>
                <a:off x="685800"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p:cNvSpPr txBox="1"/>
                  <p:nvPr/>
                </p:nvSpPr>
                <p:spPr>
                  <a:xfrm>
                    <a:off x="649527" y="3181283"/>
                    <a:ext cx="393633"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a:ea typeface="Cambria Math"/>
                            </a:rPr>
                            <m:t>𝛼</m:t>
                          </m:r>
                        </m:oMath>
                      </m:oMathPara>
                    </a14:m>
                    <a:endParaRPr lang="en-US" dirty="0">
                      <a:solidFill>
                        <a:srgbClr val="000000"/>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649527" y="3181283"/>
                    <a:ext cx="393633" cy="369333"/>
                  </a:xfrm>
                  <a:prstGeom prst="rect">
                    <a:avLst/>
                  </a:prstGeom>
                  <a:blipFill rotWithShape="1">
                    <a:blip r:embed="rId13"/>
                    <a:stretch>
                      <a:fillRect r="-37143" b="-55882"/>
                    </a:stretch>
                  </a:blipFill>
                </p:spPr>
                <p:txBody>
                  <a:bodyPr/>
                  <a:lstStyle/>
                  <a:p>
                    <a:r>
                      <a:rPr lang="en-US">
                        <a:noFill/>
                      </a:rPr>
                      <a:t> </a:t>
                    </a:r>
                  </a:p>
                </p:txBody>
              </p:sp>
            </mc:Fallback>
          </mc:AlternateContent>
        </p:grpSp>
        <p:cxnSp>
          <p:nvCxnSpPr>
            <p:cNvPr id="19" name="Straight Arrow Connector 18"/>
            <p:cNvCxnSpPr>
              <a:stCxn id="20" idx="6"/>
              <a:endCxn id="28" idx="2"/>
            </p:cNvCxnSpPr>
            <p:nvPr/>
          </p:nvCxnSpPr>
          <p:spPr>
            <a:xfrm>
              <a:off x="1242840" y="3123943"/>
              <a:ext cx="1195560"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pic>
        <p:nvPicPr>
          <p:cNvPr id="38" name="Picture 5" descr="C:\Users\310153563\Documents\GitHub\COPDBodyMedia_2nd_analysis\COPDBodyMedia2_paper\IEEEtran_windows_philips\figure\png\figure_10.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681623" y="3962400"/>
            <a:ext cx="3414377" cy="2560325"/>
          </a:xfrm>
          <a:prstGeom prst="rect">
            <a:avLst/>
          </a:prstGeom>
          <a:noFill/>
          <a:extLst>
            <a:ext uri="{909E8E84-426E-40DD-AFC4-6F175D3DCCD1}">
              <a14:hiddenFill xmlns:a14="http://schemas.microsoft.com/office/drawing/2010/main">
                <a:solidFill>
                  <a:srgbClr val="FFFFFF"/>
                </a:solidFill>
              </a14:hiddenFill>
            </a:ext>
          </a:extLst>
        </p:spPr>
      </p:pic>
      <p:grpSp>
        <p:nvGrpSpPr>
          <p:cNvPr id="67" name="Group 66"/>
          <p:cNvGrpSpPr>
            <a:grpSpLocks noChangeAspect="1"/>
          </p:cNvGrpSpPr>
          <p:nvPr/>
        </p:nvGrpSpPr>
        <p:grpSpPr>
          <a:xfrm>
            <a:off x="2506027" y="337536"/>
            <a:ext cx="3513773" cy="1986915"/>
            <a:chOff x="2066925" y="337535"/>
            <a:chExt cx="5019675" cy="2838450"/>
          </a:xfrm>
        </p:grpSpPr>
        <p:pic>
          <p:nvPicPr>
            <p:cNvPr id="40" name="Picture 4" descr="http://images.clipartpanda.com/book-20clip-20art-di855LndT.jpeg"/>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66925" y="337535"/>
              <a:ext cx="5019675" cy="2838450"/>
            </a:xfrm>
            <a:prstGeom prst="rect">
              <a:avLst/>
            </a:prstGeom>
            <a:noFill/>
            <a:extLst>
              <a:ext uri="{909E8E84-426E-40DD-AFC4-6F175D3DCCD1}">
                <a14:hiddenFill xmlns:a14="http://schemas.microsoft.com/office/drawing/2010/main">
                  <a:solidFill>
                    <a:srgbClr val="FFFFFF"/>
                  </a:solidFill>
                </a14:hiddenFill>
              </a:ext>
            </a:extLst>
          </p:spPr>
        </p:pic>
        <p:sp>
          <p:nvSpPr>
            <p:cNvPr id="41" name="CustomShape 6"/>
            <p:cNvSpPr/>
            <p:nvPr/>
          </p:nvSpPr>
          <p:spPr>
            <a:xfrm>
              <a:off x="2600324" y="735499"/>
              <a:ext cx="256271" cy="264154"/>
            </a:xfrm>
            <a:prstGeom prst="roundRect">
              <a:avLst>
                <a:gd name="adj" fmla="val 3600"/>
              </a:avLst>
            </a:prstGeom>
            <a:ln w="36000">
              <a:solidFill>
                <a:srgbClr val="2323DC"/>
              </a:solidFill>
              <a:round/>
            </a:ln>
          </p:spPr>
        </p:sp>
        <p:sp>
          <p:nvSpPr>
            <p:cNvPr id="42" name="CustomShape 12"/>
            <p:cNvSpPr/>
            <p:nvPr/>
          </p:nvSpPr>
          <p:spPr>
            <a:xfrm>
              <a:off x="2929389" y="735499"/>
              <a:ext cx="256271" cy="264154"/>
            </a:xfrm>
            <a:prstGeom prst="roundRect">
              <a:avLst>
                <a:gd name="adj" fmla="val 3600"/>
              </a:avLst>
            </a:prstGeom>
            <a:ln w="36000">
              <a:solidFill>
                <a:srgbClr val="E6FF00"/>
              </a:solidFill>
              <a:round/>
            </a:ln>
          </p:spPr>
        </p:sp>
        <p:sp>
          <p:nvSpPr>
            <p:cNvPr id="43" name="CustomShape 20"/>
            <p:cNvSpPr/>
            <p:nvPr/>
          </p:nvSpPr>
          <p:spPr>
            <a:xfrm>
              <a:off x="3261860" y="735499"/>
              <a:ext cx="256271" cy="264154"/>
            </a:xfrm>
            <a:prstGeom prst="roundRect">
              <a:avLst>
                <a:gd name="adj" fmla="val 3600"/>
              </a:avLst>
            </a:prstGeom>
            <a:ln w="36000">
              <a:solidFill>
                <a:srgbClr val="FF420E"/>
              </a:solidFill>
              <a:round/>
            </a:ln>
          </p:spPr>
        </p:sp>
        <p:sp>
          <p:nvSpPr>
            <p:cNvPr id="44" name="CustomShape 20_"/>
            <p:cNvSpPr/>
            <p:nvPr/>
          </p:nvSpPr>
          <p:spPr>
            <a:xfrm>
              <a:off x="3594331" y="735499"/>
              <a:ext cx="256271" cy="264154"/>
            </a:xfrm>
            <a:prstGeom prst="roundRect">
              <a:avLst>
                <a:gd name="adj" fmla="val 3600"/>
              </a:avLst>
            </a:prstGeom>
            <a:ln w="36000">
              <a:solidFill>
                <a:srgbClr val="FF420E"/>
              </a:solidFill>
              <a:round/>
            </a:ln>
          </p:spPr>
        </p:sp>
        <p:sp>
          <p:nvSpPr>
            <p:cNvPr id="45" name="CustomShape 6_"/>
            <p:cNvSpPr/>
            <p:nvPr/>
          </p:nvSpPr>
          <p:spPr>
            <a:xfrm>
              <a:off x="3921125" y="735499"/>
              <a:ext cx="256271" cy="264154"/>
            </a:xfrm>
            <a:prstGeom prst="roundRect">
              <a:avLst>
                <a:gd name="adj" fmla="val 3600"/>
              </a:avLst>
            </a:prstGeom>
            <a:ln w="36000">
              <a:solidFill>
                <a:srgbClr val="00B0F0"/>
              </a:solidFill>
              <a:round/>
            </a:ln>
          </p:spPr>
        </p:sp>
        <p:sp>
          <p:nvSpPr>
            <p:cNvPr id="46" name="CustomShape 6__"/>
            <p:cNvSpPr/>
            <p:nvPr/>
          </p:nvSpPr>
          <p:spPr>
            <a:xfrm>
              <a:off x="2600324" y="1074124"/>
              <a:ext cx="256271" cy="264154"/>
            </a:xfrm>
            <a:prstGeom prst="roundRect">
              <a:avLst>
                <a:gd name="adj" fmla="val 3600"/>
              </a:avLst>
            </a:prstGeom>
            <a:ln w="36000">
              <a:solidFill>
                <a:srgbClr val="00B0F0"/>
              </a:solidFill>
              <a:round/>
            </a:ln>
          </p:spPr>
        </p:sp>
        <p:sp>
          <p:nvSpPr>
            <p:cNvPr id="47" name="CustomShape 12_"/>
            <p:cNvSpPr/>
            <p:nvPr/>
          </p:nvSpPr>
          <p:spPr>
            <a:xfrm>
              <a:off x="2929388" y="1085124"/>
              <a:ext cx="256271" cy="264154"/>
            </a:xfrm>
            <a:prstGeom prst="roundRect">
              <a:avLst>
                <a:gd name="adj" fmla="val 3600"/>
              </a:avLst>
            </a:prstGeom>
            <a:ln w="36000">
              <a:solidFill>
                <a:srgbClr val="E6FF00"/>
              </a:solidFill>
              <a:round/>
            </a:ln>
          </p:spPr>
        </p:sp>
        <p:sp>
          <p:nvSpPr>
            <p:cNvPr id="48" name="CustomShape 20__"/>
            <p:cNvSpPr/>
            <p:nvPr/>
          </p:nvSpPr>
          <p:spPr>
            <a:xfrm>
              <a:off x="3264130" y="1066395"/>
              <a:ext cx="256271" cy="264154"/>
            </a:xfrm>
            <a:prstGeom prst="roundRect">
              <a:avLst>
                <a:gd name="adj" fmla="val 3600"/>
              </a:avLst>
            </a:prstGeom>
            <a:ln w="36000">
              <a:solidFill>
                <a:srgbClr val="FF420E"/>
              </a:solidFill>
              <a:round/>
            </a:ln>
          </p:spPr>
        </p:sp>
        <p:sp>
          <p:nvSpPr>
            <p:cNvPr id="49" name="CustomShape 6___"/>
            <p:cNvSpPr/>
            <p:nvPr/>
          </p:nvSpPr>
          <p:spPr>
            <a:xfrm>
              <a:off x="3600681" y="1066395"/>
              <a:ext cx="256271" cy="264154"/>
            </a:xfrm>
            <a:prstGeom prst="roundRect">
              <a:avLst>
                <a:gd name="adj" fmla="val 3600"/>
              </a:avLst>
            </a:prstGeom>
            <a:ln w="36000">
              <a:solidFill>
                <a:srgbClr val="00B0F0"/>
              </a:solidFill>
              <a:round/>
            </a:ln>
          </p:spPr>
        </p:sp>
        <p:sp>
          <p:nvSpPr>
            <p:cNvPr id="50" name="CustomShape 20___"/>
            <p:cNvSpPr/>
            <p:nvPr/>
          </p:nvSpPr>
          <p:spPr>
            <a:xfrm>
              <a:off x="3921124" y="1065990"/>
              <a:ext cx="256271" cy="264154"/>
            </a:xfrm>
            <a:prstGeom prst="roundRect">
              <a:avLst>
                <a:gd name="adj" fmla="val 3600"/>
              </a:avLst>
            </a:prstGeom>
            <a:ln w="36000">
              <a:solidFill>
                <a:srgbClr val="FF420E"/>
              </a:solidFill>
              <a:round/>
            </a:ln>
          </p:spPr>
        </p:sp>
        <p:sp>
          <p:nvSpPr>
            <p:cNvPr id="51" name="CustomShape 6____"/>
            <p:cNvSpPr/>
            <p:nvPr/>
          </p:nvSpPr>
          <p:spPr>
            <a:xfrm>
              <a:off x="2600325" y="1412246"/>
              <a:ext cx="256271" cy="264154"/>
            </a:xfrm>
            <a:prstGeom prst="roundRect">
              <a:avLst>
                <a:gd name="adj" fmla="val 3600"/>
              </a:avLst>
            </a:prstGeom>
            <a:ln w="36000">
              <a:solidFill>
                <a:srgbClr val="2323DC"/>
              </a:solidFill>
              <a:round/>
            </a:ln>
          </p:spPr>
        </p:sp>
        <p:sp>
          <p:nvSpPr>
            <p:cNvPr id="52" name="CustomShape 12__"/>
            <p:cNvSpPr/>
            <p:nvPr/>
          </p:nvSpPr>
          <p:spPr>
            <a:xfrm>
              <a:off x="2929390" y="1412246"/>
              <a:ext cx="256271" cy="264154"/>
            </a:xfrm>
            <a:prstGeom prst="roundRect">
              <a:avLst>
                <a:gd name="adj" fmla="val 3600"/>
              </a:avLst>
            </a:prstGeom>
            <a:ln w="36000">
              <a:solidFill>
                <a:srgbClr val="E6FF00"/>
              </a:solidFill>
              <a:round/>
            </a:ln>
          </p:spPr>
        </p:sp>
        <p:sp>
          <p:nvSpPr>
            <p:cNvPr id="53" name="CustomShape 20____"/>
            <p:cNvSpPr/>
            <p:nvPr/>
          </p:nvSpPr>
          <p:spPr>
            <a:xfrm>
              <a:off x="3261861" y="1412246"/>
              <a:ext cx="256271" cy="264154"/>
            </a:xfrm>
            <a:prstGeom prst="roundRect">
              <a:avLst>
                <a:gd name="adj" fmla="val 3600"/>
              </a:avLst>
            </a:prstGeom>
            <a:ln w="36000">
              <a:solidFill>
                <a:srgbClr val="FF420E"/>
              </a:solidFill>
              <a:round/>
            </a:ln>
          </p:spPr>
        </p:sp>
        <p:sp>
          <p:nvSpPr>
            <p:cNvPr id="54" name="CustomShape 12___"/>
            <p:cNvSpPr/>
            <p:nvPr/>
          </p:nvSpPr>
          <p:spPr>
            <a:xfrm>
              <a:off x="3590925" y="1412246"/>
              <a:ext cx="256271" cy="264154"/>
            </a:xfrm>
            <a:prstGeom prst="roundRect">
              <a:avLst>
                <a:gd name="adj" fmla="val 3600"/>
              </a:avLst>
            </a:prstGeom>
            <a:ln w="36000">
              <a:solidFill>
                <a:srgbClr val="E6FF00"/>
              </a:solidFill>
              <a:round/>
            </a:ln>
          </p:spPr>
        </p:sp>
        <p:sp>
          <p:nvSpPr>
            <p:cNvPr id="55" name="CustomShape 20_____"/>
            <p:cNvSpPr/>
            <p:nvPr/>
          </p:nvSpPr>
          <p:spPr>
            <a:xfrm>
              <a:off x="3920913" y="1416513"/>
              <a:ext cx="256271" cy="264154"/>
            </a:xfrm>
            <a:prstGeom prst="roundRect">
              <a:avLst>
                <a:gd name="adj" fmla="val 3600"/>
              </a:avLst>
            </a:prstGeom>
            <a:ln w="36000">
              <a:solidFill>
                <a:srgbClr val="FF420E"/>
              </a:solidFill>
              <a:round/>
            </a:ln>
          </p:spPr>
        </p:sp>
        <p:sp>
          <p:nvSpPr>
            <p:cNvPr id="56" name="CustomShape 6_____"/>
            <p:cNvSpPr/>
            <p:nvPr/>
          </p:nvSpPr>
          <p:spPr>
            <a:xfrm>
              <a:off x="2600323" y="1756760"/>
              <a:ext cx="256271" cy="264154"/>
            </a:xfrm>
            <a:prstGeom prst="roundRect">
              <a:avLst>
                <a:gd name="adj" fmla="val 3600"/>
              </a:avLst>
            </a:prstGeom>
            <a:ln w="36000">
              <a:solidFill>
                <a:srgbClr val="00B0F0"/>
              </a:solidFill>
              <a:round/>
            </a:ln>
          </p:spPr>
        </p:sp>
        <p:sp>
          <p:nvSpPr>
            <p:cNvPr id="57" name="CustomShape 6______"/>
            <p:cNvSpPr/>
            <p:nvPr/>
          </p:nvSpPr>
          <p:spPr>
            <a:xfrm>
              <a:off x="2929387" y="1756760"/>
              <a:ext cx="256271" cy="264154"/>
            </a:xfrm>
            <a:prstGeom prst="roundRect">
              <a:avLst>
                <a:gd name="adj" fmla="val 3600"/>
              </a:avLst>
            </a:prstGeom>
            <a:ln w="36000">
              <a:solidFill>
                <a:srgbClr val="00B0F0"/>
              </a:solidFill>
              <a:round/>
            </a:ln>
          </p:spPr>
        </p:sp>
        <p:sp>
          <p:nvSpPr>
            <p:cNvPr id="58" name="TextBox 57"/>
            <p:cNvSpPr txBox="1"/>
            <p:nvPr/>
          </p:nvSpPr>
          <p:spPr>
            <a:xfrm>
              <a:off x="3209925" y="1676401"/>
              <a:ext cx="1014866" cy="527617"/>
            </a:xfrm>
            <a:prstGeom prst="rect">
              <a:avLst/>
            </a:prstGeom>
            <a:noFill/>
          </p:spPr>
          <p:txBody>
            <a:bodyPr wrap="square" rtlCol="0">
              <a:spAutoFit/>
            </a:bodyPr>
            <a:lstStyle/>
            <a:p>
              <a:r>
                <a:rPr lang="en-US" dirty="0" smtClean="0"/>
                <a:t>… …</a:t>
              </a:r>
              <a:endParaRPr lang="en-US" dirty="0"/>
            </a:p>
          </p:txBody>
        </p:sp>
        <p:sp>
          <p:nvSpPr>
            <p:cNvPr id="60" name="TextBox 59"/>
            <p:cNvSpPr txBox="1"/>
            <p:nvPr/>
          </p:nvSpPr>
          <p:spPr>
            <a:xfrm>
              <a:off x="4576762" y="777286"/>
              <a:ext cx="2052637" cy="369332"/>
            </a:xfrm>
            <a:prstGeom prst="rect">
              <a:avLst/>
            </a:prstGeom>
            <a:noFill/>
          </p:spPr>
          <p:txBody>
            <a:bodyPr wrap="square" rtlCol="0">
              <a:spAutoFit/>
            </a:bodyPr>
            <a:lstStyle/>
            <a:p>
              <a:r>
                <a:rPr lang="en-US" dirty="0" smtClean="0"/>
                <a:t>… … … … … … … …</a:t>
              </a:r>
              <a:endParaRPr lang="en-US" dirty="0"/>
            </a:p>
          </p:txBody>
        </p:sp>
        <p:sp>
          <p:nvSpPr>
            <p:cNvPr id="61" name="TextBox 60"/>
            <p:cNvSpPr txBox="1"/>
            <p:nvPr/>
          </p:nvSpPr>
          <p:spPr>
            <a:xfrm>
              <a:off x="4576762" y="1131046"/>
              <a:ext cx="2052637" cy="527617"/>
            </a:xfrm>
            <a:prstGeom prst="rect">
              <a:avLst/>
            </a:prstGeom>
            <a:noFill/>
          </p:spPr>
          <p:txBody>
            <a:bodyPr wrap="square" rtlCol="0">
              <a:spAutoFit/>
            </a:bodyPr>
            <a:lstStyle/>
            <a:p>
              <a:endParaRPr lang="en-US" dirty="0"/>
            </a:p>
          </p:txBody>
        </p:sp>
        <p:sp>
          <p:nvSpPr>
            <p:cNvPr id="62" name="TextBox 61"/>
            <p:cNvSpPr txBox="1"/>
            <p:nvPr/>
          </p:nvSpPr>
          <p:spPr>
            <a:xfrm>
              <a:off x="4576762" y="1544324"/>
              <a:ext cx="2052637" cy="527617"/>
            </a:xfrm>
            <a:prstGeom prst="rect">
              <a:avLst/>
            </a:prstGeom>
            <a:noFill/>
          </p:spPr>
          <p:txBody>
            <a:bodyPr wrap="square" rtlCol="0">
              <a:spAutoFit/>
            </a:bodyPr>
            <a:lstStyle/>
            <a:p>
              <a:r>
                <a:rPr lang="en-US" dirty="0" smtClean="0"/>
                <a:t>… … … … … …</a:t>
              </a:r>
              <a:endParaRPr lang="en-US" dirty="0"/>
            </a:p>
          </p:txBody>
        </p:sp>
        <p:sp>
          <p:nvSpPr>
            <p:cNvPr id="63" name="CustomShape 20______"/>
            <p:cNvSpPr/>
            <p:nvPr/>
          </p:nvSpPr>
          <p:spPr>
            <a:xfrm>
              <a:off x="4733925" y="1973251"/>
              <a:ext cx="256271" cy="264154"/>
            </a:xfrm>
            <a:prstGeom prst="roundRect">
              <a:avLst>
                <a:gd name="adj" fmla="val 3600"/>
              </a:avLst>
            </a:prstGeom>
            <a:ln w="36000">
              <a:solidFill>
                <a:srgbClr val="FF420E"/>
              </a:solidFill>
              <a:round/>
            </a:ln>
          </p:spPr>
        </p:sp>
        <p:sp>
          <p:nvSpPr>
            <p:cNvPr id="64" name="CustomShape 12____"/>
            <p:cNvSpPr/>
            <p:nvPr/>
          </p:nvSpPr>
          <p:spPr>
            <a:xfrm>
              <a:off x="5114925" y="1973251"/>
              <a:ext cx="256271" cy="264154"/>
            </a:xfrm>
            <a:prstGeom prst="roundRect">
              <a:avLst>
                <a:gd name="adj" fmla="val 3600"/>
              </a:avLst>
            </a:prstGeom>
            <a:ln w="36000">
              <a:solidFill>
                <a:srgbClr val="E6FF00"/>
              </a:solidFill>
              <a:round/>
            </a:ln>
          </p:spPr>
        </p:sp>
        <p:sp>
          <p:nvSpPr>
            <p:cNvPr id="65" name="CustomShape 6_______"/>
            <p:cNvSpPr/>
            <p:nvPr/>
          </p:nvSpPr>
          <p:spPr>
            <a:xfrm>
              <a:off x="5474944" y="1968829"/>
              <a:ext cx="256271" cy="264154"/>
            </a:xfrm>
            <a:prstGeom prst="roundRect">
              <a:avLst>
                <a:gd name="adj" fmla="val 3600"/>
              </a:avLst>
            </a:prstGeom>
            <a:ln w="36000">
              <a:solidFill>
                <a:srgbClr val="00B0F0"/>
              </a:solidFill>
              <a:round/>
            </a:ln>
          </p:spPr>
        </p:sp>
        <p:sp>
          <p:nvSpPr>
            <p:cNvPr id="66" name="CustomShape 6________"/>
            <p:cNvSpPr/>
            <p:nvPr/>
          </p:nvSpPr>
          <p:spPr>
            <a:xfrm>
              <a:off x="5883615" y="1968829"/>
              <a:ext cx="256271" cy="264154"/>
            </a:xfrm>
            <a:prstGeom prst="roundRect">
              <a:avLst>
                <a:gd name="adj" fmla="val 3600"/>
              </a:avLst>
            </a:prstGeom>
            <a:ln w="36000">
              <a:solidFill>
                <a:srgbClr val="00B0F0"/>
              </a:solidFill>
              <a:round/>
            </a:ln>
          </p:spPr>
        </p:sp>
      </p:grpSp>
      <p:sp>
        <p:nvSpPr>
          <p:cNvPr id="68" name="TextBox 67"/>
          <p:cNvSpPr txBox="1"/>
          <p:nvPr/>
        </p:nvSpPr>
        <p:spPr>
          <a:xfrm>
            <a:off x="2909107" y="1447800"/>
            <a:ext cx="1436846" cy="369332"/>
          </a:xfrm>
          <a:prstGeom prst="rect">
            <a:avLst/>
          </a:prstGeom>
          <a:noFill/>
        </p:spPr>
        <p:txBody>
          <a:bodyPr wrap="square" rtlCol="0">
            <a:spAutoFit/>
          </a:bodyPr>
          <a:lstStyle/>
          <a:p>
            <a:r>
              <a:rPr lang="en-US" dirty="0" smtClean="0"/>
              <a:t>… … … … …</a:t>
            </a:r>
            <a:endParaRPr lang="en-US" dirty="0"/>
          </a:p>
        </p:txBody>
      </p:sp>
      <p:cxnSp>
        <p:nvCxnSpPr>
          <p:cNvPr id="70" name="Straight Arrow Connector 69"/>
          <p:cNvCxnSpPr>
            <a:stCxn id="41" idx="2"/>
            <a:endCxn id="34" idx="7"/>
          </p:cNvCxnSpPr>
          <p:nvPr/>
        </p:nvCxnSpPr>
        <p:spPr>
          <a:xfrm>
            <a:off x="2969101" y="801019"/>
            <a:ext cx="1181662"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42" idx="2"/>
            <a:endCxn id="34" idx="7"/>
          </p:cNvCxnSpPr>
          <p:nvPr/>
        </p:nvCxnSpPr>
        <p:spPr>
          <a:xfrm>
            <a:off x="3199447" y="801019"/>
            <a:ext cx="951316"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43" idx="2"/>
            <a:endCxn id="34" idx="7"/>
          </p:cNvCxnSpPr>
          <p:nvPr/>
        </p:nvCxnSpPr>
        <p:spPr>
          <a:xfrm>
            <a:off x="3432177" y="801019"/>
            <a:ext cx="718586"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44" idx="2"/>
            <a:endCxn id="34" idx="7"/>
          </p:cNvCxnSpPr>
          <p:nvPr/>
        </p:nvCxnSpPr>
        <p:spPr>
          <a:xfrm>
            <a:off x="3664906" y="801019"/>
            <a:ext cx="485857"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64" idx="2"/>
            <a:endCxn id="34" idx="1"/>
          </p:cNvCxnSpPr>
          <p:nvPr/>
        </p:nvCxnSpPr>
        <p:spPr>
          <a:xfrm flipH="1">
            <a:off x="4266433" y="1667445"/>
            <a:ext cx="462889" cy="13235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65" idx="2"/>
            <a:endCxn id="34" idx="1"/>
          </p:cNvCxnSpPr>
          <p:nvPr/>
        </p:nvCxnSpPr>
        <p:spPr>
          <a:xfrm flipH="1">
            <a:off x="4266433" y="1664350"/>
            <a:ext cx="714903" cy="13266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66" idx="2"/>
            <a:endCxn id="34" idx="1"/>
          </p:cNvCxnSpPr>
          <p:nvPr/>
        </p:nvCxnSpPr>
        <p:spPr>
          <a:xfrm flipH="1">
            <a:off x="4266433" y="1664350"/>
            <a:ext cx="1000972" cy="13266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63" idx="2"/>
            <a:endCxn id="34" idx="1"/>
          </p:cNvCxnSpPr>
          <p:nvPr/>
        </p:nvCxnSpPr>
        <p:spPr>
          <a:xfrm flipH="1">
            <a:off x="4266433" y="1667445"/>
            <a:ext cx="196189" cy="13235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20089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Picture 7" descr="C:\Users\310153563\Documents\GitHub\COPDBodyMedia_2nd_analysis\COPDBodyMedia2_paper\IEEEtran_windows_philips\figure\eps\figure_4_1_copd_weekday_gly.e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14400"/>
            <a:ext cx="7075170" cy="119443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Users\310153563\Documents\GitHub\COPDBodyMedia_2nd_analysis\COPDBodyMedia2_paper\IEEEtran_windows_philips\figure\eps\figure_4_1_healthy_weekday_gly.e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386965"/>
            <a:ext cx="7075170" cy="119443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 descr="C:\Users\310153563\Documents\GitHub\COPDBodyMedia_2nd_analysis\COPDBodyMedia2_paper\IEEEtran_windows_philips\figure\png\figure_10.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81623" y="3962400"/>
            <a:ext cx="3414377" cy="25603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371600" y="609600"/>
            <a:ext cx="5562600" cy="369332"/>
          </a:xfrm>
          <a:prstGeom prst="rect">
            <a:avLst/>
          </a:prstGeom>
          <a:noFill/>
        </p:spPr>
        <p:txBody>
          <a:bodyPr wrap="square" rtlCol="0">
            <a:spAutoFit/>
          </a:bodyPr>
          <a:lstStyle/>
          <a:p>
            <a:pPr algn="ctr"/>
            <a:r>
              <a:rPr lang="en-US" dirty="0" smtClean="0">
                <a:solidFill>
                  <a:sysClr val="windowText" lastClr="000000"/>
                </a:solidFill>
              </a:rPr>
              <a:t>COPD patient</a:t>
            </a:r>
            <a:endParaRPr lang="en-US" dirty="0">
              <a:solidFill>
                <a:sysClr val="windowText" lastClr="000000"/>
              </a:solidFill>
            </a:endParaRPr>
          </a:p>
        </p:txBody>
      </p:sp>
      <p:sp>
        <p:nvSpPr>
          <p:cNvPr id="6" name="TextBox 5"/>
          <p:cNvSpPr txBox="1"/>
          <p:nvPr/>
        </p:nvSpPr>
        <p:spPr>
          <a:xfrm>
            <a:off x="1350852" y="2096009"/>
            <a:ext cx="5583348" cy="369332"/>
          </a:xfrm>
          <a:prstGeom prst="rect">
            <a:avLst/>
          </a:prstGeom>
          <a:noFill/>
        </p:spPr>
        <p:txBody>
          <a:bodyPr wrap="square" rtlCol="0">
            <a:spAutoFit/>
          </a:bodyPr>
          <a:lstStyle/>
          <a:p>
            <a:pPr algn="ctr"/>
            <a:r>
              <a:rPr lang="en-US" dirty="0" smtClean="0">
                <a:solidFill>
                  <a:sysClr val="windowText" lastClr="000000"/>
                </a:solidFill>
              </a:rPr>
              <a:t>Healthy subject</a:t>
            </a:r>
            <a:endParaRPr lang="en-US" dirty="0">
              <a:solidFill>
                <a:sysClr val="windowText" lastClr="000000"/>
              </a:solidFill>
            </a:endParaRPr>
          </a:p>
        </p:txBody>
      </p:sp>
    </p:spTree>
    <p:extLst>
      <p:ext uri="{BB962C8B-B14F-4D97-AF65-F5344CB8AC3E}">
        <p14:creationId xmlns:p14="http://schemas.microsoft.com/office/powerpoint/2010/main" val="35479364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descr="C:\Users\310153563\Documents\GitHub\COPDBodyMedia_2nd_analysis\COPDBodyMedia2_paper\IEEEtran_windows_philips\figure\png\figure_7_trend_all_weekda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0"/>
            <a:ext cx="5691188" cy="42672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C:\Users\310153563\Documents\GitHub\COPDBodyMedia_2nd_analysis\COPDBodyMedia2_paper\IEEEtran_windows_philips\figure\png\figure_1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81623" y="3962400"/>
            <a:ext cx="3414377" cy="256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0864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descr="C:\Users\310153563\Documents\GitHub\COPDBodyMedia_2nd_analysis\COPDBodyMedia2_paper\IEEEtran_windows_philips\figure\png\figure_7_trend_all_weekda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609600"/>
            <a:ext cx="5691188" cy="4267200"/>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le 5"/>
          <p:cNvSpPr/>
          <p:nvPr/>
        </p:nvSpPr>
        <p:spPr>
          <a:xfrm>
            <a:off x="5943600" y="1246359"/>
            <a:ext cx="609600" cy="152400"/>
          </a:xfrm>
          <a:prstGeom prst="roundRect">
            <a:avLst/>
          </a:prstGeom>
          <a:solidFill>
            <a:schemeClr val="accent1">
              <a:alpha val="2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960205" y="2017412"/>
            <a:ext cx="609600" cy="152400"/>
          </a:xfrm>
          <a:prstGeom prst="roundRect">
            <a:avLst/>
          </a:prstGeom>
          <a:solidFill>
            <a:schemeClr val="accent1">
              <a:alpha val="2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967757" y="2276947"/>
            <a:ext cx="609600" cy="152400"/>
          </a:xfrm>
          <a:prstGeom prst="roundRect">
            <a:avLst/>
          </a:prstGeom>
          <a:solidFill>
            <a:schemeClr val="accent1">
              <a:alpha val="2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111083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FONT" val="SlideFooterFontC"/>
  <p:tag name="FONTSETCLASSNAME" val="FontSet1"/>
  <p:tag name="COLORS" val="-2;-2;-2;-2;SlideFooterFontColorDark;-2"/>
  <p:tag name="COLORSETCLASSNAME" val="ColorSet1"/>
  <p:tag name="SCRIPT" val="1"/>
  <p:tag name="FIELDS" val="DATE;DIVISION;ADDINFO;"/>
  <p:tag name="MLI" val="1"/>
  <p:tag name="SHAPESETGROUPCLASSNAME" val="ShapeSetGroup2"/>
  <p:tag name="SHAPESETCLASSNAME" val="FORMCOLORTEXT01"/>
  <p:tag name="COLORSETGROUPCLASSNAME" val="ColorSetGroupLight"/>
  <p:tag name="FONTSETGROUPCLASSNAME" val="FontSetGroup1"/>
  <p:tag name="SHAPECLASSNAME" val="FLineInfo1BlackG1S3"/>
  <p:tag name="SHAPECLASSPROTECTIONTYPE" val="63"/>
</p:tagLst>
</file>

<file path=ppt/tags/tag2.xml><?xml version="1.0" encoding="utf-8"?>
<p:tagLst xmlns:a="http://schemas.openxmlformats.org/drawingml/2006/main" xmlns:r="http://schemas.openxmlformats.org/officeDocument/2006/relationships" xmlns:p="http://schemas.openxmlformats.org/presentationml/2006/main">
  <p:tag name="FONT" val="SlidePageNumberFontC"/>
  <p:tag name="FONTSETCLASSNAME" val="FontSet1"/>
  <p:tag name="COLORS" val="-2;-2;-2;-2;SlidePageNoFontColorLight;-2"/>
  <p:tag name="COLORSETCLASSNAME" val="ColorSet1"/>
  <p:tag name="SCRIPT" val="1"/>
  <p:tag name="MLI" val="1"/>
  <p:tag name="SHAPESETGROUPCLASSNAME" val="ShapeSetGroup2"/>
  <p:tag name="SHAPESETCLASSNAME" val="COLORSLIDE01"/>
  <p:tag name="COLORSETGROUPCLASSNAME" val="ColorSetGroupLight"/>
  <p:tag name="FONTSETGROUPCLASSNAME" val="FontSetGroup1"/>
  <p:tag name="SHAPECLASSNAME" val="PageNoWhiteG1S3"/>
  <p:tag name="SHAPECLASSPROTECTIONTYPE" val="47"/>
</p:tagLst>
</file>

<file path=ppt/tags/tag3.xml><?xml version="1.0" encoding="utf-8"?>
<p:tagLst xmlns:a="http://schemas.openxmlformats.org/drawingml/2006/main" xmlns:r="http://schemas.openxmlformats.org/officeDocument/2006/relationships" xmlns:p="http://schemas.openxmlformats.org/presentationml/2006/main">
  <p:tag name="SHAPECLASSNAME" val="CustFormCol001RoundSingleCornerRectangle"/>
  <p:tag name="COLORSETCLASSNAME" val="ColorSet1"/>
  <p:tag name="COLORS" val="-1;Scheme9;-2;-2;-1;-2"/>
</p:tagLst>
</file>

<file path=ppt/tags/tag4.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IMAGETEXT01"/>
  <p:tag name="COLORSETGROUPCLASSNAME" val="ColorSetGroupLight"/>
  <p:tag name="FONTSETGROUPCLASSNAME" val="FontSetGroup1"/>
  <p:tag name="SHAPECLASSNAME" val="PhilipsLogoTitle"/>
  <p:tag name="SHAPECLASSFILE" val="PHGMCWORDMARK2008$C.emf"/>
  <p:tag name="SHAPECLASSPROTECTIONTYPE" val="31"/>
</p:tagLst>
</file>

<file path=ppt/tags/tag5.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6.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7.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8.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9.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10.xml><?xml version="1.0" encoding="utf-8"?>
<p:tagLst xmlns:a="http://schemas.openxmlformats.org/drawingml/2006/main" xmlns:r="http://schemas.openxmlformats.org/officeDocument/2006/relationships" xmlns:p="http://schemas.openxmlformats.org/presentationml/2006/main">
  <p:tag name="SHAPECLASSNAME" val="CustFormEnd001Rectangle"/>
</p:tagLst>
</file>

<file path=ppt/theme/theme1.xml><?xml version="1.0" encoding="utf-8"?>
<a:theme xmlns:a="http://schemas.openxmlformats.org/drawingml/2006/main" name="philips_internal_documentation_template_nov13">
  <a:themeElements>
    <a:clrScheme name="PhCST">
      <a:dk1>
        <a:srgbClr val="000000"/>
      </a:dk1>
      <a:lt1>
        <a:srgbClr val="FFFFFF"/>
      </a:lt1>
      <a:dk2>
        <a:srgbClr val="000000"/>
      </a:dk2>
      <a:lt2>
        <a:srgbClr val="CCCEDB"/>
      </a:lt2>
      <a:accent1>
        <a:srgbClr val="0089C4"/>
      </a:accent1>
      <a:accent2>
        <a:srgbClr val="1E9D8B"/>
      </a:accent2>
      <a:accent3>
        <a:srgbClr val="5B8F22"/>
      </a:accent3>
      <a:accent4>
        <a:srgbClr val="E98300"/>
      </a:accent4>
      <a:accent5>
        <a:srgbClr val="CD202C"/>
      </a:accent5>
      <a:accent6>
        <a:srgbClr val="7D0063"/>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philips_internal_documentation_template_nov13.pptx" id="{DE36B277-C83F-4A85-9819-A77CE0CA1F6F}" vid="{FCDF7755-76C1-4ABB-A274-22B823C3C8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philips_internal_documentation_template_nov13</Template>
  <TotalTime>1283</TotalTime>
  <Words>1323</Words>
  <Application>Microsoft Office PowerPoint</Application>
  <PresentationFormat>On-screen Show (4:3)</PresentationFormat>
  <Paragraphs>132</Paragraphs>
  <Slides>29</Slides>
  <Notes>8</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philips_internal_documentation_template_nov13</vt:lpstr>
      <vt:lpstr>PowerPoint Presentation</vt:lpstr>
      <vt:lpstr>PowerPoint Presentation</vt:lpstr>
      <vt:lpstr>Introduction</vt:lpstr>
      <vt:lpstr>Smartphone monitoring and training approaches</vt:lpstr>
      <vt:lpstr>Smartphone monitoring and training approaches</vt:lpstr>
      <vt:lpstr>New insights in COPD</vt:lpstr>
      <vt:lpstr>New insights in COPD</vt:lpstr>
      <vt:lpstr>New monitoring solutions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Philips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Brinker, Bert den</dc:creator>
  <dc:description>Version 6.4 - 1.0</dc:description>
  <cp:lastModifiedBy>Gabriele</cp:lastModifiedBy>
  <cp:revision>144</cp:revision>
  <dcterms:created xsi:type="dcterms:W3CDTF">2013-12-17T10:24:36Z</dcterms:created>
  <dcterms:modified xsi:type="dcterms:W3CDTF">2015-02-24T14:53:45Z</dcterms:modified>
</cp:coreProperties>
</file>