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7" r:id="rId3"/>
    <p:sldId id="337" r:id="rId4"/>
    <p:sldId id="338" r:id="rId5"/>
    <p:sldId id="347" r:id="rId6"/>
    <p:sldId id="340" r:id="rId7"/>
    <p:sldId id="348" r:id="rId8"/>
    <p:sldId id="349" r:id="rId9"/>
    <p:sldId id="343" r:id="rId10"/>
    <p:sldId id="345" r:id="rId11"/>
    <p:sldId id="342" r:id="rId12"/>
    <p:sldId id="262" r:id="rId13"/>
    <p:sldId id="344" r:id="rId14"/>
    <p:sldId id="346" r:id="rId15"/>
  </p:sldIdLst>
  <p:sldSz cx="9144000" cy="6858000" type="screen4x3"/>
  <p:notesSz cx="6858000" cy="9144000"/>
  <p:defaultTextStyle>
    <a:defPPr>
      <a:defRPr lang="de-D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79" autoAdjust="0"/>
    <p:restoredTop sz="93254" autoAdjust="0"/>
  </p:normalViewPr>
  <p:slideViewPr>
    <p:cSldViewPr>
      <p:cViewPr varScale="1">
        <p:scale>
          <a:sx n="105" d="100"/>
          <a:sy n="105" d="100"/>
        </p:scale>
        <p:origin x="-1452"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207D806-EC0F-453C-BC29-DB4D6E191795}" type="datetimeFigureOut">
              <a:rPr lang="en-US"/>
              <a:pPr>
                <a:defRPr/>
              </a:pPr>
              <a:t>6/30/2015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637F81A1-9ED6-4669-A3D8-34DFF824124C}" type="slidenum">
              <a:rPr lang="en-US"/>
              <a:pPr>
                <a:defRPr/>
              </a:pPr>
              <a:t>‹#›</a:t>
            </a:fld>
            <a:endParaRPr lang="en-US" dirty="0"/>
          </a:p>
        </p:txBody>
      </p:sp>
    </p:spTree>
    <p:extLst>
      <p:ext uri="{BB962C8B-B14F-4D97-AF65-F5344CB8AC3E}">
        <p14:creationId xmlns:p14="http://schemas.microsoft.com/office/powerpoint/2010/main" val="16082611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it-IT" smtClean="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C382387-3E42-4AEB-8A24-6F31FDE26860}" type="slidenum">
              <a:rPr lang="en-US" altLang="it-IT" smtClean="0"/>
              <a:pPr eaLnBrk="1" hangingPunct="1">
                <a:spcBef>
                  <a:spcPct val="0"/>
                </a:spcBef>
              </a:pPr>
              <a:t>1</a:t>
            </a:fld>
            <a:endParaRPr lang="en-US" altLang="it-IT"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it-IT" smtClean="0"/>
              <a:t>Investigate the feasibility of using unobtrusive technologies (smartphones, sensor network technology) in order to provide useful and modular patient training and monitoring methodologies that allow to capture physiological information (i.e., heart activity, oxygen saturation, breathing sounds), physical activity, patient data, and environmental context.</a:t>
            </a:r>
          </a:p>
          <a:p>
            <a:endParaRPr lang="en-US" altLang="it-IT" smtClean="0"/>
          </a:p>
          <a:p>
            <a:r>
              <a:rPr lang="en-US" altLang="it-IT" smtClean="0"/>
              <a:t>Signal processing and machine learning methods will be investigated to develop reliable algorithms to derive COPD relevant indicators and trends including patient characteristics, physical state, activity and behavior patterns. The information extracted will be mapped to clinically meaningful metrics of the overall physiologic and functional status of COPD patients. The development of daily routine analysis and automatic segmentation based on physiological information will be used to obtain objective patient's behavioral assessment and new markers of patient's improvements under laboratory (pulmonary rehabilitation) and (if possible) free living conditions. The algorithms will be the basis for risk classification of patients for developing an exacerbation and continuous home coaching and training.</a:t>
            </a:r>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0DE0E56-2AC5-4903-B3BC-D814D2533F19}" type="slidenum">
              <a:rPr lang="en-US" altLang="it-IT" smtClean="0"/>
              <a:pPr eaLnBrk="1" hangingPunct="1">
                <a:spcBef>
                  <a:spcPct val="0"/>
                </a:spcBef>
              </a:pPr>
              <a:t>2</a:t>
            </a:fld>
            <a:endParaRPr lang="en-US" altLang="it-IT"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3</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4</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5</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6</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11</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6" name="Rechteck 10"/>
          <p:cNvSpPr>
            <a:spLocks/>
          </p:cNvSpPr>
          <p:nvPr userDrawn="1">
            <p:custDataLst>
              <p:tags r:id="rId1"/>
            </p:custDataLst>
          </p:nvPr>
        </p:nvSpPr>
        <p:spPr bwMode="auto">
          <a:xfrm>
            <a:off x="233363" y="233363"/>
            <a:ext cx="8685212" cy="5637212"/>
          </a:xfrm>
          <a:custGeom>
            <a:avLst/>
            <a:gdLst>
              <a:gd name="T0" fmla="*/ 0 w 8684843"/>
              <a:gd name="T1" fmla="*/ 5642591 h 5636316"/>
              <a:gd name="T2" fmla="*/ 0 w 8684843"/>
              <a:gd name="T3" fmla="*/ 0 h 5636316"/>
              <a:gd name="T4" fmla="*/ 8687404 w 8684843"/>
              <a:gd name="T5" fmla="*/ 0 h 5636316"/>
              <a:gd name="T6" fmla="*/ 8687404 w 8684843"/>
              <a:gd name="T7" fmla="*/ 4417508 h 5636316"/>
              <a:gd name="T8" fmla="*/ 7088892 w 8684843"/>
              <a:gd name="T9" fmla="*/ 5642591 h 5636316"/>
              <a:gd name="T10" fmla="*/ 0 w 8684843"/>
              <a:gd name="T11" fmla="*/ 5642591 h 5636316"/>
              <a:gd name="T12" fmla="*/ 0 w 8684843"/>
              <a:gd name="T13" fmla="*/ 0 h 56363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84843" h="5636316">
                <a:moveTo>
                  <a:pt x="0" y="5636316"/>
                </a:moveTo>
                <a:lnTo>
                  <a:pt x="0" y="0"/>
                </a:lnTo>
                <a:lnTo>
                  <a:pt x="8684821" y="0"/>
                </a:lnTo>
                <a:lnTo>
                  <a:pt x="8684821" y="4412595"/>
                </a:lnTo>
                <a:cubicBezTo>
                  <a:pt x="8684821" y="4412595"/>
                  <a:pt x="8710016" y="5571530"/>
                  <a:pt x="7086785" y="5636316"/>
                </a:cubicBezTo>
                <a:lnTo>
                  <a:pt x="0" y="5636316"/>
                </a:lnTo>
                <a:lnTo>
                  <a:pt x="0" y="0"/>
                </a:lnTo>
                <a:lnTo>
                  <a:pt x="0" y="5636316"/>
                </a:lnTo>
                <a:close/>
              </a:path>
            </a:pathLst>
          </a:custGeom>
          <a:gradFill rotWithShape="1">
            <a:gsLst>
              <a:gs pos="0">
                <a:srgbClr val="0089C4"/>
              </a:gs>
              <a:gs pos="17999">
                <a:srgbClr val="0089C4"/>
              </a:gs>
              <a:gs pos="100000">
                <a:srgbClr val="629FD5"/>
              </a:gs>
            </a:gsLst>
            <a:lin ang="2100000" scaled="1"/>
          </a:gradFill>
          <a:ln>
            <a:no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a:lstStyle/>
          <a:p>
            <a:endParaRPr lang="en-US"/>
          </a:p>
        </p:txBody>
      </p:sp>
      <p:pic>
        <p:nvPicPr>
          <p:cNvPr id="7" name="Picture 6"/>
          <p:cNvPicPr>
            <a:picLocks/>
          </p:cNvPicPr>
          <p:nvPr userDrawn="1">
            <p:custDataLst>
              <p:tags r:id="rId2"/>
            </p:custDataLst>
          </p:nvPr>
        </p:nvPicPr>
        <p:blipFill>
          <a:blip r:embed="rId4"/>
          <a:stretch>
            <a:fillRect/>
          </a:stretch>
        </p:blipFill>
        <p:spPr>
          <a:xfrm>
            <a:off x="7110413" y="6329363"/>
            <a:ext cx="1601787" cy="295275"/>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Rectangle 7"/>
          <p:cNvSpPr/>
          <p:nvPr userDrawn="1"/>
        </p:nvSpPr>
        <p:spPr>
          <a:xfrm>
            <a:off x="107950" y="6237288"/>
            <a:ext cx="5759450" cy="57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DE"/>
          </a:p>
        </p:txBody>
      </p:sp>
      <p:sp>
        <p:nvSpPr>
          <p:cNvPr id="17" name="Text Placeholder 3"/>
          <p:cNvSpPr>
            <a:spLocks noGrp="1"/>
          </p:cNvSpPr>
          <p:nvPr>
            <p:ph type="body" sz="quarter" idx="10"/>
          </p:nvPr>
        </p:nvSpPr>
        <p:spPr>
          <a:xfrm>
            <a:off x="828674" y="2052000"/>
            <a:ext cx="7488000" cy="1620000"/>
          </a:xfrm>
          <a:prstGeom prst="rect">
            <a:avLst/>
          </a:prstGeom>
        </p:spPr>
        <p:txBody>
          <a:bodyPr lIns="0" tIns="0" rIns="0" bIns="0"/>
          <a:lstStyle>
            <a:lvl1pPr marL="0" indent="0" algn="l">
              <a:spcBef>
                <a:spcPts val="0"/>
              </a:spcBef>
              <a:buFontTx/>
              <a:buNone/>
              <a:defRPr sz="4800">
                <a:solidFill>
                  <a:schemeClr val="bg1"/>
                </a:solidFill>
              </a:defRPr>
            </a:lvl1pPr>
            <a:lvl2pPr>
              <a:defRPr sz="4800"/>
            </a:lvl2pPr>
            <a:lvl3pPr>
              <a:defRPr sz="4800"/>
            </a:lvl3pPr>
            <a:lvl4pPr>
              <a:defRPr sz="4800"/>
            </a:lvl4pPr>
            <a:lvl5pPr>
              <a:defRPr sz="4800"/>
            </a:lvl5pPr>
          </a:lstStyle>
          <a:p>
            <a:pPr lvl="0"/>
            <a:r>
              <a:rPr lang="en-US" smtClean="0"/>
              <a:t>Click to edit Master text styles</a:t>
            </a:r>
          </a:p>
        </p:txBody>
      </p:sp>
      <p:sp>
        <p:nvSpPr>
          <p:cNvPr id="4" name="Text Placeholder 3"/>
          <p:cNvSpPr>
            <a:spLocks noGrp="1"/>
          </p:cNvSpPr>
          <p:nvPr>
            <p:ph type="body" sz="quarter" idx="11"/>
          </p:nvPr>
        </p:nvSpPr>
        <p:spPr>
          <a:xfrm>
            <a:off x="828000" y="4608000"/>
            <a:ext cx="4320000" cy="252000"/>
          </a:xfrm>
          <a:prstGeom prst="rect">
            <a:avLst/>
          </a:prstGeom>
        </p:spPr>
        <p:txBody>
          <a:bodyPr lIns="0" tIns="0" rIns="0" bIns="0"/>
          <a:lstStyle>
            <a:lvl1pPr marL="0" indent="0">
              <a:spcBef>
                <a:spcPts val="0"/>
              </a:spcBef>
              <a:buFontTx/>
              <a:buNone/>
              <a:defRPr sz="1800" b="1">
                <a:solidFill>
                  <a:schemeClr val="bg1"/>
                </a:solidFill>
              </a:defRPr>
            </a:lvl1pPr>
          </a:lstStyle>
          <a:p>
            <a:pPr lvl="0"/>
            <a:r>
              <a:rPr lang="en-US" smtClean="0"/>
              <a:t>Click to edit Master text styles</a:t>
            </a:r>
          </a:p>
        </p:txBody>
      </p:sp>
      <p:sp>
        <p:nvSpPr>
          <p:cNvPr id="16" name="Text Placeholder 3"/>
          <p:cNvSpPr>
            <a:spLocks noGrp="1"/>
          </p:cNvSpPr>
          <p:nvPr>
            <p:ph type="body" sz="quarter" idx="12"/>
          </p:nvPr>
        </p:nvSpPr>
        <p:spPr>
          <a:xfrm>
            <a:off x="828000" y="4878000"/>
            <a:ext cx="4320000" cy="252000"/>
          </a:xfrm>
          <a:prstGeom prst="rect">
            <a:avLst/>
          </a:prstGeom>
        </p:spPr>
        <p:txBody>
          <a:bodyPr lIns="0" tIns="0" rIns="0" bIns="0"/>
          <a:lstStyle>
            <a:lvl1pPr marL="0" indent="0">
              <a:spcBef>
                <a:spcPts val="0"/>
              </a:spcBef>
              <a:buFontTx/>
              <a:buNone/>
              <a:defRPr sz="1600" b="0">
                <a:solidFill>
                  <a:schemeClr val="bg1"/>
                </a:solidFill>
              </a:defRPr>
            </a:lvl1pPr>
          </a:lstStyle>
          <a:p>
            <a:pPr lvl="0"/>
            <a:r>
              <a:rPr lang="en-US" smtClean="0"/>
              <a:t>Click to edit Master text styles</a:t>
            </a:r>
          </a:p>
        </p:txBody>
      </p:sp>
      <p:sp>
        <p:nvSpPr>
          <p:cNvPr id="18" name="Text Placeholder 3"/>
          <p:cNvSpPr>
            <a:spLocks noGrp="1"/>
          </p:cNvSpPr>
          <p:nvPr>
            <p:ph type="body" sz="quarter" idx="13"/>
          </p:nvPr>
        </p:nvSpPr>
        <p:spPr>
          <a:xfrm>
            <a:off x="828000" y="5148000"/>
            <a:ext cx="4320000" cy="252000"/>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Tx/>
              <a:buNone/>
              <a:tabLst/>
              <a:defRPr sz="1600" b="0">
                <a:solidFill>
                  <a:schemeClr val="bg1"/>
                </a:solidFill>
              </a:defRPr>
            </a:lvl1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3962417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text">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3"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4"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5" name="Textplatzhalter 4"/>
          <p:cNvSpPr>
            <a:spLocks noGrp="1"/>
          </p:cNvSpPr>
          <p:nvPr>
            <p:ph type="body" sz="quarter" idx="13"/>
          </p:nvPr>
        </p:nvSpPr>
        <p:spPr>
          <a:xfrm>
            <a:off x="828673" y="2124000"/>
            <a:ext cx="7488000" cy="3960000"/>
          </a:xfrm>
          <a:prstGeom prst="rect">
            <a:avLst/>
          </a:prstGeom>
        </p:spPr>
        <p:txBody>
          <a:bodyPr lIns="0" tIns="0" rIns="0" bIns="0" spcCol="432000"/>
          <a:lstStyle>
            <a:lvl1pPr marL="216000" indent="-216000">
              <a:spcBef>
                <a:spcPts val="0"/>
              </a:spcBef>
              <a:defRPr sz="1800"/>
            </a:lvl1pPr>
            <a:lvl2pPr marL="432000" indent="-216000">
              <a:spcBef>
                <a:spcPts val="0"/>
              </a:spcBef>
              <a:defRPr sz="1800"/>
            </a:lvl2pPr>
            <a:lvl3pPr marL="648000" indent="-216000">
              <a:spcBef>
                <a:spcPts val="0"/>
              </a:spcBef>
              <a:buFont typeface="Wingdings" panose="05000000000000000000" pitchFamily="2" charset="2"/>
              <a:buChar char="§"/>
              <a:defRPr sz="1800"/>
            </a:lvl3pPr>
            <a:lvl4pPr marL="864000" indent="-216000">
              <a:spcBef>
                <a:spcPts val="0"/>
              </a:spcBef>
              <a:buFont typeface="Arial" panose="020B0604020202020204" pitchFamily="34" charset="0"/>
              <a:buChar char="•"/>
              <a:defRPr sz="1800"/>
            </a:lvl4pPr>
            <a:lvl5pPr marL="1080000" indent="-228600">
              <a:spcBef>
                <a:spcPts val="0"/>
              </a:spcBef>
              <a:buFont typeface="Calibri" panose="020F0502020204030204" pitchFamily="34" charset="0"/>
              <a:buChar char="─"/>
              <a:defRPr sz="1800"/>
            </a:lvl5pPr>
            <a:lvl6pPr marL="1296000" indent="-228600">
              <a:spcBef>
                <a:spcPts val="0"/>
              </a:spcBef>
              <a:buFont typeface="Calibri" panose="020F0502020204030204" pitchFamily="34" charset="0"/>
              <a:buChar char="─"/>
              <a:defRPr sz="1800"/>
            </a:lvl6pPr>
            <a:lvl7pPr marL="1512000" indent="-216000">
              <a:spcBef>
                <a:spcPts val="0"/>
              </a:spcBef>
              <a:buFont typeface="Calibri" panose="020F0502020204030204" pitchFamily="34" charset="0"/>
              <a:buChar char="─"/>
              <a:defRPr sz="1800"/>
            </a:lvl7pPr>
            <a:lvl8pPr marL="1728000" indent="-216000">
              <a:spcBef>
                <a:spcPts val="0"/>
              </a:spcBef>
              <a:buFont typeface="Calibri" panose="020F0502020204030204" pitchFamily="34" charset="0"/>
              <a:buChar char="─"/>
              <a:defRPr sz="1800"/>
            </a:lvl8pPr>
            <a:lvl9pPr marL="1944000" indent="-216000">
              <a:spcBef>
                <a:spcPts val="0"/>
              </a:spcBef>
              <a:buFont typeface="Calibri" panose="020F0502020204030204" pitchFamily="34" charset="0"/>
              <a:buChar cha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0028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tical image">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Inhaltsplatzhalter 6"/>
          <p:cNvSpPr>
            <a:spLocks noGrp="1"/>
          </p:cNvSpPr>
          <p:nvPr>
            <p:ph sz="half" idx="2"/>
          </p:nvPr>
        </p:nvSpPr>
        <p:spPr>
          <a:xfrm>
            <a:off x="1" y="-1"/>
            <a:ext cx="3487293" cy="6858000"/>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solidFill>
                  <a:schemeClr val="tx1"/>
                </a:solidFill>
              </a:defRPr>
            </a:lvl1pPr>
          </a:lstStyle>
          <a:p>
            <a:pPr lvl="0"/>
            <a:r>
              <a:rPr lang="en-US" smtClean="0"/>
              <a:t>Click to edit Master text styles</a:t>
            </a:r>
          </a:p>
        </p:txBody>
      </p:sp>
      <p:sp>
        <p:nvSpPr>
          <p:cNvPr id="13" name="Textplatzhalter 12"/>
          <p:cNvSpPr>
            <a:spLocks noGrp="1"/>
          </p:cNvSpPr>
          <p:nvPr>
            <p:ph type="body" sz="quarter" idx="11"/>
          </p:nvPr>
        </p:nvSpPr>
        <p:spPr>
          <a:xfrm>
            <a:off x="3996000" y="828000"/>
            <a:ext cx="4320000" cy="540006"/>
          </a:xfrm>
          <a:prstGeom prst="rect">
            <a:avLst/>
          </a:prstGeom>
        </p:spPr>
        <p:txBody>
          <a:bodyPr lIns="0" tIns="0" rIns="0" bIns="0"/>
          <a:lstStyle>
            <a:lvl1pPr marL="0" indent="0">
              <a:spcBef>
                <a:spcPts val="0"/>
              </a:spcBef>
              <a:buFontTx/>
              <a:buNone/>
              <a:defRPr/>
            </a:lvl1pPr>
          </a:lstStyle>
          <a:p>
            <a:pPr lvl="0"/>
            <a:r>
              <a:rPr lang="en-US" smtClean="0"/>
              <a:t>Click to edit Master text styles</a:t>
            </a:r>
          </a:p>
        </p:txBody>
      </p:sp>
      <p:sp>
        <p:nvSpPr>
          <p:cNvPr id="3" name="Textplatzhalter 2"/>
          <p:cNvSpPr>
            <a:spLocks noGrp="1"/>
          </p:cNvSpPr>
          <p:nvPr>
            <p:ph type="body" sz="quarter" idx="12"/>
          </p:nvPr>
        </p:nvSpPr>
        <p:spPr>
          <a:xfrm>
            <a:off x="3996000" y="1368000"/>
            <a:ext cx="4320000" cy="414054"/>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4" name="Textplatzhalter 3"/>
          <p:cNvSpPr>
            <a:spLocks noGrp="1"/>
          </p:cNvSpPr>
          <p:nvPr>
            <p:ph type="body" sz="quarter" idx="13"/>
          </p:nvPr>
        </p:nvSpPr>
        <p:spPr>
          <a:xfrm>
            <a:off x="3996000" y="2123999"/>
            <a:ext cx="4320000" cy="3960000"/>
          </a:xfrm>
          <a:prstGeom prst="rect">
            <a:avLst/>
          </a:prstGeom>
        </p:spPr>
        <p:txBody>
          <a:bodyPr/>
          <a:lstStyle>
            <a:lvl1pPr marL="216000" indent="-216000">
              <a:spcBef>
                <a:spcPts val="0"/>
              </a:spcBef>
              <a:defRPr sz="1800"/>
            </a:lvl1pPr>
            <a:lvl2pPr marL="432000" indent="-216000">
              <a:spcBef>
                <a:spcPts val="0"/>
              </a:spcBef>
              <a:defRPr sz="1800"/>
            </a:lvl2pPr>
            <a:lvl3pPr marL="648000" indent="-216000">
              <a:spcBef>
                <a:spcPts val="0"/>
              </a:spcBef>
              <a:buFont typeface="Wingdings" panose="05000000000000000000" pitchFamily="2" charset="2"/>
              <a:buChar char="§"/>
              <a:defRPr sz="1800"/>
            </a:lvl3pPr>
            <a:lvl4pPr marL="864000" indent="-216000">
              <a:spcBef>
                <a:spcPts val="0"/>
              </a:spcBef>
              <a:buFont typeface="Arial" panose="020B0604020202020204" pitchFamily="34" charset="0"/>
              <a:buChar char="•"/>
              <a:defRPr sz="1800"/>
            </a:lvl4pPr>
            <a:lvl5pPr marL="1080000" indent="-216000">
              <a:spcBef>
                <a:spcPts val="0"/>
              </a:spcBef>
              <a:buFont typeface="Calibri" panose="020F0502020204030204" pitchFamily="34" charset="0"/>
              <a:buChar char="─"/>
              <a:defRPr sz="1800"/>
            </a:lvl5pPr>
            <a:lvl6pPr marL="1296000" indent="-216000">
              <a:spcBef>
                <a:spcPts val="0"/>
              </a:spcBef>
              <a:buFont typeface="Calibri" panose="020F0502020204030204" pitchFamily="34" charset="0"/>
              <a:buChar char="─"/>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08873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orizontal image">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Inhaltsplatzhalter 6"/>
          <p:cNvSpPr>
            <a:spLocks noGrp="1"/>
          </p:cNvSpPr>
          <p:nvPr>
            <p:ph sz="half" idx="2"/>
          </p:nvPr>
        </p:nvSpPr>
        <p:spPr>
          <a:xfrm>
            <a:off x="0" y="2123999"/>
            <a:ext cx="5655945" cy="3960000"/>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solidFill>
                  <a:schemeClr val="tx1"/>
                </a:solidFill>
              </a:defRPr>
            </a:lvl1pPr>
          </a:lstStyle>
          <a:p>
            <a:pPr lvl="0"/>
            <a:r>
              <a:rPr lang="en-US" smtClean="0"/>
              <a:t>Click to edit Master text styles</a:t>
            </a:r>
          </a:p>
        </p:txBody>
      </p:sp>
      <p:sp>
        <p:nvSpPr>
          <p:cNvPr id="7"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12"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9" name="Textplatzhalter 2"/>
          <p:cNvSpPr>
            <a:spLocks noGrp="1"/>
          </p:cNvSpPr>
          <p:nvPr>
            <p:ph type="body" sz="quarter" idx="14"/>
          </p:nvPr>
        </p:nvSpPr>
        <p:spPr>
          <a:xfrm>
            <a:off x="5904000" y="2124000"/>
            <a:ext cx="2412000" cy="3960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Tree>
    <p:extLst>
      <p:ext uri="{BB962C8B-B14F-4D97-AF65-F5344CB8AC3E}">
        <p14:creationId xmlns:p14="http://schemas.microsoft.com/office/powerpoint/2010/main" val="3881062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column images">
    <p:spTree>
      <p:nvGrpSpPr>
        <p:cNvPr id="1" name=""/>
        <p:cNvGrpSpPr/>
        <p:nvPr/>
      </p:nvGrpSpPr>
      <p:grpSpPr>
        <a:xfrm>
          <a:off x="0" y="0"/>
          <a:ext cx="0" cy="0"/>
          <a:chOff x="0" y="0"/>
          <a:chExt cx="0" cy="0"/>
        </a:xfrm>
      </p:grpSpPr>
      <p:pic>
        <p:nvPicPr>
          <p:cNvPr id="8" name="Picture 7"/>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10" name="Inhaltsplatzhalter 13"/>
          <p:cNvSpPr>
            <a:spLocks noGrp="1"/>
          </p:cNvSpPr>
          <p:nvPr>
            <p:ph sz="quarter" idx="2"/>
          </p:nvPr>
        </p:nvSpPr>
        <p:spPr>
          <a:xfrm>
            <a:off x="4788003" y="2123999"/>
            <a:ext cx="3527997" cy="262799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lvl1pPr>
          </a:lstStyle>
          <a:p>
            <a:pPr lvl="0"/>
            <a:r>
              <a:rPr lang="en-US" smtClean="0"/>
              <a:t>Click to edit Master text styles</a:t>
            </a:r>
          </a:p>
        </p:txBody>
      </p:sp>
      <p:sp>
        <p:nvSpPr>
          <p:cNvPr id="12" name="Inhaltsplatzhalter 14"/>
          <p:cNvSpPr>
            <a:spLocks noGrp="1"/>
          </p:cNvSpPr>
          <p:nvPr>
            <p:ph sz="quarter" idx="1"/>
          </p:nvPr>
        </p:nvSpPr>
        <p:spPr>
          <a:xfrm>
            <a:off x="828003" y="2123999"/>
            <a:ext cx="3527997" cy="262799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lvl1pPr>
          </a:lstStyle>
          <a:p>
            <a:pPr lvl="0"/>
            <a:r>
              <a:rPr lang="en-US" smtClean="0"/>
              <a:t>Click to edit Master text styles</a:t>
            </a:r>
          </a:p>
        </p:txBody>
      </p:sp>
      <p:sp>
        <p:nvSpPr>
          <p:cNvPr id="14"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15"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3" name="Textplatzhalter 2"/>
          <p:cNvSpPr>
            <a:spLocks noGrp="1"/>
          </p:cNvSpPr>
          <p:nvPr>
            <p:ph type="body" sz="quarter" idx="13"/>
          </p:nvPr>
        </p:nvSpPr>
        <p:spPr>
          <a:xfrm>
            <a:off x="828674" y="5004000"/>
            <a:ext cx="3528000" cy="1116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
        <p:nvSpPr>
          <p:cNvPr id="9" name="Textplatzhalter 2"/>
          <p:cNvSpPr>
            <a:spLocks noGrp="1"/>
          </p:cNvSpPr>
          <p:nvPr>
            <p:ph type="body" sz="quarter" idx="14"/>
          </p:nvPr>
        </p:nvSpPr>
        <p:spPr>
          <a:xfrm>
            <a:off x="4788000" y="5004000"/>
            <a:ext cx="3528000" cy="1116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Tree>
    <p:extLst>
      <p:ext uri="{BB962C8B-B14F-4D97-AF65-F5344CB8AC3E}">
        <p14:creationId xmlns:p14="http://schemas.microsoft.com/office/powerpoint/2010/main" val="2748038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pic>
        <p:nvPicPr>
          <p:cNvPr id="5" name="Picture 4"/>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4" name="Text Placeholder 3"/>
          <p:cNvSpPr>
            <a:spLocks noGrp="1"/>
          </p:cNvSpPr>
          <p:nvPr>
            <p:ph type="body" sz="quarter" idx="10"/>
          </p:nvPr>
        </p:nvSpPr>
        <p:spPr>
          <a:xfrm>
            <a:off x="828674" y="2052000"/>
            <a:ext cx="7488000" cy="1620000"/>
          </a:xfrm>
          <a:prstGeom prst="rect">
            <a:avLst/>
          </a:prstGeom>
        </p:spPr>
        <p:txBody>
          <a:bodyPr lIns="0" tIns="0" rIns="0" bIns="0"/>
          <a:lstStyle>
            <a:lvl1pPr marL="0" indent="0" algn="l">
              <a:spcBef>
                <a:spcPts val="0"/>
              </a:spcBef>
              <a:buFontTx/>
              <a:buNone/>
              <a:defRPr sz="4800">
                <a:solidFill>
                  <a:schemeClr val="tx1"/>
                </a:solidFill>
              </a:defRPr>
            </a:lvl1pPr>
            <a:lvl2pPr>
              <a:defRPr sz="4800"/>
            </a:lvl2pPr>
            <a:lvl3pPr>
              <a:defRPr sz="4800"/>
            </a:lvl3pPr>
            <a:lvl4pPr>
              <a:defRPr sz="4800"/>
            </a:lvl4pPr>
            <a:lvl5pPr>
              <a:defRPr sz="4800"/>
            </a:lvl5pPr>
          </a:lstStyle>
          <a:p>
            <a:pPr lvl="0"/>
            <a:r>
              <a:rPr lang="en-US" smtClean="0"/>
              <a:t>Click to edit Master text styles</a:t>
            </a:r>
          </a:p>
        </p:txBody>
      </p:sp>
      <p:sp>
        <p:nvSpPr>
          <p:cNvPr id="6" name="Text Placeholder 5"/>
          <p:cNvSpPr>
            <a:spLocks noGrp="1"/>
          </p:cNvSpPr>
          <p:nvPr>
            <p:ph type="body" sz="quarter" idx="11"/>
          </p:nvPr>
        </p:nvSpPr>
        <p:spPr>
          <a:xfrm>
            <a:off x="828675" y="1368000"/>
            <a:ext cx="7488238" cy="404816"/>
          </a:xfrm>
          <a:prstGeom prst="rect">
            <a:avLst/>
          </a:prstGeom>
        </p:spPr>
        <p:txBody>
          <a:bodyPr lIns="0" tIns="0" rIns="0" bIns="0"/>
          <a:lstStyle>
            <a:lvl1pPr marL="0" indent="0">
              <a:spcBef>
                <a:spcPts val="0"/>
              </a:spcBef>
              <a:buFontTx/>
              <a:buNone/>
              <a:defRPr sz="2000">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1523504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2" name="Freeform 3"/>
          <p:cNvSpPr>
            <a:spLocks/>
          </p:cNvSpPr>
          <p:nvPr userDrawn="1">
            <p:custDataLst>
              <p:tags r:id="rId1"/>
            </p:custDataLst>
          </p:nvPr>
        </p:nvSpPr>
        <p:spPr bwMode="auto">
          <a:xfrm>
            <a:off x="0" y="0"/>
            <a:ext cx="9144000" cy="6858000"/>
          </a:xfrm>
          <a:custGeom>
            <a:avLst/>
            <a:gdLst>
              <a:gd name="T0" fmla="*/ 0 w 9144001"/>
              <a:gd name="T1" fmla="*/ 0 h 6858001"/>
              <a:gd name="T2" fmla="*/ 9143993 w 9144001"/>
              <a:gd name="T3" fmla="*/ 0 h 6858001"/>
              <a:gd name="T4" fmla="*/ 9143993 w 9144001"/>
              <a:gd name="T5" fmla="*/ 6857993 h 6858001"/>
              <a:gd name="T6" fmla="*/ 9143993 w 9144001"/>
              <a:gd name="T7" fmla="*/ 6857993 h 6858001"/>
              <a:gd name="T8" fmla="*/ 0 w 9144001"/>
              <a:gd name="T9" fmla="*/ 6857993 h 6858001"/>
              <a:gd name="T10" fmla="*/ 0 w 9144001"/>
              <a:gd name="T11" fmla="*/ 0 h 6858001"/>
              <a:gd name="T12" fmla="*/ 0 60000 65536"/>
              <a:gd name="T13" fmla="*/ 0 60000 65536"/>
              <a:gd name="T14" fmla="*/ 0 60000 65536"/>
              <a:gd name="T15" fmla="*/ 0 60000 65536"/>
              <a:gd name="T16" fmla="*/ 0 60000 65536"/>
              <a:gd name="T17" fmla="*/ 0 60000 65536"/>
              <a:gd name="T18" fmla="*/ 0 w 9144001"/>
              <a:gd name="T19" fmla="*/ 0 h 6858001"/>
              <a:gd name="T20" fmla="*/ 9144001 w 9144001"/>
              <a:gd name="T21" fmla="*/ 6858001 h 6858001"/>
            </a:gdLst>
            <a:ahLst/>
            <a:cxnLst>
              <a:cxn ang="T12">
                <a:pos x="T0" y="T1"/>
              </a:cxn>
              <a:cxn ang="T13">
                <a:pos x="T2" y="T3"/>
              </a:cxn>
              <a:cxn ang="T14">
                <a:pos x="T4" y="T5"/>
              </a:cxn>
              <a:cxn ang="T15">
                <a:pos x="T6" y="T7"/>
              </a:cxn>
              <a:cxn ang="T16">
                <a:pos x="T8" y="T9"/>
              </a:cxn>
              <a:cxn ang="T17">
                <a:pos x="T10" y="T11"/>
              </a:cxn>
            </a:cxnLst>
            <a:rect l="T18" t="T19" r="T20" b="T21"/>
            <a:pathLst>
              <a:path w="9144001" h="6858001">
                <a:moveTo>
                  <a:pt x="0" y="0"/>
                </a:moveTo>
                <a:lnTo>
                  <a:pt x="9144000" y="0"/>
                </a:lnTo>
                <a:lnTo>
                  <a:pt x="9144000" y="6858000"/>
                </a:lnTo>
                <a:lnTo>
                  <a:pt x="0" y="6858000"/>
                </a:lnTo>
                <a:lnTo>
                  <a:pt x="0" y="0"/>
                </a:lnTo>
                <a:close/>
              </a:path>
            </a:pathLst>
          </a:custGeom>
          <a:solidFill>
            <a:schemeClr val="bg1"/>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pic>
        <p:nvPicPr>
          <p:cNvPr id="3"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941763" y="2627313"/>
            <a:ext cx="1260475"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887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6481" y="273629"/>
            <a:ext cx="8226720" cy="1143480"/>
          </a:xfrm>
          <a:prstGeom prst="rect">
            <a:avLst/>
          </a:prstGeom>
        </p:spPr>
        <p:txBody>
          <a:bodyPr lIns="82945" tIns="41473" rIns="82945" bIns="41473"/>
          <a:lstStyle/>
          <a:p>
            <a:r>
              <a:rPr lang="en-US" smtClean="0"/>
              <a:t>Click to edit Master title style</a:t>
            </a:r>
            <a:endParaRPr lang="it-IT"/>
          </a:p>
        </p:txBody>
      </p:sp>
      <p:sp>
        <p:nvSpPr>
          <p:cNvPr id="3" name="Content Placeholder 2"/>
          <p:cNvSpPr>
            <a:spLocks noGrp="1"/>
          </p:cNvSpPr>
          <p:nvPr>
            <p:ph idx="1"/>
          </p:nvPr>
        </p:nvSpPr>
        <p:spPr>
          <a:xfrm>
            <a:off x="456481" y="1604328"/>
            <a:ext cx="8226720" cy="3976258"/>
          </a:xfrm>
          <a:prstGeom prst="rect">
            <a:avLst/>
          </a:prstGeom>
        </p:spPr>
        <p:txBody>
          <a:bodyPr lIns="82945" tIns="41473" rIns="82945" bIns="41473"/>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t-IT"/>
          </a:p>
        </p:txBody>
      </p:sp>
      <p:sp>
        <p:nvSpPr>
          <p:cNvPr id="4" name="Date Placeholder 3"/>
          <p:cNvSpPr>
            <a:spLocks noGrp="1"/>
          </p:cNvSpPr>
          <p:nvPr>
            <p:ph type="dt" idx="10"/>
          </p:nvPr>
        </p:nvSpPr>
        <p:spPr>
          <a:xfrm>
            <a:off x="456481" y="6247376"/>
            <a:ext cx="2128320" cy="470930"/>
          </a:xfrm>
          <a:prstGeom prst="rect">
            <a:avLst/>
          </a:prstGeom>
        </p:spPr>
        <p:txBody>
          <a:bodyPr lIns="82945" tIns="41473" rIns="82945" bIns="41473"/>
          <a:lstStyle>
            <a:lvl1pPr>
              <a:defRPr/>
            </a:lvl1pPr>
          </a:lstStyle>
          <a:p>
            <a:endParaRPr lang="en-US" altLang="it-IT"/>
          </a:p>
        </p:txBody>
      </p:sp>
      <p:sp>
        <p:nvSpPr>
          <p:cNvPr id="5" name="Footer Placeholder 4"/>
          <p:cNvSpPr>
            <a:spLocks noGrp="1"/>
          </p:cNvSpPr>
          <p:nvPr>
            <p:ph type="ftr" idx="11"/>
          </p:nvPr>
        </p:nvSpPr>
        <p:spPr>
          <a:xfrm>
            <a:off x="3127680" y="6247376"/>
            <a:ext cx="2897280" cy="470930"/>
          </a:xfrm>
          <a:prstGeom prst="rect">
            <a:avLst/>
          </a:prstGeom>
        </p:spPr>
        <p:txBody>
          <a:bodyPr lIns="82945" tIns="41473" rIns="82945" bIns="41473"/>
          <a:lstStyle>
            <a:lvl1pPr>
              <a:defRPr/>
            </a:lvl1pPr>
          </a:lstStyle>
          <a:p>
            <a:endParaRPr lang="en-US" altLang="it-IT"/>
          </a:p>
        </p:txBody>
      </p:sp>
      <p:sp>
        <p:nvSpPr>
          <p:cNvPr id="6" name="Slide Number Placeholder 5"/>
          <p:cNvSpPr>
            <a:spLocks noGrp="1"/>
          </p:cNvSpPr>
          <p:nvPr>
            <p:ph type="sldNum" idx="12"/>
          </p:nvPr>
        </p:nvSpPr>
        <p:spPr>
          <a:xfrm>
            <a:off x="6556321" y="6247376"/>
            <a:ext cx="2128320" cy="470930"/>
          </a:xfrm>
          <a:prstGeom prst="rect">
            <a:avLst/>
          </a:prstGeom>
        </p:spPr>
        <p:txBody>
          <a:bodyPr lIns="82945" tIns="41473" rIns="82945" bIns="41473"/>
          <a:lstStyle>
            <a:lvl1pPr>
              <a:defRPr/>
            </a:lvl1pPr>
          </a:lstStyle>
          <a:p>
            <a:fld id="{E1844D8F-A47E-4BDD-8D90-1A4ACB5CD981}" type="slidenum">
              <a:rPr lang="en-US" altLang="it-IT"/>
              <a:pPr/>
              <a:t>‹#›</a:t>
            </a:fld>
            <a:endParaRPr lang="en-US" altLang="it-IT"/>
          </a:p>
        </p:txBody>
      </p:sp>
    </p:spTree>
    <p:extLst>
      <p:ext uri="{BB962C8B-B14F-4D97-AF65-F5344CB8AC3E}">
        <p14:creationId xmlns:p14="http://schemas.microsoft.com/office/powerpoint/2010/main" val="3084862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a:spLocks/>
          </p:cNvSpPr>
          <p:nvPr>
            <p:custDataLst>
              <p:tags r:id="rId10"/>
            </p:custDataLst>
          </p:nvPr>
        </p:nvSpPr>
        <p:spPr>
          <a:xfrm>
            <a:off x="828675" y="6502400"/>
            <a:ext cx="4535488" cy="139700"/>
          </a:xfrm>
          <a:prstGeom prst="rect">
            <a:avLst/>
          </a:prstGeom>
          <a:noFill/>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lstStyle/>
          <a:p>
            <a:pPr fontAlgn="auto">
              <a:spcBef>
                <a:spcPts val="0"/>
              </a:spcBef>
              <a:spcAft>
                <a:spcPts val="0"/>
              </a:spcAft>
              <a:defRPr/>
            </a:pPr>
            <a:r>
              <a:rPr lang="en-US" sz="900" dirty="0">
                <a:solidFill>
                  <a:srgbClr val="000000"/>
                </a:solidFill>
                <a:latin typeface="Calibri"/>
                <a:cs typeface="+mn-cs"/>
              </a:rPr>
              <a:t>November 01, 2013      _Sector      Confidential</a:t>
            </a:r>
          </a:p>
        </p:txBody>
      </p:sp>
      <p:sp>
        <p:nvSpPr>
          <p:cNvPr id="3" name="TextBox 6"/>
          <p:cNvSpPr txBox="1">
            <a:spLocks/>
          </p:cNvSpPr>
          <p:nvPr>
            <p:custDataLst>
              <p:tags r:id="rId11"/>
            </p:custDataLst>
          </p:nvPr>
        </p:nvSpPr>
        <p:spPr>
          <a:xfrm>
            <a:off x="234950" y="6464300"/>
            <a:ext cx="508000" cy="184150"/>
          </a:xfrm>
          <a:prstGeom prst="rect">
            <a:avLst/>
          </a:prstGeom>
          <a:noFill/>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lstStyle/>
          <a:p>
            <a:pPr fontAlgn="auto">
              <a:spcBef>
                <a:spcPts val="0"/>
              </a:spcBef>
              <a:spcAft>
                <a:spcPts val="0"/>
              </a:spcAft>
              <a:defRPr/>
            </a:pPr>
            <a:fld id="{E3C52461-52B5-4AD0-BB42-62A6B6890AAE}" type="slidenum">
              <a:rPr lang="de-DE" sz="1200">
                <a:latin typeface="+mn-lt"/>
                <a:cs typeface="+mn-cs"/>
              </a:rPr>
              <a:pPr fontAlgn="auto">
                <a:spcBef>
                  <a:spcPts val="0"/>
                </a:spcBef>
                <a:spcAft>
                  <a:spcPts val="0"/>
                </a:spcAft>
                <a:defRPr/>
              </a:pPr>
              <a:t>‹#›</a:t>
            </a:fld>
            <a:endParaRPr lang="en-US" sz="1200" dirty="0">
              <a:latin typeface="Calibri"/>
              <a:cs typeface="+mn-cs"/>
            </a:endParaRPr>
          </a:p>
        </p:txBody>
      </p:sp>
    </p:spTree>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6.gif"/><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0.jpe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platzhalter 1"/>
          <p:cNvSpPr>
            <a:spLocks noGrp="1"/>
          </p:cNvSpPr>
          <p:nvPr>
            <p:ph type="body" sz="quarter" idx="10"/>
          </p:nvPr>
        </p:nvSpPr>
        <p:spPr bwMode="auto">
          <a:xfrm>
            <a:off x="828675" y="1143000"/>
            <a:ext cx="7488238" cy="161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r>
              <a:rPr lang="en-US" dirty="0" smtClean="0"/>
              <a:t>Progress Update</a:t>
            </a:r>
            <a:endParaRPr lang="en-US" sz="3200" b="1" dirty="0">
              <a:solidFill>
                <a:srgbClr val="FFFFFF"/>
              </a:solidFill>
              <a:effectLst>
                <a:outerShdw blurRad="38100" dist="38100" dir="2700000" algn="tl">
                  <a:srgbClr val="000000"/>
                </a:outerShdw>
              </a:effectLst>
            </a:endParaRPr>
          </a:p>
        </p:txBody>
      </p:sp>
      <p:sp>
        <p:nvSpPr>
          <p:cNvPr id="9219" name="Textplatzhalter 2"/>
          <p:cNvSpPr>
            <a:spLocks noGrp="1"/>
          </p:cNvSpPr>
          <p:nvPr>
            <p:ph type="body" sz="quarter" idx="11"/>
          </p:nvPr>
        </p:nvSpPr>
        <p:spPr bwMode="auto">
          <a:xfrm>
            <a:off x="828675" y="4800600"/>
            <a:ext cx="4319588" cy="25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US" altLang="en-US" sz="1600" dirty="0" smtClean="0"/>
              <a:t>Gabriele Spina</a:t>
            </a:r>
            <a:r>
              <a:rPr lang="en-US" altLang="en-US" sz="1600" dirty="0"/>
              <a:t>, </a:t>
            </a:r>
            <a:r>
              <a:rPr lang="en-US" altLang="en-US" sz="1600" b="0" dirty="0"/>
              <a:t>Ph.D. student, TU/e – Philips</a:t>
            </a:r>
          </a:p>
          <a:p>
            <a:pPr eaLnBrk="1" hangingPunct="1">
              <a:spcBef>
                <a:spcPct val="0"/>
              </a:spcBef>
            </a:pPr>
            <a:endParaRPr lang="en-US" altLang="en-US" sz="1600" dirty="0" smtClean="0"/>
          </a:p>
        </p:txBody>
      </p:sp>
      <p:sp>
        <p:nvSpPr>
          <p:cNvPr id="9220" name="Textplatzhalter 3"/>
          <p:cNvSpPr>
            <a:spLocks noGrp="1"/>
          </p:cNvSpPr>
          <p:nvPr>
            <p:ph type="body" sz="quarter" idx="12"/>
          </p:nvPr>
        </p:nvSpPr>
        <p:spPr bwMode="auto">
          <a:xfrm>
            <a:off x="828675" y="5070475"/>
            <a:ext cx="4319588" cy="25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US" altLang="en-US" b="1" dirty="0" smtClean="0"/>
              <a:t>Bert den Brinker</a:t>
            </a:r>
            <a:r>
              <a:rPr lang="en-US" altLang="en-US" dirty="0" smtClean="0"/>
              <a:t>, Philips</a:t>
            </a:r>
          </a:p>
        </p:txBody>
      </p:sp>
      <p:sp>
        <p:nvSpPr>
          <p:cNvPr id="9221" name="Textplatzhalter 4"/>
          <p:cNvSpPr>
            <a:spLocks noGrp="1"/>
          </p:cNvSpPr>
          <p:nvPr>
            <p:ph type="body" sz="quarter" idx="13"/>
          </p:nvPr>
        </p:nvSpPr>
        <p:spPr bwMode="auto">
          <a:xfrm>
            <a:off x="838200" y="5562600"/>
            <a:ext cx="4319588" cy="252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fontAlgn="base">
              <a:spcBef>
                <a:spcPct val="0"/>
              </a:spcBef>
              <a:spcAft>
                <a:spcPct val="0"/>
              </a:spcAft>
            </a:pPr>
            <a:r>
              <a:rPr lang="en-US" altLang="en-US" dirty="0" smtClean="0"/>
              <a:t>01 July 2015</a:t>
            </a:r>
          </a:p>
        </p:txBody>
      </p:sp>
      <p:pic>
        <p:nvPicPr>
          <p:cNvPr id="9222"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7400" y="6210300"/>
            <a:ext cx="990600" cy="4953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platzhalter 3_"/>
          <p:cNvSpPr txBox="1">
            <a:spLocks/>
          </p:cNvSpPr>
          <p:nvPr/>
        </p:nvSpPr>
        <p:spPr bwMode="auto">
          <a:xfrm>
            <a:off x="5867400" y="4778375"/>
            <a:ext cx="4319588" cy="250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indent="0" algn="l" rtl="0" eaLnBrk="0" fontAlgn="base" hangingPunct="0">
              <a:spcBef>
                <a:spcPts val="0"/>
              </a:spcBef>
              <a:spcAft>
                <a:spcPct val="0"/>
              </a:spcAft>
              <a:buFontTx/>
              <a:buNone/>
              <a:defRPr sz="1600" b="0" kern="1200">
                <a:solidFill>
                  <a:schemeClr val="bg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spcBef>
                <a:spcPct val="0"/>
              </a:spcBef>
            </a:pPr>
            <a:r>
              <a:rPr lang="en-US" altLang="en-US" dirty="0" smtClean="0"/>
              <a:t>g.spina@tue.nl</a:t>
            </a:r>
          </a:p>
          <a:p>
            <a:pPr eaLnBrk="1" hangingPunct="1">
              <a:spcBef>
                <a:spcPct val="0"/>
              </a:spcBef>
            </a:pPr>
            <a:r>
              <a:rPr lang="en-US" altLang="en-US" dirty="0" smtClean="0"/>
              <a:t>gabriele.spina@philips.com</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Placeholder 1"/>
          <p:cNvSpPr>
            <a:spLocks noGrp="1"/>
          </p:cNvSpPr>
          <p:nvPr>
            <p:ph type="body" sz="quarter" idx="10"/>
          </p:nvPr>
        </p:nvSpPr>
        <p:spPr bwMode="auto">
          <a:xfrm>
            <a:off x="828675" y="828675"/>
            <a:ext cx="7486650" cy="512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it-IT" dirty="0" smtClean="0"/>
              <a:t>Ph.D. overview </a:t>
            </a:r>
          </a:p>
        </p:txBody>
      </p:sp>
      <p:sp>
        <p:nvSpPr>
          <p:cNvPr id="10243" name="Text Placeholder 2"/>
          <p:cNvSpPr>
            <a:spLocks noGrp="1"/>
          </p:cNvSpPr>
          <p:nvPr>
            <p:ph type="body" sz="quarter" idx="12"/>
          </p:nvPr>
        </p:nvSpPr>
        <p:spPr bwMode="auto">
          <a:xfrm>
            <a:off x="828675" y="1368425"/>
            <a:ext cx="7486650" cy="374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it-IT" b="1" i="1" dirty="0" smtClean="0"/>
              <a:t>Patient monitoring strategies in Chronic Obstructive Pulmonary Disease (COPD) patients</a:t>
            </a:r>
            <a:endParaRPr lang="en-US" altLang="it-IT" dirty="0" smtClean="0"/>
          </a:p>
        </p:txBody>
      </p:sp>
      <p:sp>
        <p:nvSpPr>
          <p:cNvPr id="4" name="Text Placeholder 3"/>
          <p:cNvSpPr>
            <a:spLocks noGrp="1"/>
          </p:cNvSpPr>
          <p:nvPr>
            <p:ph type="body" sz="quarter" idx="13"/>
          </p:nvPr>
        </p:nvSpPr>
        <p:spPr>
          <a:xfrm>
            <a:off x="828675" y="2657475"/>
            <a:ext cx="7488238" cy="1076325"/>
          </a:xfrm>
        </p:spPr>
        <p:txBody>
          <a:bodyPr/>
          <a:lstStyle/>
          <a:p>
            <a:pPr marL="0" indent="0" algn="ctr">
              <a:buFont typeface="Arial" charset="0"/>
              <a:buNone/>
              <a:defRPr/>
            </a:pPr>
            <a:r>
              <a:rPr lang="en-US" dirty="0" smtClean="0"/>
              <a:t>Unobtrusive </a:t>
            </a:r>
            <a:r>
              <a:rPr lang="en-US" dirty="0" smtClean="0">
                <a:solidFill>
                  <a:schemeClr val="accent5"/>
                </a:solidFill>
              </a:rPr>
              <a:t>technologies</a:t>
            </a:r>
            <a:r>
              <a:rPr lang="en-US" dirty="0" smtClean="0"/>
              <a:t>, signal </a:t>
            </a:r>
            <a:r>
              <a:rPr lang="en-US" dirty="0"/>
              <a:t>processing and machine learning </a:t>
            </a:r>
            <a:r>
              <a:rPr lang="en-US" dirty="0" smtClean="0">
                <a:solidFill>
                  <a:schemeClr val="accent5"/>
                </a:solidFill>
              </a:rPr>
              <a:t>algorithms</a:t>
            </a:r>
            <a:r>
              <a:rPr lang="en-US" dirty="0" smtClean="0"/>
              <a:t> for modular </a:t>
            </a:r>
            <a:r>
              <a:rPr lang="en-US" dirty="0" smtClean="0">
                <a:solidFill>
                  <a:schemeClr val="accent5"/>
                </a:solidFill>
              </a:rPr>
              <a:t>patient training </a:t>
            </a:r>
            <a:r>
              <a:rPr lang="en-US" dirty="0" smtClean="0"/>
              <a:t>and </a:t>
            </a:r>
            <a:r>
              <a:rPr lang="en-US" dirty="0" smtClean="0">
                <a:solidFill>
                  <a:schemeClr val="accent5"/>
                </a:solidFill>
              </a:rPr>
              <a:t>monitoring</a:t>
            </a:r>
            <a:r>
              <a:rPr lang="en-US" dirty="0" smtClean="0"/>
              <a:t> systems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sz="4000" dirty="0" smtClean="0"/>
              <a:t>Introduction</a:t>
            </a:r>
            <a:endParaRPr lang="en-US" altLang="it-IT" sz="4000" dirty="0"/>
          </a:p>
        </p:txBody>
      </p:sp>
      <p:sp>
        <p:nvSpPr>
          <p:cNvPr id="36" name="Text Placeholder 2"/>
          <p:cNvSpPr txBox="1">
            <a:spLocks/>
          </p:cNvSpPr>
          <p:nvPr/>
        </p:nvSpPr>
        <p:spPr bwMode="auto">
          <a:xfrm>
            <a:off x="828675" y="1606550"/>
            <a:ext cx="7486650" cy="3746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945" tIns="41473" rIns="82945" bIns="41473"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lgn="ctr"/>
            <a:r>
              <a:rPr lang="en-US" altLang="it-IT" smtClean="0"/>
              <a:t>Paradigm shift towards the home environment</a:t>
            </a:r>
          </a:p>
        </p:txBody>
      </p:sp>
      <p:sp>
        <p:nvSpPr>
          <p:cNvPr id="37" name="Text Placeholder 2_"/>
          <p:cNvSpPr txBox="1">
            <a:spLocks/>
          </p:cNvSpPr>
          <p:nvPr/>
        </p:nvSpPr>
        <p:spPr bwMode="auto">
          <a:xfrm>
            <a:off x="457200" y="3892550"/>
            <a:ext cx="80772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r>
              <a:rPr lang="en-US" altLang="it-IT" sz="2200" dirty="0"/>
              <a:t>Essential to develop new technologies and service concepts that permit monitoring and management of patients at home (remotely)</a:t>
            </a:r>
          </a:p>
        </p:txBody>
      </p:sp>
      <p:pic>
        <p:nvPicPr>
          <p:cNvPr id="38" name="Picture 7" descr="http://elderlawblogtn.com/wp-content/uploads/2013/08/HOSPITA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039938"/>
            <a:ext cx="1531938"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9" descr="https://www.moneysmart.gov.au/media/399935/buying-a-hom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9213" y="2039938"/>
            <a:ext cx="23622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ight Arrow 39"/>
          <p:cNvSpPr/>
          <p:nvPr/>
        </p:nvSpPr>
        <p:spPr>
          <a:xfrm>
            <a:off x="3962400" y="2154238"/>
            <a:ext cx="1074738" cy="590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1" name="Picture 11" descr="http://www.netanimations.net/old_man_walking_with__a_hc.gif"/>
          <p:cNvPicPr>
            <a:picLocks noChangeAspect="1" noChangeArrowheads="1" noCrop="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17975" y="2803525"/>
            <a:ext cx="60642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873097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a:t>Smartphone monitoring and training approaches</a:t>
            </a:r>
            <a:endParaRPr lang="en-US" altLang="it-IT" sz="4000" dirty="0"/>
          </a:p>
        </p:txBody>
      </p:sp>
      <p:sp>
        <p:nvSpPr>
          <p:cNvPr id="13" name="Text Placeholder 2_"/>
          <p:cNvSpPr txBox="1">
            <a:spLocks/>
          </p:cNvSpPr>
          <p:nvPr/>
        </p:nvSpPr>
        <p:spPr bwMode="auto">
          <a:xfrm>
            <a:off x="304800" y="3292474"/>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171450" indent="-171450" algn="just">
              <a:buFont typeface="Arial" panose="020B0604020202020204" pitchFamily="34" charset="0"/>
              <a:buChar char="•"/>
            </a:pPr>
            <a:r>
              <a:rPr lang="en-US" sz="1200" dirty="0" smtClean="0"/>
              <a:t>Spina et al. </a:t>
            </a:r>
            <a:r>
              <a:rPr lang="en-US" sz="1200" b="1" dirty="0"/>
              <a:t>CRNTC+: A smartphone-based sensor processing framework for prototyping personal healthcare </a:t>
            </a:r>
            <a:r>
              <a:rPr lang="en-US" sz="1200" b="1" dirty="0" smtClean="0"/>
              <a:t>applications.</a:t>
            </a:r>
            <a:r>
              <a:rPr lang="en-US" sz="1200" dirty="0" smtClean="0"/>
              <a:t> </a:t>
            </a:r>
            <a:r>
              <a:rPr lang="it-IT" sz="1200" dirty="0" smtClean="0"/>
              <a:t>Iinternational </a:t>
            </a:r>
            <a:r>
              <a:rPr lang="it-IT" sz="1200" dirty="0"/>
              <a:t>joint conference on </a:t>
            </a:r>
            <a:r>
              <a:rPr lang="en-US" sz="1200" dirty="0"/>
              <a:t>Pervasive Computing Technologies for Healthcare</a:t>
            </a:r>
            <a:r>
              <a:rPr lang="it-IT" sz="1200" dirty="0" smtClean="0"/>
              <a:t>, 2013.</a:t>
            </a:r>
          </a:p>
          <a:p>
            <a:pPr algn="just"/>
            <a:endParaRPr lang="it-IT" sz="1200" dirty="0"/>
          </a:p>
          <a:p>
            <a:pPr marL="914400" lvl="1" indent="-171450" algn="just">
              <a:buFont typeface="Arial" panose="020B0604020202020204" pitchFamily="34" charset="0"/>
              <a:buChar char="•"/>
            </a:pPr>
            <a:r>
              <a:rPr lang="it-IT" sz="1200" dirty="0" smtClean="0"/>
              <a:t>Evaluation of a framework able to </a:t>
            </a:r>
            <a:r>
              <a:rPr lang="en-US" sz="1200" dirty="0" smtClean="0"/>
              <a:t>handle </a:t>
            </a:r>
            <a:r>
              <a:rPr lang="en-US" sz="1200" dirty="0"/>
              <a:t>various multi-modal sensors and recognition solutions, which are essential to prototype patient care solutions with </a:t>
            </a:r>
            <a:r>
              <a:rPr lang="en-US" sz="1200" dirty="0" smtClean="0"/>
              <a:t>phones.</a:t>
            </a:r>
            <a:endParaRPr lang="it-IT" sz="1200" dirty="0" smtClean="0"/>
          </a:p>
          <a:p>
            <a:pPr marL="171450" indent="-171450" algn="just">
              <a:buFontTx/>
              <a:buChar char="-"/>
            </a:pPr>
            <a:endParaRPr lang="en-US" altLang="it-IT" sz="1200" dirty="0"/>
          </a:p>
        </p:txBody>
      </p:sp>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2048" y="1752600"/>
            <a:ext cx="2731552" cy="137422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4996567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a:t>Smartphone monitoring and training </a:t>
            </a:r>
            <a:r>
              <a:rPr lang="en-US" sz="4000" dirty="0" smtClean="0"/>
              <a:t>approaches (cont’d)</a:t>
            </a:r>
            <a:endParaRPr lang="en-US" altLang="it-IT" sz="4000" dirty="0"/>
          </a:p>
        </p:txBody>
      </p:sp>
      <p:sp>
        <p:nvSpPr>
          <p:cNvPr id="5" name="Text Placeholder 2_"/>
          <p:cNvSpPr txBox="1">
            <a:spLocks/>
          </p:cNvSpPr>
          <p:nvPr/>
        </p:nvSpPr>
        <p:spPr bwMode="auto">
          <a:xfrm>
            <a:off x="304800" y="3216274"/>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171450" indent="-171450" algn="just">
              <a:buFont typeface="Arial" panose="020B0604020202020204" pitchFamily="34" charset="0"/>
              <a:buChar char="•"/>
            </a:pPr>
            <a:r>
              <a:rPr lang="en-US" sz="1200" dirty="0" smtClean="0"/>
              <a:t>Spina et al. </a:t>
            </a:r>
            <a:r>
              <a:rPr lang="en-US" sz="1200" b="1" dirty="0" err="1" smtClean="0"/>
              <a:t>COPDTrainer</a:t>
            </a:r>
            <a:r>
              <a:rPr lang="it-IT" sz="1200" b="1" dirty="0" smtClean="0"/>
              <a:t>: </a:t>
            </a:r>
            <a:r>
              <a:rPr lang="en-US" sz="1200" b="1" dirty="0" err="1"/>
              <a:t>COPDTrainer</a:t>
            </a:r>
            <a:r>
              <a:rPr lang="en-US" sz="1200" b="1" dirty="0"/>
              <a:t>: a smartphone-based </a:t>
            </a:r>
            <a:r>
              <a:rPr lang="en-US" sz="1200" b="1" dirty="0" smtClean="0"/>
              <a:t>motion rehabilitation </a:t>
            </a:r>
            <a:r>
              <a:rPr lang="en-US" sz="1200" b="1" dirty="0"/>
              <a:t>training system with real-time acoustic </a:t>
            </a:r>
            <a:r>
              <a:rPr lang="en-US" sz="1200" b="1" dirty="0" smtClean="0"/>
              <a:t>feedback.</a:t>
            </a:r>
            <a:r>
              <a:rPr lang="en-US" sz="1200" dirty="0" smtClean="0"/>
              <a:t> </a:t>
            </a:r>
            <a:r>
              <a:rPr lang="it-IT" sz="1200" dirty="0" smtClean="0"/>
              <a:t>ACM </a:t>
            </a:r>
            <a:r>
              <a:rPr lang="it-IT" sz="1200" dirty="0"/>
              <a:t>international joint conference on Pervasive and ubiquitous </a:t>
            </a:r>
            <a:r>
              <a:rPr lang="it-IT" sz="1200" dirty="0" smtClean="0"/>
              <a:t>computing, 2013</a:t>
            </a:r>
          </a:p>
          <a:p>
            <a:pPr marL="171450" indent="-171450">
              <a:buFont typeface="Arial" panose="020B0604020202020204" pitchFamily="34" charset="0"/>
              <a:buChar char="•"/>
            </a:pPr>
            <a:r>
              <a:rPr lang="en-US" sz="1200" dirty="0" smtClean="0"/>
              <a:t>Spina </a:t>
            </a:r>
            <a:r>
              <a:rPr lang="en-US" sz="1200" dirty="0"/>
              <a:t>et al. </a:t>
            </a:r>
            <a:r>
              <a:rPr lang="en-US" sz="1200" b="1" dirty="0"/>
              <a:t>Toward smartphone assisted personal rehabilitation </a:t>
            </a:r>
            <a:r>
              <a:rPr lang="en-US" sz="1200" b="1" dirty="0" smtClean="0"/>
              <a:t>training.</a:t>
            </a:r>
            <a:r>
              <a:rPr lang="en-US" sz="1200" dirty="0" smtClean="0"/>
              <a:t> </a:t>
            </a:r>
            <a:r>
              <a:rPr lang="en-US" sz="1200" dirty="0"/>
              <a:t>XRDS: Crossroads, The ACM Magazine for Students</a:t>
            </a:r>
            <a:r>
              <a:rPr lang="it-IT" sz="1200" dirty="0" smtClean="0"/>
              <a:t>, 2013</a:t>
            </a:r>
          </a:p>
          <a:p>
            <a:pPr marL="914400" lvl="1" indent="-171450">
              <a:buFont typeface="Arial" panose="020B0604020202020204" pitchFamily="34" charset="0"/>
              <a:buChar char="•"/>
            </a:pPr>
            <a:endParaRPr lang="it-IT" altLang="it-IT" sz="1200" dirty="0"/>
          </a:p>
          <a:p>
            <a:pPr marL="914400" lvl="1" indent="-171450">
              <a:buFont typeface="Arial" panose="020B0604020202020204" pitchFamily="34" charset="0"/>
              <a:buChar char="•"/>
            </a:pPr>
            <a:r>
              <a:rPr lang="en-US" sz="1200" dirty="0"/>
              <a:t>The validation with healthy participants showed an overall accuracy of 96.2% in recognizing exercise performances. </a:t>
            </a:r>
            <a:endParaRPr lang="en-US" sz="1200" dirty="0" smtClean="0"/>
          </a:p>
          <a:p>
            <a:pPr marL="914400" lvl="1" indent="-171450">
              <a:buFont typeface="Arial" panose="020B0604020202020204" pitchFamily="34" charset="0"/>
              <a:buChar char="•"/>
            </a:pPr>
            <a:r>
              <a:rPr lang="en-US" sz="1200" dirty="0" smtClean="0"/>
              <a:t>Exercise </a:t>
            </a:r>
            <a:r>
              <a:rPr lang="en-US" sz="1200" dirty="0"/>
              <a:t>repetitions were counted at 96.7% </a:t>
            </a:r>
            <a:r>
              <a:rPr lang="en-US" sz="1200" dirty="0" smtClean="0"/>
              <a:t>accuracy during an intervention with 7 COPD patients</a:t>
            </a:r>
          </a:p>
          <a:p>
            <a:pPr marL="914400" lvl="1" indent="-171450">
              <a:buFont typeface="Arial" panose="020B0604020202020204" pitchFamily="34" charset="0"/>
              <a:buChar char="•"/>
            </a:pPr>
            <a:r>
              <a:rPr lang="en-US" sz="1200" dirty="0"/>
              <a:t>T</a:t>
            </a:r>
            <a:r>
              <a:rPr lang="en-US" sz="1200" dirty="0" smtClean="0"/>
              <a:t>rainee </a:t>
            </a:r>
            <a:r>
              <a:rPr lang="en-US" sz="1200" dirty="0"/>
              <a:t>performance classification rate was 87.5%</a:t>
            </a:r>
            <a:endParaRPr lang="en-US" altLang="it-IT" sz="1200" dirty="0"/>
          </a:p>
          <a:p>
            <a:pPr algn="just"/>
            <a:endParaRPr lang="en-US" altLang="it-IT" sz="1200" dirty="0"/>
          </a:p>
        </p:txBody>
      </p:sp>
      <p:grpSp>
        <p:nvGrpSpPr>
          <p:cNvPr id="6" name="Group 5"/>
          <p:cNvGrpSpPr/>
          <p:nvPr/>
        </p:nvGrpSpPr>
        <p:grpSpPr>
          <a:xfrm>
            <a:off x="2590801" y="1752600"/>
            <a:ext cx="3886199" cy="1304924"/>
            <a:chOff x="2514600" y="3505200"/>
            <a:chExt cx="4362905" cy="1457324"/>
          </a:xfrm>
        </p:grpSpPr>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6630" y="3509967"/>
              <a:ext cx="915761" cy="14525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7230" y="3509967"/>
              <a:ext cx="2200275"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14600" y="3505200"/>
              <a:ext cx="1100137" cy="143827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extLst>
      <p:ext uri="{BB962C8B-B14F-4D97-AF65-F5344CB8AC3E}">
        <p14:creationId xmlns:p14="http://schemas.microsoft.com/office/powerpoint/2010/main" val="153434392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insights in COPD</a:t>
            </a:r>
            <a:endParaRPr lang="en-US" altLang="it-IT" sz="40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171450" indent="-171450" algn="just">
              <a:buFont typeface="Arial" panose="020B0604020202020204" pitchFamily="34" charset="0"/>
              <a:buChar char="•"/>
            </a:pPr>
            <a:r>
              <a:rPr lang="en-US" sz="1200" dirty="0" smtClean="0"/>
              <a:t>Mesquita</a:t>
            </a:r>
            <a:r>
              <a:rPr lang="en-US" sz="1200" dirty="0"/>
              <a:t>, Spina et al. </a:t>
            </a:r>
            <a:r>
              <a:rPr lang="en-US" sz="1200" b="1" dirty="0"/>
              <a:t>Cluster analysis of objectively measured physical activity in 1001 COPD patients.</a:t>
            </a:r>
            <a:r>
              <a:rPr lang="en-US" sz="1200" dirty="0"/>
              <a:t> Late-breaking abstract ERS 2014</a:t>
            </a:r>
            <a:endParaRPr lang="it-IT" sz="1200" dirty="0"/>
          </a:p>
          <a:p>
            <a:pPr marL="171450" indent="-171450" algn="just">
              <a:buFont typeface="Arial" panose="020B0604020202020204" pitchFamily="34" charset="0"/>
              <a:buChar char="•"/>
            </a:pPr>
            <a:r>
              <a:rPr lang="en-US" sz="1200" dirty="0" smtClean="0"/>
              <a:t>Mesquita, Spina et al. </a:t>
            </a:r>
            <a:r>
              <a:rPr lang="en-US" sz="1200" b="1" dirty="0"/>
              <a:t>Physical activity patterns and clusters in 1001 patients with chronic obstructive pulmonary disease.</a:t>
            </a:r>
            <a:r>
              <a:rPr lang="en-US" sz="1200" dirty="0" smtClean="0"/>
              <a:t> </a:t>
            </a:r>
            <a:r>
              <a:rPr lang="it-IT" sz="1200" dirty="0" smtClean="0"/>
              <a:t>Submitted to PLOS ONE.</a:t>
            </a:r>
          </a:p>
          <a:p>
            <a:pPr marL="914400" lvl="1" indent="-171450" algn="just">
              <a:buFont typeface="Arial" panose="020B0604020202020204" pitchFamily="34" charset="0"/>
              <a:buChar char="•"/>
            </a:pPr>
            <a:endParaRPr lang="it-IT" sz="1200" dirty="0"/>
          </a:p>
          <a:p>
            <a:pPr marL="914400" lvl="1" indent="-171450" algn="just">
              <a:buFont typeface="Arial" panose="020B0604020202020204" pitchFamily="34" charset="0"/>
              <a:buChar char="•"/>
            </a:pPr>
            <a:r>
              <a:rPr lang="en-US" sz="1200" dirty="0" smtClean="0"/>
              <a:t>Compared </a:t>
            </a:r>
            <a:r>
              <a:rPr lang="en-US" sz="1200" dirty="0"/>
              <a:t>with healthy subjects, COPD patients </a:t>
            </a:r>
            <a:r>
              <a:rPr lang="en-US" sz="1200" dirty="0" smtClean="0"/>
              <a:t>spent: </a:t>
            </a:r>
          </a:p>
          <a:p>
            <a:pPr marL="1314450" lvl="2" indent="-171450" algn="just">
              <a:buFont typeface="Arial" panose="020B0604020202020204" pitchFamily="34" charset="0"/>
              <a:buChar char="•"/>
            </a:pPr>
            <a:r>
              <a:rPr lang="en-US" sz="1200" dirty="0" smtClean="0"/>
              <a:t>less </a:t>
            </a:r>
            <a:r>
              <a:rPr lang="en-US" sz="1200" dirty="0"/>
              <a:t>time in higher intensities of physical activity (PA</a:t>
            </a:r>
            <a:r>
              <a:rPr lang="en-US" sz="1200" dirty="0" smtClean="0"/>
              <a:t>)</a:t>
            </a:r>
          </a:p>
          <a:p>
            <a:pPr marL="1314450" lvl="2" indent="-171450" algn="just">
              <a:buFont typeface="Arial" panose="020B0604020202020204" pitchFamily="34" charset="0"/>
              <a:buChar char="•"/>
            </a:pPr>
            <a:r>
              <a:rPr lang="en-US" sz="1200" dirty="0" smtClean="0"/>
              <a:t>more </a:t>
            </a:r>
            <a:r>
              <a:rPr lang="en-US" sz="1200" dirty="0"/>
              <a:t>time in lower intensities. </a:t>
            </a:r>
            <a:endParaRPr lang="en-US" sz="1200" dirty="0" smtClean="0"/>
          </a:p>
          <a:p>
            <a:pPr marL="1314450" lvl="2" indent="-171450" algn="just">
              <a:buFont typeface="Arial" panose="020B0604020202020204" pitchFamily="34" charset="0"/>
              <a:buChar char="•"/>
            </a:pPr>
            <a:r>
              <a:rPr lang="en-US" sz="1200" dirty="0" smtClean="0"/>
              <a:t>more </a:t>
            </a:r>
            <a:r>
              <a:rPr lang="en-US" sz="1200" dirty="0"/>
              <a:t>time in very light </a:t>
            </a:r>
            <a:r>
              <a:rPr lang="en-US" sz="1200" dirty="0" smtClean="0"/>
              <a:t>intensity</a:t>
            </a:r>
          </a:p>
          <a:p>
            <a:pPr marL="1314450" lvl="2" indent="-171450" algn="just">
              <a:buFont typeface="Arial" panose="020B0604020202020204" pitchFamily="34" charset="0"/>
              <a:buChar char="•"/>
            </a:pPr>
            <a:r>
              <a:rPr lang="en-US" sz="1200" dirty="0" smtClean="0"/>
              <a:t>no </a:t>
            </a:r>
            <a:r>
              <a:rPr lang="en-US" sz="1200" dirty="0"/>
              <a:t>difference for the time in light intensity. </a:t>
            </a:r>
            <a:endParaRPr lang="en-US" sz="1200" dirty="0" smtClean="0"/>
          </a:p>
          <a:p>
            <a:pPr marL="914400" lvl="1" indent="-171450" algn="just">
              <a:buFont typeface="Arial" panose="020B0604020202020204" pitchFamily="34" charset="0"/>
              <a:buChar char="•"/>
            </a:pPr>
            <a:r>
              <a:rPr lang="en-US" sz="1200" dirty="0" smtClean="0"/>
              <a:t>In </a:t>
            </a:r>
            <a:r>
              <a:rPr lang="en-US" sz="1200" dirty="0"/>
              <a:t>general, healthy subjects performed their activities at higher intensities compared to patients with COPD, and this difference was more pronounced during weekdays. </a:t>
            </a:r>
            <a:endParaRPr lang="en-US" sz="1200" dirty="0" smtClean="0"/>
          </a:p>
          <a:p>
            <a:pPr marL="914400" lvl="1" indent="-171450" algn="just">
              <a:buFont typeface="Arial" panose="020B0604020202020204" pitchFamily="34" charset="0"/>
              <a:buChar char="•"/>
            </a:pPr>
            <a:r>
              <a:rPr lang="en-US" sz="1200" dirty="0" smtClean="0"/>
              <a:t>Reducing </a:t>
            </a:r>
            <a:r>
              <a:rPr lang="en-US" sz="1200" dirty="0"/>
              <a:t>the time in very light intensity without necessarily increasing the time in moderate-to-vigorous intensity may be an important strategy for achieving health benefits in patients with COPD. </a:t>
            </a:r>
            <a:endParaRPr lang="en-US" sz="1200" dirty="0" smtClean="0"/>
          </a:p>
          <a:p>
            <a:pPr marL="914400" lvl="1" indent="-171450" algn="just">
              <a:buFont typeface="Arial" panose="020B0604020202020204" pitchFamily="34" charset="0"/>
              <a:buChar char="•"/>
            </a:pPr>
            <a:r>
              <a:rPr lang="en-US" sz="1200" dirty="0" smtClean="0"/>
              <a:t>5 </a:t>
            </a:r>
            <a:r>
              <a:rPr lang="en-US" sz="1200" dirty="0"/>
              <a:t>subgroups of patients were identified each with distinct PA measures and PA hourly temporal trends, which can be useful to tailor interventions according to the needs of each group. </a:t>
            </a:r>
            <a:endParaRPr lang="it-IT" sz="1200" dirty="0" smtClean="0"/>
          </a:p>
          <a:p>
            <a:pPr algn="just"/>
            <a:endParaRPr lang="en-US" altLang="it-IT" sz="1200" dirty="0"/>
          </a:p>
        </p:txBody>
      </p:sp>
      <p:pic>
        <p:nvPicPr>
          <p:cNvPr id="27651" name="Picture 3" descr="D:\Condiviso\TUe\COPDBodyMedia\COPDBodyMedia_paper\Draft\Thorax\Figures\Figure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4657" y="1039131"/>
            <a:ext cx="2979737" cy="2235200"/>
          </a:xfrm>
          <a:prstGeom prst="rect">
            <a:avLst/>
          </a:prstGeom>
          <a:noFill/>
          <a:extLst>
            <a:ext uri="{909E8E84-426E-40DD-AFC4-6F175D3DCCD1}">
              <a14:hiddenFill xmlns:a14="http://schemas.microsoft.com/office/drawing/2010/main">
                <a:solidFill>
                  <a:srgbClr val="FFFFFF"/>
                </a:solidFill>
              </a14:hiddenFill>
            </a:ext>
          </a:extLst>
        </p:spPr>
      </p:pic>
      <p:pic>
        <p:nvPicPr>
          <p:cNvPr id="27653" name="Picture 5" descr="D:\Condiviso\TUe\COPDBodyMedia\COPDBodyMedia_paper\Draft\Thorax\Figures\Figure6_resized.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96951" y="1085951"/>
            <a:ext cx="2953522" cy="2215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6048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insights in </a:t>
            </a:r>
            <a:r>
              <a:rPr lang="en-US" dirty="0" smtClean="0"/>
              <a:t>COPD (cont’d)</a:t>
            </a:r>
            <a:endParaRPr lang="en-US" dirty="0"/>
          </a:p>
        </p:txBody>
      </p:sp>
      <p:sp>
        <p:nvSpPr>
          <p:cNvPr id="4" name="Text Placeholder 2_"/>
          <p:cNvSpPr txBox="1">
            <a:spLocks/>
          </p:cNvSpPr>
          <p:nvPr/>
        </p:nvSpPr>
        <p:spPr bwMode="auto">
          <a:xfrm>
            <a:off x="304800" y="3582285"/>
            <a:ext cx="8534400" cy="1651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171450" indent="-171450" algn="just">
              <a:buFont typeface="Arial" panose="020B0604020202020204" pitchFamily="34" charset="0"/>
              <a:buChar char="•"/>
            </a:pPr>
            <a:r>
              <a:rPr lang="en-US" sz="1200" dirty="0" smtClean="0"/>
              <a:t>Spina et al. </a:t>
            </a:r>
            <a:r>
              <a:rPr lang="en-US" sz="1200" b="1" dirty="0"/>
              <a:t>Identifying Physical Activity Profiles in </a:t>
            </a:r>
            <a:r>
              <a:rPr lang="en-US" sz="1200" b="1" dirty="0" smtClean="0"/>
              <a:t>COPD Patients </a:t>
            </a:r>
            <a:r>
              <a:rPr lang="en-US" sz="1200" b="1" dirty="0"/>
              <a:t>Using Topic Models</a:t>
            </a:r>
            <a:r>
              <a:rPr lang="en-US" sz="1200" b="1" dirty="0" smtClean="0"/>
              <a:t>. </a:t>
            </a:r>
            <a:r>
              <a:rPr lang="en-US" sz="1200" dirty="0" smtClean="0"/>
              <a:t>IEEE JBHI</a:t>
            </a:r>
            <a:r>
              <a:rPr lang="it-IT" sz="1200" dirty="0" smtClean="0"/>
              <a:t>, 2015</a:t>
            </a:r>
          </a:p>
          <a:p>
            <a:pPr marL="171450" indent="-171450" algn="just">
              <a:buFont typeface="Arial" panose="020B0604020202020204" pitchFamily="34" charset="0"/>
              <a:buChar char="•"/>
            </a:pPr>
            <a:endParaRPr lang="it-IT" sz="1200" dirty="0"/>
          </a:p>
          <a:p>
            <a:pPr marL="914400" lvl="1" indent="-171450" algn="just">
              <a:buFont typeface="Arial" panose="020B0604020202020204" pitchFamily="34" charset="0"/>
              <a:buChar char="•"/>
            </a:pPr>
            <a:r>
              <a:rPr lang="en-US" sz="1200" dirty="0" smtClean="0"/>
              <a:t>Physical </a:t>
            </a:r>
            <a:r>
              <a:rPr lang="en-US" sz="1200" dirty="0"/>
              <a:t>activity (PA) routines can be used effectively to integrate and represent the underlying structure of PA measures and physiological responses that characterize the activities of the subjects under study. </a:t>
            </a:r>
            <a:endParaRPr lang="en-US" sz="1200" dirty="0" smtClean="0"/>
          </a:p>
          <a:p>
            <a:pPr marL="914400" lvl="1" indent="-171450" algn="just">
              <a:buFont typeface="Arial" panose="020B0604020202020204" pitchFamily="34" charset="0"/>
              <a:buChar char="•"/>
            </a:pPr>
            <a:r>
              <a:rPr lang="en-US" sz="1200" dirty="0" smtClean="0"/>
              <a:t>PA </a:t>
            </a:r>
            <a:r>
              <a:rPr lang="en-US" sz="1200" dirty="0"/>
              <a:t>routines in COPD patients and healthy subjects are considerably different regarding their composition and that they show certain consistent trends depending on COPD clinical characteristics. </a:t>
            </a:r>
            <a:endParaRPr lang="en-US" sz="1200" dirty="0" smtClean="0"/>
          </a:p>
          <a:p>
            <a:pPr marL="914400" lvl="1" indent="-171450" algn="just">
              <a:buFont typeface="Arial" panose="020B0604020202020204" pitchFamily="34" charset="0"/>
              <a:buChar char="•"/>
            </a:pPr>
            <a:r>
              <a:rPr lang="en-US" sz="1200" dirty="0" smtClean="0"/>
              <a:t>The </a:t>
            </a:r>
            <a:r>
              <a:rPr lang="en-US" sz="1200" dirty="0"/>
              <a:t>discovered PA routines were found suitable to label, in an unsupervised way, subjects and assessed days. </a:t>
            </a:r>
            <a:endParaRPr lang="en-US" sz="1200" dirty="0" smtClean="0"/>
          </a:p>
          <a:p>
            <a:pPr marL="914400" lvl="1" indent="-171450" algn="just">
              <a:buFont typeface="Arial" panose="020B0604020202020204" pitchFamily="34" charset="0"/>
              <a:buChar char="•"/>
            </a:pPr>
            <a:r>
              <a:rPr lang="en-US" sz="1200" dirty="0" smtClean="0"/>
              <a:t>Inferring </a:t>
            </a:r>
            <a:r>
              <a:rPr lang="en-US" sz="1200" dirty="0"/>
              <a:t>the routine structure on day segments of relatively short duration it was possible to model PA routine patterns across the day and to identify moments in time in which transitions of the most active routines occur. </a:t>
            </a:r>
            <a:endParaRPr lang="en-US" sz="1200" dirty="0" smtClean="0"/>
          </a:p>
          <a:p>
            <a:pPr marL="914400" lvl="1" indent="-171450" algn="just">
              <a:buFont typeface="Arial" panose="020B0604020202020204" pitchFamily="34" charset="0"/>
              <a:buChar char="•"/>
            </a:pPr>
            <a:r>
              <a:rPr lang="en-US" sz="1200" dirty="0" smtClean="0"/>
              <a:t>The </a:t>
            </a:r>
            <a:r>
              <a:rPr lang="en-US" sz="1200" dirty="0"/>
              <a:t>discovered PA routines apparently reflect the stage of the disease as measured by common clinical practice and could be valid constructs to quantify PA behavior change in patient with limited exercise capacity such as with COPD. </a:t>
            </a:r>
            <a:endParaRPr lang="it-IT" sz="1200" dirty="0" smtClean="0"/>
          </a:p>
        </p:txBody>
      </p:sp>
      <p:pic>
        <p:nvPicPr>
          <p:cNvPr id="5" name="Picture 4" descr="C:\Users\310153563\Documents\GitHub\COPDBodyMedia_2nd_analysis\COPDBodyMedia2_paper\IEEEtran_windows_philips\figure\eps\figure_4_1_copd_weekday_gly.e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6935" y="1600200"/>
            <a:ext cx="6549979" cy="100714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C:\Users\310153563\Documents\GitHub\COPDBodyMedia_2nd_analysis\COPDBodyMedia2_paper\IEEEtran_windows_philips\figure\eps\figure_4_1_healthy_weekday_gly.e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6935" y="2615292"/>
            <a:ext cx="6549979" cy="100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48353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6481" y="273629"/>
            <a:ext cx="8226720" cy="1143480"/>
          </a:xfrm>
        </p:spPr>
        <p:txBody>
          <a:bodyPr/>
          <a:lstStyle/>
          <a:p>
            <a:r>
              <a:rPr lang="en-US" dirty="0" smtClean="0"/>
              <a:t>New insights in COPD (cont’d)</a:t>
            </a:r>
            <a:endParaRPr lang="en-US" dirty="0"/>
          </a:p>
        </p:txBody>
      </p:sp>
      <p:sp>
        <p:nvSpPr>
          <p:cNvPr id="7" name="Content Placeholder 2"/>
          <p:cNvSpPr>
            <a:spLocks noGrp="1"/>
          </p:cNvSpPr>
          <p:nvPr>
            <p:ph idx="1"/>
          </p:nvPr>
        </p:nvSpPr>
        <p:spPr>
          <a:xfrm>
            <a:off x="456481" y="1604328"/>
            <a:ext cx="8226720" cy="3976258"/>
          </a:xfrm>
        </p:spPr>
        <p:txBody>
          <a:bodyPr/>
          <a:lstStyle/>
          <a:p>
            <a:r>
              <a:rPr lang="en-US" sz="1600" dirty="0"/>
              <a:t>Probabilistic sensor fusion of activity and physiological data based on topic models for </a:t>
            </a:r>
            <a:r>
              <a:rPr lang="en-US" sz="1600" dirty="0" smtClean="0"/>
              <a:t>identifying  sleep </a:t>
            </a:r>
            <a:r>
              <a:rPr lang="en-US" sz="1600" dirty="0"/>
              <a:t>characterization in </a:t>
            </a:r>
            <a:r>
              <a:rPr lang="en-US" sz="1600" dirty="0" smtClean="0"/>
              <a:t>COPD</a:t>
            </a:r>
          </a:p>
          <a:p>
            <a:endParaRPr lang="en-US" sz="1200" dirty="0"/>
          </a:p>
          <a:p>
            <a:pPr marL="457200" lvl="1" indent="0">
              <a:buNone/>
            </a:pPr>
            <a:r>
              <a:rPr lang="en-US" sz="1200" dirty="0" smtClean="0"/>
              <a:t>We would like to show:</a:t>
            </a:r>
          </a:p>
          <a:p>
            <a:pPr lvl="2">
              <a:buFont typeface="+mj-lt"/>
              <a:buAutoNum type="arabicPeriod"/>
            </a:pPr>
            <a:r>
              <a:rPr lang="en-US" sz="1200" dirty="0" smtClean="0"/>
              <a:t>COPD and healthy subjects have different sleeping patterns</a:t>
            </a:r>
          </a:p>
          <a:p>
            <a:pPr lvl="2">
              <a:buFont typeface="+mj-lt"/>
              <a:buAutoNum type="arabicPeriod"/>
            </a:pPr>
            <a:r>
              <a:rPr lang="en-US" sz="1200" dirty="0" smtClean="0"/>
              <a:t>COPD and healthy subjects could be recognized according to their sleeping patterns</a:t>
            </a:r>
          </a:p>
          <a:p>
            <a:pPr lvl="2">
              <a:buFont typeface="+mj-lt"/>
              <a:buAutoNum type="arabicPeriod"/>
            </a:pPr>
            <a:r>
              <a:rPr lang="en-US" sz="1200" dirty="0" smtClean="0"/>
              <a:t>Sleeping patterns are correlated to the activity level during the day</a:t>
            </a:r>
          </a:p>
          <a:p>
            <a:pPr marL="914400" lvl="2" indent="0">
              <a:buNone/>
            </a:pPr>
            <a:endParaRPr lang="en-US" sz="1200" dirty="0" smtClean="0"/>
          </a:p>
          <a:p>
            <a:pPr marL="514350" lvl="1" indent="0">
              <a:buNone/>
            </a:pPr>
            <a:r>
              <a:rPr lang="en-US" sz="1200" dirty="0" smtClean="0"/>
              <a:t>Methodology:</a:t>
            </a:r>
          </a:p>
          <a:p>
            <a:pPr lvl="2">
              <a:buFont typeface="+mj-lt"/>
              <a:buAutoNum type="arabicPeriod"/>
            </a:pPr>
            <a:r>
              <a:rPr lang="en-US" sz="1200" dirty="0" smtClean="0"/>
              <a:t>Explained in the next slide</a:t>
            </a:r>
          </a:p>
          <a:p>
            <a:pPr marL="514350" lvl="1" indent="0">
              <a:buNone/>
            </a:pPr>
            <a:endParaRPr lang="en-US" sz="1200" dirty="0" smtClean="0"/>
          </a:p>
          <a:p>
            <a:pPr marL="457200" lvl="1" indent="0">
              <a:buNone/>
            </a:pPr>
            <a:r>
              <a:rPr lang="en-US" sz="1200" smtClean="0"/>
              <a:t>Conclusion</a:t>
            </a:r>
            <a:r>
              <a:rPr lang="en-US" sz="1200" dirty="0" smtClean="0"/>
              <a:t>:</a:t>
            </a:r>
          </a:p>
          <a:p>
            <a:pPr marL="1085850" lvl="2">
              <a:buFont typeface="+mj-lt"/>
              <a:buAutoNum type="arabicPeriod"/>
            </a:pPr>
            <a:r>
              <a:rPr lang="en-US" sz="1200" dirty="0" smtClean="0"/>
              <a:t>When analyzing physical activities sleeping patterns should be taken into account</a:t>
            </a:r>
            <a:r>
              <a:rPr lang="en-US" sz="1200" dirty="0"/>
              <a:t>	</a:t>
            </a:r>
          </a:p>
          <a:p>
            <a:endParaRPr lang="en-US" sz="1200" dirty="0"/>
          </a:p>
        </p:txBody>
      </p:sp>
    </p:spTree>
    <p:extLst>
      <p:ext uri="{BB962C8B-B14F-4D97-AF65-F5344CB8AC3E}">
        <p14:creationId xmlns:p14="http://schemas.microsoft.com/office/powerpoint/2010/main" val="36738135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insights in COPD (cont’d)</a:t>
            </a:r>
            <a:endParaRPr lang="en-US" dirty="0"/>
          </a:p>
        </p:txBody>
      </p:sp>
      <p:sp>
        <p:nvSpPr>
          <p:cNvPr id="11" name="Rectangle 10"/>
          <p:cNvSpPr/>
          <p:nvPr/>
        </p:nvSpPr>
        <p:spPr>
          <a:xfrm>
            <a:off x="0" y="1976900"/>
            <a:ext cx="15240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Sensor data 1</a:t>
            </a:r>
            <a:endParaRPr lang="en-US" sz="1200" dirty="0">
              <a:solidFill>
                <a:schemeClr val="tx1"/>
              </a:solidFill>
            </a:endParaRPr>
          </a:p>
        </p:txBody>
      </p:sp>
      <p:sp>
        <p:nvSpPr>
          <p:cNvPr id="12" name="Rectangle 11"/>
          <p:cNvSpPr/>
          <p:nvPr/>
        </p:nvSpPr>
        <p:spPr>
          <a:xfrm>
            <a:off x="0" y="2738900"/>
            <a:ext cx="15240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Sensor data 2</a:t>
            </a:r>
            <a:endParaRPr lang="en-US" sz="1200" dirty="0">
              <a:solidFill>
                <a:schemeClr val="tx1"/>
              </a:solidFill>
            </a:endParaRPr>
          </a:p>
        </p:txBody>
      </p:sp>
      <p:sp>
        <p:nvSpPr>
          <p:cNvPr id="13" name="Rectangle 12"/>
          <p:cNvSpPr/>
          <p:nvPr/>
        </p:nvSpPr>
        <p:spPr>
          <a:xfrm>
            <a:off x="0" y="4262900"/>
            <a:ext cx="15240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Sensor data n</a:t>
            </a:r>
            <a:endParaRPr lang="en-US" sz="1200" dirty="0">
              <a:solidFill>
                <a:schemeClr val="tx1"/>
              </a:solidFill>
            </a:endParaRPr>
          </a:p>
        </p:txBody>
      </p:sp>
      <p:sp>
        <p:nvSpPr>
          <p:cNvPr id="14" name="TextBox 13"/>
          <p:cNvSpPr txBox="1"/>
          <p:nvPr/>
        </p:nvSpPr>
        <p:spPr>
          <a:xfrm>
            <a:off x="381000" y="3251299"/>
            <a:ext cx="762000" cy="923330"/>
          </a:xfrm>
          <a:prstGeom prst="rect">
            <a:avLst/>
          </a:prstGeom>
          <a:noFill/>
        </p:spPr>
        <p:txBody>
          <a:bodyPr wrap="square" rtlCol="0">
            <a:spAutoFit/>
          </a:bodyPr>
          <a:lstStyle/>
          <a:p>
            <a:pPr algn="ctr"/>
            <a:r>
              <a:rPr lang="en-US" dirty="0" smtClean="0"/>
              <a:t>.</a:t>
            </a:r>
          </a:p>
          <a:p>
            <a:pPr algn="ctr"/>
            <a:r>
              <a:rPr lang="en-US" dirty="0" smtClean="0"/>
              <a:t>.</a:t>
            </a:r>
          </a:p>
          <a:p>
            <a:pPr algn="ctr"/>
            <a:r>
              <a:rPr lang="en-US" dirty="0"/>
              <a:t>.</a:t>
            </a:r>
          </a:p>
        </p:txBody>
      </p:sp>
      <p:grpSp>
        <p:nvGrpSpPr>
          <p:cNvPr id="64" name="Group 63"/>
          <p:cNvGrpSpPr/>
          <p:nvPr/>
        </p:nvGrpSpPr>
        <p:grpSpPr>
          <a:xfrm>
            <a:off x="1524000" y="1976900"/>
            <a:ext cx="1846152" cy="2667000"/>
            <a:chOff x="1524000" y="2743200"/>
            <a:chExt cx="1846152" cy="2667000"/>
          </a:xfrm>
        </p:grpSpPr>
        <p:sp>
          <p:nvSpPr>
            <p:cNvPr id="15" name="Rectangle 14"/>
            <p:cNvSpPr/>
            <p:nvPr/>
          </p:nvSpPr>
          <p:spPr>
            <a:xfrm>
              <a:off x="1828800" y="2743200"/>
              <a:ext cx="15240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Conversion to symbol</a:t>
              </a:r>
              <a:endParaRPr lang="en-US" sz="1200" dirty="0">
                <a:solidFill>
                  <a:schemeClr val="tx1"/>
                </a:solidFill>
              </a:endParaRPr>
            </a:p>
          </p:txBody>
        </p:sp>
        <p:sp>
          <p:nvSpPr>
            <p:cNvPr id="16" name="Rectangle 15"/>
            <p:cNvSpPr/>
            <p:nvPr/>
          </p:nvSpPr>
          <p:spPr>
            <a:xfrm>
              <a:off x="1828800" y="3505200"/>
              <a:ext cx="15240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Conversion to symbol</a:t>
              </a:r>
              <a:endParaRPr lang="en-US" sz="1200" dirty="0">
                <a:solidFill>
                  <a:schemeClr val="tx1"/>
                </a:solidFill>
              </a:endParaRPr>
            </a:p>
          </p:txBody>
        </p:sp>
        <p:sp>
          <p:nvSpPr>
            <p:cNvPr id="17" name="Rectangle 16"/>
            <p:cNvSpPr/>
            <p:nvPr/>
          </p:nvSpPr>
          <p:spPr>
            <a:xfrm>
              <a:off x="1846152" y="5029200"/>
              <a:ext cx="15240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Conversion to symbol</a:t>
              </a:r>
              <a:endParaRPr lang="en-US" sz="1200" dirty="0">
                <a:solidFill>
                  <a:schemeClr val="tx1"/>
                </a:solidFill>
              </a:endParaRPr>
            </a:p>
          </p:txBody>
        </p:sp>
        <p:cxnSp>
          <p:nvCxnSpPr>
            <p:cNvPr id="25" name="Straight Arrow Connector 24"/>
            <p:cNvCxnSpPr>
              <a:stCxn id="11" idx="3"/>
              <a:endCxn id="15" idx="1"/>
            </p:cNvCxnSpPr>
            <p:nvPr/>
          </p:nvCxnSpPr>
          <p:spPr>
            <a:xfrm>
              <a:off x="1524000" y="2857500"/>
              <a:ext cx="3048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2" idx="3"/>
              <a:endCxn id="16" idx="1"/>
            </p:cNvCxnSpPr>
            <p:nvPr/>
          </p:nvCxnSpPr>
          <p:spPr>
            <a:xfrm>
              <a:off x="1524000" y="3619500"/>
              <a:ext cx="3048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3" idx="3"/>
              <a:endCxn id="17" idx="1"/>
            </p:cNvCxnSpPr>
            <p:nvPr/>
          </p:nvCxnSpPr>
          <p:spPr>
            <a:xfrm>
              <a:off x="1524000" y="5143500"/>
              <a:ext cx="322152"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65" name="Group 64"/>
          <p:cNvGrpSpPr/>
          <p:nvPr/>
        </p:nvGrpSpPr>
        <p:grpSpPr>
          <a:xfrm>
            <a:off x="3352800" y="1976900"/>
            <a:ext cx="2130942" cy="2661166"/>
            <a:chOff x="3352800" y="2743200"/>
            <a:chExt cx="2130942" cy="2661166"/>
          </a:xfrm>
        </p:grpSpPr>
        <p:sp>
          <p:nvSpPr>
            <p:cNvPr id="20" name="TextBox 19"/>
            <p:cNvSpPr txBox="1"/>
            <p:nvPr/>
          </p:nvSpPr>
          <p:spPr>
            <a:xfrm>
              <a:off x="3657601" y="2743200"/>
              <a:ext cx="1826141" cy="369332"/>
            </a:xfrm>
            <a:prstGeom prst="rect">
              <a:avLst/>
            </a:prstGeom>
            <a:noFill/>
          </p:spPr>
          <p:txBody>
            <a:bodyPr wrap="none" rtlCol="0">
              <a:spAutoFit/>
            </a:bodyPr>
            <a:lstStyle/>
            <a:p>
              <a:r>
                <a:rPr lang="en-US" dirty="0" smtClean="0"/>
                <a:t>A </a:t>
              </a:r>
              <a:r>
                <a:rPr lang="en-US" dirty="0" err="1" smtClean="0"/>
                <a:t>A</a:t>
              </a:r>
              <a:r>
                <a:rPr lang="en-US" dirty="0" smtClean="0"/>
                <a:t> B </a:t>
              </a:r>
              <a:r>
                <a:rPr lang="en-US" dirty="0" err="1" smtClean="0"/>
                <a:t>B</a:t>
              </a:r>
              <a:r>
                <a:rPr lang="en-US" dirty="0" smtClean="0"/>
                <a:t> A </a:t>
              </a:r>
              <a:r>
                <a:rPr lang="en-US" dirty="0" err="1" smtClean="0"/>
                <a:t>A</a:t>
              </a:r>
              <a:r>
                <a:rPr lang="en-US" dirty="0" smtClean="0"/>
                <a:t> </a:t>
              </a:r>
              <a:r>
                <a:rPr lang="en-US" dirty="0" err="1" smtClean="0"/>
                <a:t>A</a:t>
              </a:r>
              <a:r>
                <a:rPr lang="en-US" dirty="0" smtClean="0"/>
                <a:t> B </a:t>
              </a:r>
              <a:r>
                <a:rPr lang="en-US" dirty="0" err="1" smtClean="0"/>
                <a:t>B</a:t>
              </a:r>
              <a:r>
                <a:rPr lang="en-US" dirty="0" smtClean="0"/>
                <a:t> </a:t>
              </a:r>
              <a:endParaRPr lang="en-US" dirty="0"/>
            </a:p>
          </p:txBody>
        </p:sp>
        <p:sp>
          <p:nvSpPr>
            <p:cNvPr id="21" name="TextBox 20"/>
            <p:cNvSpPr txBox="1"/>
            <p:nvPr/>
          </p:nvSpPr>
          <p:spPr>
            <a:xfrm>
              <a:off x="3657601" y="3514253"/>
              <a:ext cx="1826141" cy="369332"/>
            </a:xfrm>
            <a:prstGeom prst="rect">
              <a:avLst/>
            </a:prstGeom>
            <a:noFill/>
          </p:spPr>
          <p:txBody>
            <a:bodyPr wrap="none" rtlCol="0">
              <a:spAutoFit/>
            </a:bodyPr>
            <a:lstStyle/>
            <a:p>
              <a:r>
                <a:rPr lang="en-US" dirty="0" smtClean="0"/>
                <a:t>C A C B A </a:t>
              </a:r>
              <a:r>
                <a:rPr lang="en-US" dirty="0" err="1" smtClean="0"/>
                <a:t>A</a:t>
              </a:r>
              <a:r>
                <a:rPr lang="en-US" dirty="0" smtClean="0"/>
                <a:t> D </a:t>
              </a:r>
              <a:r>
                <a:rPr lang="en-US" dirty="0" err="1" smtClean="0"/>
                <a:t>D</a:t>
              </a:r>
              <a:r>
                <a:rPr lang="en-US" dirty="0" smtClean="0"/>
                <a:t> B </a:t>
              </a:r>
              <a:endParaRPr lang="en-US" dirty="0"/>
            </a:p>
          </p:txBody>
        </p:sp>
        <p:sp>
          <p:nvSpPr>
            <p:cNvPr id="22" name="TextBox 21"/>
            <p:cNvSpPr txBox="1"/>
            <p:nvPr/>
          </p:nvSpPr>
          <p:spPr>
            <a:xfrm>
              <a:off x="3657600" y="5035034"/>
              <a:ext cx="1770036" cy="369332"/>
            </a:xfrm>
            <a:prstGeom prst="rect">
              <a:avLst/>
            </a:prstGeom>
            <a:noFill/>
          </p:spPr>
          <p:txBody>
            <a:bodyPr wrap="none" rtlCol="0">
              <a:spAutoFit/>
            </a:bodyPr>
            <a:lstStyle/>
            <a:p>
              <a:r>
                <a:rPr lang="en-US" dirty="0" smtClean="0"/>
                <a:t>A B C A B C A </a:t>
              </a:r>
              <a:r>
                <a:rPr lang="en-US" dirty="0" err="1" smtClean="0"/>
                <a:t>A</a:t>
              </a:r>
              <a:r>
                <a:rPr lang="en-US" dirty="0" smtClean="0"/>
                <a:t> </a:t>
              </a:r>
              <a:r>
                <a:rPr lang="en-US" dirty="0" err="1" smtClean="0"/>
                <a:t>A</a:t>
              </a:r>
              <a:endParaRPr lang="en-US" dirty="0"/>
            </a:p>
          </p:txBody>
        </p:sp>
        <p:cxnSp>
          <p:nvCxnSpPr>
            <p:cNvPr id="31" name="Straight Arrow Connector 30"/>
            <p:cNvCxnSpPr>
              <a:stCxn id="15" idx="3"/>
              <a:endCxn id="20" idx="1"/>
            </p:cNvCxnSpPr>
            <p:nvPr/>
          </p:nvCxnSpPr>
          <p:spPr>
            <a:xfrm>
              <a:off x="3352800" y="2857500"/>
              <a:ext cx="304801" cy="703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6" idx="3"/>
              <a:endCxn id="21" idx="1"/>
            </p:cNvCxnSpPr>
            <p:nvPr/>
          </p:nvCxnSpPr>
          <p:spPr>
            <a:xfrm>
              <a:off x="3352800" y="3619500"/>
              <a:ext cx="304801" cy="794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7" idx="3"/>
              <a:endCxn id="22" idx="1"/>
            </p:cNvCxnSpPr>
            <p:nvPr/>
          </p:nvCxnSpPr>
          <p:spPr>
            <a:xfrm>
              <a:off x="3370152" y="5143500"/>
              <a:ext cx="287448"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45" name="Rectangle 44"/>
          <p:cNvSpPr/>
          <p:nvPr/>
        </p:nvSpPr>
        <p:spPr>
          <a:xfrm>
            <a:off x="3717202" y="1524227"/>
            <a:ext cx="1633396"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Word creation</a:t>
            </a:r>
            <a:endParaRPr lang="en-US" sz="1200" dirty="0">
              <a:solidFill>
                <a:schemeClr val="tx1"/>
              </a:solidFill>
            </a:endParaRPr>
          </a:p>
        </p:txBody>
      </p:sp>
      <p:sp>
        <p:nvSpPr>
          <p:cNvPr id="60" name="Rectangle 59"/>
          <p:cNvSpPr/>
          <p:nvPr/>
        </p:nvSpPr>
        <p:spPr>
          <a:xfrm>
            <a:off x="8299" y="1615816"/>
            <a:ext cx="1668101" cy="34090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Patient 1</a:t>
            </a: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p:txBody>
      </p:sp>
      <p:sp>
        <p:nvSpPr>
          <p:cNvPr id="92" name="Rectangle 91"/>
          <p:cNvSpPr/>
          <p:nvPr/>
        </p:nvSpPr>
        <p:spPr>
          <a:xfrm>
            <a:off x="5827414" y="1524000"/>
            <a:ext cx="3164186" cy="27389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Corpus of documents</a:t>
            </a: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a:solidFill>
                <a:schemeClr val="tx1"/>
              </a:solidFill>
            </a:endParaRPr>
          </a:p>
        </p:txBody>
      </p:sp>
      <p:grpSp>
        <p:nvGrpSpPr>
          <p:cNvPr id="98" name="Group 97"/>
          <p:cNvGrpSpPr/>
          <p:nvPr/>
        </p:nvGrpSpPr>
        <p:grpSpPr>
          <a:xfrm>
            <a:off x="5350598" y="1978936"/>
            <a:ext cx="3641002" cy="1140964"/>
            <a:chOff x="5350598" y="2745236"/>
            <a:chExt cx="3641002" cy="1140964"/>
          </a:xfrm>
        </p:grpSpPr>
        <p:cxnSp>
          <p:nvCxnSpPr>
            <p:cNvPr id="94" name="Straight Arrow Connector 93"/>
            <p:cNvCxnSpPr/>
            <p:nvPr/>
          </p:nvCxnSpPr>
          <p:spPr>
            <a:xfrm flipV="1">
              <a:off x="5350598" y="3598551"/>
              <a:ext cx="2802802" cy="2319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a:xfrm>
              <a:off x="8153400" y="3413885"/>
              <a:ext cx="609600"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96" name="TextBox 95"/>
            <p:cNvSpPr txBox="1"/>
            <p:nvPr/>
          </p:nvSpPr>
          <p:spPr>
            <a:xfrm>
              <a:off x="6019800" y="3413885"/>
              <a:ext cx="2742161" cy="369332"/>
            </a:xfrm>
            <a:prstGeom prst="rect">
              <a:avLst/>
            </a:prstGeom>
            <a:noFill/>
          </p:spPr>
          <p:txBody>
            <a:bodyPr wrap="none" rtlCol="0">
              <a:spAutoFit/>
            </a:bodyPr>
            <a:lstStyle/>
            <a:p>
              <a:r>
                <a:rPr lang="en-US" dirty="0" smtClean="0"/>
                <a:t>A C A, A </a:t>
              </a:r>
              <a:r>
                <a:rPr lang="en-US" dirty="0" err="1" smtClean="0"/>
                <a:t>A</a:t>
              </a:r>
              <a:r>
                <a:rPr lang="en-US" dirty="0" smtClean="0"/>
                <a:t> B, B C </a:t>
              </a:r>
              <a:r>
                <a:rPr lang="en-US" dirty="0" err="1" smtClean="0"/>
                <a:t>C</a:t>
              </a:r>
              <a:r>
                <a:rPr lang="en-US" dirty="0" smtClean="0"/>
                <a:t>, …, B </a:t>
              </a:r>
              <a:r>
                <a:rPr lang="en-US" dirty="0" err="1" smtClean="0"/>
                <a:t>B</a:t>
              </a:r>
              <a:r>
                <a:rPr lang="en-US" dirty="0" smtClean="0"/>
                <a:t> A</a:t>
              </a:r>
              <a:endParaRPr lang="en-US" dirty="0"/>
            </a:p>
          </p:txBody>
        </p:sp>
        <p:sp>
          <p:nvSpPr>
            <p:cNvPr id="97" name="Rectangle 96"/>
            <p:cNvSpPr/>
            <p:nvPr/>
          </p:nvSpPr>
          <p:spPr>
            <a:xfrm>
              <a:off x="5827414" y="2745236"/>
              <a:ext cx="3164186" cy="11409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Document 1 (patient 1)</a:t>
              </a: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a:p>
              <a:pPr algn="ctr"/>
              <a:endParaRPr lang="en-US" sz="1200" dirty="0">
                <a:solidFill>
                  <a:schemeClr val="tx1"/>
                </a:solidFill>
              </a:endParaRPr>
            </a:p>
          </p:txBody>
        </p:sp>
      </p:grpSp>
      <p:sp>
        <p:nvSpPr>
          <p:cNvPr id="102" name="Rectangle 101"/>
          <p:cNvSpPr/>
          <p:nvPr/>
        </p:nvSpPr>
        <p:spPr>
          <a:xfrm>
            <a:off x="3733800" y="1976900"/>
            <a:ext cx="168998" cy="2683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grpSp>
        <p:nvGrpSpPr>
          <p:cNvPr id="107" name="Group 106"/>
          <p:cNvGrpSpPr/>
          <p:nvPr/>
        </p:nvGrpSpPr>
        <p:grpSpPr>
          <a:xfrm>
            <a:off x="5827414" y="3224918"/>
            <a:ext cx="3164186" cy="1043815"/>
            <a:chOff x="5827414" y="3991218"/>
            <a:chExt cx="3164186" cy="1043815"/>
          </a:xfrm>
        </p:grpSpPr>
        <p:sp>
          <p:nvSpPr>
            <p:cNvPr id="105" name="TextBox 104"/>
            <p:cNvSpPr txBox="1"/>
            <p:nvPr/>
          </p:nvSpPr>
          <p:spPr>
            <a:xfrm>
              <a:off x="6019800" y="4659868"/>
              <a:ext cx="2774221" cy="369332"/>
            </a:xfrm>
            <a:prstGeom prst="rect">
              <a:avLst/>
            </a:prstGeom>
            <a:noFill/>
          </p:spPr>
          <p:txBody>
            <a:bodyPr wrap="none" rtlCol="0">
              <a:spAutoFit/>
            </a:bodyPr>
            <a:lstStyle/>
            <a:p>
              <a:r>
                <a:rPr lang="en-US" dirty="0" smtClean="0"/>
                <a:t>A </a:t>
              </a:r>
              <a:r>
                <a:rPr lang="en-US" dirty="0" err="1" smtClean="0"/>
                <a:t>A</a:t>
              </a:r>
              <a:r>
                <a:rPr lang="en-US" dirty="0" smtClean="0"/>
                <a:t> A, B A </a:t>
              </a:r>
              <a:r>
                <a:rPr lang="en-US" dirty="0" err="1" smtClean="0"/>
                <a:t>A</a:t>
              </a:r>
              <a:r>
                <a:rPr lang="en-US" dirty="0" smtClean="0"/>
                <a:t>, A </a:t>
              </a:r>
              <a:r>
                <a:rPr lang="en-US" dirty="0" err="1" smtClean="0"/>
                <a:t>A</a:t>
              </a:r>
              <a:r>
                <a:rPr lang="en-US" dirty="0" smtClean="0"/>
                <a:t> C, …, C </a:t>
              </a:r>
              <a:r>
                <a:rPr lang="en-US" dirty="0" err="1" smtClean="0"/>
                <a:t>C</a:t>
              </a:r>
              <a:r>
                <a:rPr lang="en-US" dirty="0" smtClean="0"/>
                <a:t> A</a:t>
              </a:r>
              <a:endParaRPr lang="en-US" dirty="0"/>
            </a:p>
          </p:txBody>
        </p:sp>
        <p:sp>
          <p:nvSpPr>
            <p:cNvPr id="106" name="Rectangle 105"/>
            <p:cNvSpPr/>
            <p:nvPr/>
          </p:nvSpPr>
          <p:spPr>
            <a:xfrm>
              <a:off x="5827414" y="3991218"/>
              <a:ext cx="3164186" cy="10438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Document n (patient n)</a:t>
              </a:r>
            </a:p>
            <a:p>
              <a:pPr algn="ctr"/>
              <a:endParaRPr lang="en-US" sz="1200" dirty="0">
                <a:solidFill>
                  <a:schemeClr val="tx1"/>
                </a:solidFill>
              </a:endParaRPr>
            </a:p>
            <a:p>
              <a:pPr algn="ctr"/>
              <a:endParaRPr lang="en-US" sz="1200" dirty="0" smtClean="0">
                <a:solidFill>
                  <a:schemeClr val="tx1"/>
                </a:solidFill>
              </a:endParaRPr>
            </a:p>
            <a:p>
              <a:pPr algn="ctr"/>
              <a:endParaRPr lang="en-US" sz="1200" dirty="0">
                <a:solidFill>
                  <a:schemeClr val="tx1"/>
                </a:solidFill>
              </a:endParaRPr>
            </a:p>
          </p:txBody>
        </p:sp>
      </p:grpSp>
      <p:grpSp>
        <p:nvGrpSpPr>
          <p:cNvPr id="110" name="Group 109"/>
          <p:cNvGrpSpPr/>
          <p:nvPr/>
        </p:nvGrpSpPr>
        <p:grpSpPr>
          <a:xfrm>
            <a:off x="6096000" y="4262900"/>
            <a:ext cx="2514600" cy="856306"/>
            <a:chOff x="6096000" y="5029200"/>
            <a:chExt cx="2514600" cy="856306"/>
          </a:xfrm>
        </p:grpSpPr>
        <p:cxnSp>
          <p:nvCxnSpPr>
            <p:cNvPr id="108" name="Straight Arrow Connector 107"/>
            <p:cNvCxnSpPr/>
            <p:nvPr/>
          </p:nvCxnSpPr>
          <p:spPr>
            <a:xfrm flipV="1">
              <a:off x="7353300" y="5029200"/>
              <a:ext cx="0" cy="495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9" name="Rectangle 108"/>
            <p:cNvSpPr/>
            <p:nvPr/>
          </p:nvSpPr>
          <p:spPr>
            <a:xfrm>
              <a:off x="6096000" y="5504506"/>
              <a:ext cx="25146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Topic Models (find topics)</a:t>
              </a:r>
              <a:endParaRPr lang="en-US" sz="1200" dirty="0">
                <a:solidFill>
                  <a:schemeClr val="tx1"/>
                </a:solidFill>
              </a:endParaRPr>
            </a:p>
          </p:txBody>
        </p:sp>
      </p:grpSp>
      <p:grpSp>
        <p:nvGrpSpPr>
          <p:cNvPr id="115" name="Group 114"/>
          <p:cNvGrpSpPr/>
          <p:nvPr/>
        </p:nvGrpSpPr>
        <p:grpSpPr>
          <a:xfrm>
            <a:off x="5562600" y="5119206"/>
            <a:ext cx="3581400" cy="972494"/>
            <a:chOff x="5562600" y="5885506"/>
            <a:chExt cx="3581400" cy="972494"/>
          </a:xfrm>
        </p:grpSpPr>
        <p:cxnSp>
          <p:nvCxnSpPr>
            <p:cNvPr id="111" name="Straight Arrow Connector 110"/>
            <p:cNvCxnSpPr/>
            <p:nvPr/>
          </p:nvCxnSpPr>
          <p:spPr>
            <a:xfrm>
              <a:off x="7353300" y="5885506"/>
              <a:ext cx="0" cy="4390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2" name="Rectangle 111"/>
            <p:cNvSpPr/>
            <p:nvPr/>
          </p:nvSpPr>
          <p:spPr>
            <a:xfrm>
              <a:off x="5562600" y="6324600"/>
              <a:ext cx="11430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Topic 1</a:t>
              </a:r>
            </a:p>
            <a:p>
              <a:pPr algn="ctr"/>
              <a:r>
                <a:rPr lang="en-US" sz="1200" dirty="0" smtClean="0">
                  <a:solidFill>
                    <a:schemeClr val="tx1"/>
                  </a:solidFill>
                </a:rPr>
                <a:t>ACA </a:t>
              </a:r>
            </a:p>
            <a:p>
              <a:pPr algn="ctr"/>
              <a:r>
                <a:rPr lang="en-US" sz="1200" dirty="0" smtClean="0">
                  <a:solidFill>
                    <a:schemeClr val="tx1"/>
                  </a:solidFill>
                </a:rPr>
                <a:t>BBC</a:t>
              </a:r>
              <a:endParaRPr lang="en-US" sz="1200" dirty="0">
                <a:solidFill>
                  <a:schemeClr val="tx1"/>
                </a:solidFill>
              </a:endParaRPr>
            </a:p>
          </p:txBody>
        </p:sp>
        <p:sp>
          <p:nvSpPr>
            <p:cNvPr id="113" name="Rectangle 112"/>
            <p:cNvSpPr/>
            <p:nvPr/>
          </p:nvSpPr>
          <p:spPr>
            <a:xfrm>
              <a:off x="6781800" y="6311774"/>
              <a:ext cx="11430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Topic 2</a:t>
              </a:r>
            </a:p>
            <a:p>
              <a:pPr algn="ctr"/>
              <a:r>
                <a:rPr lang="en-US" sz="1200" dirty="0" smtClean="0">
                  <a:solidFill>
                    <a:schemeClr val="tx1"/>
                  </a:solidFill>
                </a:rPr>
                <a:t>AAA </a:t>
              </a:r>
            </a:p>
            <a:p>
              <a:pPr algn="ctr"/>
              <a:r>
                <a:rPr lang="en-US" sz="1200" dirty="0" smtClean="0">
                  <a:solidFill>
                    <a:schemeClr val="tx1"/>
                  </a:solidFill>
                </a:rPr>
                <a:t>AAC</a:t>
              </a:r>
              <a:endParaRPr lang="en-US" sz="1200" dirty="0">
                <a:solidFill>
                  <a:schemeClr val="tx1"/>
                </a:solidFill>
              </a:endParaRPr>
            </a:p>
          </p:txBody>
        </p:sp>
        <p:sp>
          <p:nvSpPr>
            <p:cNvPr id="114" name="Rectangle 113"/>
            <p:cNvSpPr/>
            <p:nvPr/>
          </p:nvSpPr>
          <p:spPr>
            <a:xfrm>
              <a:off x="8001000" y="6324600"/>
              <a:ext cx="11430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Topic n</a:t>
              </a:r>
            </a:p>
            <a:p>
              <a:pPr algn="ctr"/>
              <a:r>
                <a:rPr lang="en-US" sz="1200" dirty="0" smtClean="0">
                  <a:solidFill>
                    <a:schemeClr val="tx1"/>
                  </a:solidFill>
                </a:rPr>
                <a:t>BBB </a:t>
              </a:r>
            </a:p>
            <a:p>
              <a:pPr algn="ctr"/>
              <a:r>
                <a:rPr lang="en-US" sz="1200" dirty="0" smtClean="0">
                  <a:solidFill>
                    <a:schemeClr val="tx1"/>
                  </a:solidFill>
                </a:rPr>
                <a:t>CAC</a:t>
              </a:r>
              <a:endParaRPr lang="en-US" sz="1200" dirty="0">
                <a:solidFill>
                  <a:schemeClr val="tx1"/>
                </a:solidFill>
              </a:endParaRPr>
            </a:p>
          </p:txBody>
        </p:sp>
      </p:grpSp>
      <p:grpSp>
        <p:nvGrpSpPr>
          <p:cNvPr id="122" name="Group 121"/>
          <p:cNvGrpSpPr/>
          <p:nvPr/>
        </p:nvGrpSpPr>
        <p:grpSpPr>
          <a:xfrm>
            <a:off x="5427636" y="4660700"/>
            <a:ext cx="3720136" cy="1746361"/>
            <a:chOff x="5427636" y="4660700"/>
            <a:chExt cx="3720136" cy="1746361"/>
          </a:xfrm>
        </p:grpSpPr>
        <p:sp>
          <p:nvSpPr>
            <p:cNvPr id="117" name="Rectangle 116"/>
            <p:cNvSpPr/>
            <p:nvPr/>
          </p:nvSpPr>
          <p:spPr>
            <a:xfrm>
              <a:off x="5562600" y="5345014"/>
              <a:ext cx="3585172" cy="106204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cxnSp>
          <p:nvCxnSpPr>
            <p:cNvPr id="119" name="Curved Connector 118"/>
            <p:cNvCxnSpPr/>
            <p:nvPr/>
          </p:nvCxnSpPr>
          <p:spPr>
            <a:xfrm rot="16200000" flipV="1">
              <a:off x="5343461" y="4744875"/>
              <a:ext cx="684314" cy="515964"/>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7826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grpId="1" nodeType="clickEffect">
                                  <p:stCondLst>
                                    <p:cond delay="0"/>
                                  </p:stCondLst>
                                  <p:childTnLst>
                                    <p:animMotion origin="layout" path="M -4.72222E-6 1.47351E-6 L 0.15747 -0.00671 " pathEditMode="relative" rAng="0" ptsTypes="AA">
                                      <p:cBhvr>
                                        <p:cTn id="22" dur="2000" fill="hold"/>
                                        <p:tgtEl>
                                          <p:spTgt spid="102"/>
                                        </p:tgtEl>
                                        <p:attrNameLst>
                                          <p:attrName>ppt_x</p:attrName>
                                          <p:attrName>ppt_y</p:attrName>
                                        </p:attrNameLst>
                                      </p:cBhvr>
                                      <p:rCtr x="7865" y="-347"/>
                                    </p:animMotion>
                                  </p:childTnLst>
                                </p:cTn>
                              </p:par>
                              <p:par>
                                <p:cTn id="23" presetID="1" presetClass="entr" presetSubtype="0" fill="hold" grpId="0" nodeType="withEffect">
                                  <p:stCondLst>
                                    <p:cond delay="0"/>
                                  </p:stCondLst>
                                  <p:childTnLst>
                                    <p:set>
                                      <p:cBhvr>
                                        <p:cTn id="24" dur="1" fill="hold">
                                          <p:stCondLst>
                                            <p:cond delay="0"/>
                                          </p:stCondLst>
                                        </p:cTn>
                                        <p:tgtEl>
                                          <p:spTgt spid="92"/>
                                        </p:tgtEl>
                                        <p:attrNameLst>
                                          <p:attrName>style.visibility</p:attrName>
                                        </p:attrNameLst>
                                      </p:cBhvr>
                                      <p:to>
                                        <p:strVal val="visible"/>
                                      </p:to>
                                    </p:set>
                                  </p:childTnLst>
                                </p:cTn>
                              </p:par>
                            </p:childTnLst>
                          </p:cTn>
                        </p:par>
                        <p:par>
                          <p:cTn id="25" fill="hold">
                            <p:stCondLst>
                              <p:cond delay="2000"/>
                            </p:stCondLst>
                            <p:childTnLst>
                              <p:par>
                                <p:cTn id="26" presetID="1" presetClass="entr" presetSubtype="0" fill="hold" nodeType="afterEffect">
                                  <p:stCondLst>
                                    <p:cond delay="0"/>
                                  </p:stCondLst>
                                  <p:childTnLst>
                                    <p:set>
                                      <p:cBhvr>
                                        <p:cTn id="27" dur="1" fill="hold">
                                          <p:stCondLst>
                                            <p:cond delay="0"/>
                                          </p:stCondLst>
                                        </p:cTn>
                                        <p:tgtEl>
                                          <p:spTgt spid="9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0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1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1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92" grpId="0" animBg="1"/>
      <p:bldP spid="102" grpId="0" animBg="1"/>
      <p:bldP spid="102"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insights in COPD (cont’d</a:t>
            </a:r>
            <a:r>
              <a:rPr lang="en-US" dirty="0" smtClean="0"/>
              <a:t>)</a:t>
            </a:r>
            <a:br>
              <a:rPr lang="en-US" dirty="0" smtClean="0"/>
            </a:br>
            <a:endParaRPr lang="en-US" sz="1800" dirty="0"/>
          </a:p>
        </p:txBody>
      </p:sp>
      <p:grpSp>
        <p:nvGrpSpPr>
          <p:cNvPr id="4" name="Group 3"/>
          <p:cNvGrpSpPr/>
          <p:nvPr/>
        </p:nvGrpSpPr>
        <p:grpSpPr>
          <a:xfrm>
            <a:off x="76200" y="2438400"/>
            <a:ext cx="9029700" cy="4267200"/>
            <a:chOff x="114300" y="1479550"/>
            <a:chExt cx="9029700" cy="4267200"/>
          </a:xfrm>
        </p:grpSpPr>
        <p:pic>
          <p:nvPicPr>
            <p:cNvPr id="5" name="Picture 2" descr="C:\Users\310153563\Documents\GitHub\COPDBodyMedia_sleeping4\COPDBodyMedia_sleeping_code\Pictures\removewords_90\alpha_EM_0_01\png\figure_7_reviewer_weekday_copd_topic_11_all_sax_lloyd_3symbol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 y="1479550"/>
              <a:ext cx="5691188" cy="42672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648200" y="1981200"/>
              <a:ext cx="533400" cy="152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flipH="1">
              <a:off x="5257800" y="2057400"/>
              <a:ext cx="1219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705600" y="1981200"/>
              <a:ext cx="2438400" cy="646331"/>
            </a:xfrm>
            <a:prstGeom prst="rect">
              <a:avLst/>
            </a:prstGeom>
            <a:noFill/>
          </p:spPr>
          <p:txBody>
            <a:bodyPr wrap="square" rtlCol="0">
              <a:spAutoFit/>
            </a:bodyPr>
            <a:lstStyle/>
            <a:p>
              <a:r>
                <a:rPr lang="en-US" sz="1200" dirty="0" smtClean="0"/>
                <a:t>Correlated ~0.2 with the step performed during the day. + R2 -&gt; - steps</a:t>
              </a:r>
              <a:endParaRPr lang="en-US" sz="1200" dirty="0"/>
            </a:p>
          </p:txBody>
        </p:sp>
      </p:grpSp>
      <p:sp>
        <p:nvSpPr>
          <p:cNvPr id="13" name="TextBox 12"/>
          <p:cNvSpPr txBox="1"/>
          <p:nvPr/>
        </p:nvSpPr>
        <p:spPr>
          <a:xfrm>
            <a:off x="6705600" y="3763637"/>
            <a:ext cx="2438400" cy="830997"/>
          </a:xfrm>
          <a:prstGeom prst="rect">
            <a:avLst/>
          </a:prstGeom>
          <a:noFill/>
        </p:spPr>
        <p:txBody>
          <a:bodyPr wrap="square" rtlCol="0">
            <a:spAutoFit/>
          </a:bodyPr>
          <a:lstStyle/>
          <a:p>
            <a:r>
              <a:rPr lang="en-US" sz="1200" dirty="0" smtClean="0"/>
              <a:t>R2 is a routine composed by words representing very light intensity activities -&gt; user was in bed, but he was not sleeping</a:t>
            </a:r>
            <a:endParaRPr lang="en-US" sz="1200" dirty="0"/>
          </a:p>
        </p:txBody>
      </p:sp>
      <p:sp>
        <p:nvSpPr>
          <p:cNvPr id="3" name="Rectangle 2"/>
          <p:cNvSpPr/>
          <p:nvPr/>
        </p:nvSpPr>
        <p:spPr>
          <a:xfrm>
            <a:off x="1955055" y="2069068"/>
            <a:ext cx="1933478" cy="369332"/>
          </a:xfrm>
          <a:prstGeom prst="rect">
            <a:avLst/>
          </a:prstGeom>
        </p:spPr>
        <p:txBody>
          <a:bodyPr wrap="none">
            <a:spAutoFit/>
          </a:bodyPr>
          <a:lstStyle/>
          <a:p>
            <a:r>
              <a:rPr lang="en-US" dirty="0"/>
              <a:t>Preliminary results</a:t>
            </a:r>
          </a:p>
        </p:txBody>
      </p:sp>
    </p:spTree>
    <p:extLst>
      <p:ext uri="{BB962C8B-B14F-4D97-AF65-F5344CB8AC3E}">
        <p14:creationId xmlns:p14="http://schemas.microsoft.com/office/powerpoint/2010/main" val="23402767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monitoring solutions</a:t>
            </a:r>
            <a:endParaRPr lang="en-US" altLang="it-IT" sz="40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171450" indent="-171450" algn="just">
              <a:buFont typeface="Arial" panose="020B0604020202020204" pitchFamily="34" charset="0"/>
              <a:buChar char="•"/>
            </a:pPr>
            <a:r>
              <a:rPr lang="en-US" sz="1200" dirty="0" smtClean="0">
                <a:latin typeface="+mj-lt"/>
              </a:rPr>
              <a:t>G. Spina </a:t>
            </a:r>
            <a:r>
              <a:rPr lang="en-US" sz="1200" dirty="0" smtClean="0">
                <a:latin typeface="+mj-lt"/>
              </a:rPr>
              <a:t>et al. </a:t>
            </a:r>
            <a:r>
              <a:rPr lang="en-US" sz="1200" b="1" dirty="0" err="1" smtClean="0">
                <a:latin typeface="+mj-lt"/>
              </a:rPr>
              <a:t>Smartscope</a:t>
            </a:r>
            <a:r>
              <a:rPr lang="en-US" sz="1200" b="1" dirty="0" smtClean="0">
                <a:latin typeface="+mj-lt"/>
              </a:rPr>
              <a:t>.</a:t>
            </a:r>
            <a:r>
              <a:rPr lang="en-US" sz="1200" dirty="0" smtClean="0">
                <a:latin typeface="+mj-lt"/>
              </a:rPr>
              <a:t> </a:t>
            </a:r>
            <a:r>
              <a:rPr lang="it-IT" sz="1200" dirty="0" smtClean="0">
                <a:latin typeface="+mj-lt"/>
              </a:rPr>
              <a:t>Planned submission to </a:t>
            </a:r>
            <a:r>
              <a:rPr lang="it-IT" sz="1200" dirty="0">
                <a:solidFill>
                  <a:srgbClr val="000000"/>
                </a:solidFill>
                <a:latin typeface="+mj-lt"/>
              </a:rPr>
              <a:t>Special issue on </a:t>
            </a:r>
            <a:r>
              <a:rPr lang="it-IT" sz="1200" dirty="0">
                <a:latin typeface="+mj-lt"/>
              </a:rPr>
              <a:t>Smartphone-Based Sensors for Non-Invasive Physiological </a:t>
            </a:r>
            <a:r>
              <a:rPr lang="it-IT" sz="1200" dirty="0" smtClean="0">
                <a:latin typeface="+mj-lt"/>
              </a:rPr>
              <a:t>Monitoring</a:t>
            </a:r>
            <a:r>
              <a:rPr lang="it-IT" sz="1200" dirty="0" smtClean="0">
                <a:latin typeface="+mj-lt"/>
              </a:rPr>
              <a:t>.</a:t>
            </a:r>
          </a:p>
          <a:p>
            <a:pPr marL="171450" indent="-171450" algn="just">
              <a:buFont typeface="Arial" panose="020B0604020202020204" pitchFamily="34" charset="0"/>
              <a:buChar char="•"/>
            </a:pPr>
            <a:r>
              <a:rPr lang="it-IT" sz="1200" dirty="0" smtClean="0">
                <a:latin typeface="+mj-lt"/>
              </a:rPr>
              <a:t>G. Spina, A.C. den Brinker. </a:t>
            </a:r>
            <a:r>
              <a:rPr lang="en-US" sz="1200" dirty="0"/>
              <a:t>System and method to detect respiration </a:t>
            </a:r>
            <a:r>
              <a:rPr lang="en-US" sz="1200" dirty="0" smtClean="0"/>
              <a:t>markers. </a:t>
            </a:r>
            <a:r>
              <a:rPr lang="en-US" sz="1200" dirty="0"/>
              <a:t>European Patent application 12-12-2014, Philips Internal Reference 2014PF01453</a:t>
            </a:r>
            <a:endParaRPr lang="it-IT" sz="1200" dirty="0" smtClean="0">
              <a:latin typeface="+mj-lt"/>
            </a:endParaRPr>
          </a:p>
          <a:p>
            <a:pPr marL="914400" lvl="1" indent="-171450" algn="just">
              <a:buFont typeface="Arial" panose="020B0604020202020204" pitchFamily="34" charset="0"/>
              <a:buChar char="•"/>
            </a:pPr>
            <a:endParaRPr lang="it-IT" sz="1200" dirty="0">
              <a:latin typeface="+mj-lt"/>
            </a:endParaRPr>
          </a:p>
          <a:p>
            <a:pPr marL="914400" lvl="1" indent="-171450" algn="just">
              <a:buFont typeface="Arial" panose="020B0604020202020204" pitchFamily="34" charset="0"/>
              <a:buChar char="•"/>
            </a:pPr>
            <a:r>
              <a:rPr lang="en-US" sz="1200" dirty="0" smtClean="0"/>
              <a:t>The </a:t>
            </a:r>
            <a:r>
              <a:rPr lang="en-US" sz="1200" dirty="0"/>
              <a:t>proposed system provides a robust method to continuously monitor breathing parameters as respiration onsets and duration of respiration phases. The unobtrusive monitoring of such variables may provide further insights into the role of dynamic hyperinflation in the genesis of dyspnea. </a:t>
            </a:r>
            <a:endParaRPr lang="it-IT" sz="1200" dirty="0">
              <a:latin typeface="+mj-lt"/>
            </a:endParaRPr>
          </a:p>
          <a:p>
            <a:pPr algn="just"/>
            <a:endParaRPr lang="en-US" altLang="it-IT" sz="1200" dirty="0">
              <a:latin typeface="+mj-lt"/>
            </a:endParaRPr>
          </a:p>
        </p:txBody>
      </p:sp>
      <p:grpSp>
        <p:nvGrpSpPr>
          <p:cNvPr id="8" name="Group 2"/>
          <p:cNvGrpSpPr>
            <a:grpSpLocks/>
          </p:cNvGrpSpPr>
          <p:nvPr/>
        </p:nvGrpSpPr>
        <p:grpSpPr bwMode="auto">
          <a:xfrm>
            <a:off x="1066800" y="1865848"/>
            <a:ext cx="1752600" cy="813907"/>
            <a:chOff x="71438" y="2160588"/>
            <a:chExt cx="2519362" cy="1343818"/>
          </a:xfrm>
        </p:grpSpPr>
        <p:pic>
          <p:nvPicPr>
            <p:cNvPr id="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38" y="2160588"/>
              <a:ext cx="2519362" cy="10588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Rectangle 9"/>
            <p:cNvSpPr/>
            <p:nvPr/>
          </p:nvSpPr>
          <p:spPr>
            <a:xfrm>
              <a:off x="152400" y="3124769"/>
              <a:ext cx="1371600" cy="379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394690"/>
            <a:ext cx="1065211" cy="158363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38600" y="1557461"/>
            <a:ext cx="1676400" cy="125809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 name="Picture 1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3600" y="1231625"/>
            <a:ext cx="1341716" cy="19097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55393603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1" y="1509"/>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30810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9" descr="C:\Users\310153563\Documents\GitHub\COPDBodyMedia_sleeping4\COPDBodyMedia_sleeping_code\Pictures\Presentation\patient1_not_stan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400"/>
            <a:ext cx="8535140" cy="6401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9072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FONT" val="SlideFooterFontC"/>
  <p:tag name="FONTSETCLASSNAME" val="FontSet1"/>
  <p:tag name="COLORS" val="-2;-2;-2;-2;SlideFooterFontColorDark;-2"/>
  <p:tag name="COLORSETCLASSNAME" val="ColorSet1"/>
  <p:tag name="SCRIPT" val="1"/>
  <p:tag name="FIELDS" val="DATE;DIVISION;ADDINFO;"/>
  <p:tag name="MLI" val="1"/>
  <p:tag name="SHAPESETGROUPCLASSNAME" val="ShapeSetGroup2"/>
  <p:tag name="SHAPESETCLASSNAME" val="FORMCOLORTEXT01"/>
  <p:tag name="COLORSETGROUPCLASSNAME" val="ColorSetGroupLight"/>
  <p:tag name="FONTSETGROUPCLASSNAME" val="FontSetGroup1"/>
  <p:tag name="SHAPECLASSNAME" val="FLineInfo1BlackG1S3"/>
  <p:tag name="SHAPECLASSPROTECTIONTYPE" val="63"/>
</p:tagLst>
</file>

<file path=ppt/tags/tag2.xml><?xml version="1.0" encoding="utf-8"?>
<p:tagLst xmlns:a="http://schemas.openxmlformats.org/drawingml/2006/main" xmlns:r="http://schemas.openxmlformats.org/officeDocument/2006/relationships" xmlns:p="http://schemas.openxmlformats.org/presentationml/2006/main">
  <p:tag name="FONT" val="SlidePageNumberFontC"/>
  <p:tag name="FONTSETCLASSNAME" val="FontSet1"/>
  <p:tag name="COLORS" val="-2;-2;-2;-2;SlidePageNoFontColorLight;-2"/>
  <p:tag name="COLORSETCLASSNAME" val="ColorSet1"/>
  <p:tag name="SCRIPT" val="1"/>
  <p:tag name="MLI" val="1"/>
  <p:tag name="SHAPESETGROUPCLASSNAME" val="ShapeSetGroup2"/>
  <p:tag name="SHAPESETCLASSNAME" val="COLORSLIDE01"/>
  <p:tag name="COLORSETGROUPCLASSNAME" val="ColorSetGroupLight"/>
  <p:tag name="FONTSETGROUPCLASSNAME" val="FontSetGroup1"/>
  <p:tag name="SHAPECLASSNAME" val="PageNoWhiteG1S3"/>
  <p:tag name="SHAPECLASSPROTECTIONTYPE" val="47"/>
</p:tagLst>
</file>

<file path=ppt/tags/tag3.xml><?xml version="1.0" encoding="utf-8"?>
<p:tagLst xmlns:a="http://schemas.openxmlformats.org/drawingml/2006/main" xmlns:r="http://schemas.openxmlformats.org/officeDocument/2006/relationships" xmlns:p="http://schemas.openxmlformats.org/presentationml/2006/main">
  <p:tag name="SHAPECLASSNAME" val="CustFormCol001RoundSingleCornerRectangle"/>
  <p:tag name="COLORSETCLASSNAME" val="ColorSet1"/>
  <p:tag name="COLORS" val="-1;Scheme9;-2;-2;-1;-2"/>
</p:tagLst>
</file>

<file path=ppt/tags/tag4.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IMAGETEXT01"/>
  <p:tag name="COLORSETGROUPCLASSNAME" val="ColorSetGroupLight"/>
  <p:tag name="FONTSETGROUPCLASSNAME" val="FontSetGroup1"/>
  <p:tag name="SHAPECLASSNAME" val="PhilipsLogoTitle"/>
  <p:tag name="SHAPECLASSFILE" val="PHGMCWORDMARK2008$C.emf"/>
  <p:tag name="SHAPECLASSPROTECTIONTYPE" val="31"/>
</p:tagLst>
</file>

<file path=ppt/tags/tag5.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6.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7.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8.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9.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10.xml><?xml version="1.0" encoding="utf-8"?>
<p:tagLst xmlns:a="http://schemas.openxmlformats.org/drawingml/2006/main" xmlns:r="http://schemas.openxmlformats.org/officeDocument/2006/relationships" xmlns:p="http://schemas.openxmlformats.org/presentationml/2006/main">
  <p:tag name="SHAPECLASSNAME" val="CustFormEnd001Rectangle"/>
</p:tagLst>
</file>

<file path=ppt/theme/theme1.xml><?xml version="1.0" encoding="utf-8"?>
<a:theme xmlns:a="http://schemas.openxmlformats.org/drawingml/2006/main" name="philips_internal_documentation_template_nov13">
  <a:themeElements>
    <a:clrScheme name="PhCST">
      <a:dk1>
        <a:srgbClr val="000000"/>
      </a:dk1>
      <a:lt1>
        <a:srgbClr val="FFFFFF"/>
      </a:lt1>
      <a:dk2>
        <a:srgbClr val="000000"/>
      </a:dk2>
      <a:lt2>
        <a:srgbClr val="CCCEDB"/>
      </a:lt2>
      <a:accent1>
        <a:srgbClr val="0089C4"/>
      </a:accent1>
      <a:accent2>
        <a:srgbClr val="1E9D8B"/>
      </a:accent2>
      <a:accent3>
        <a:srgbClr val="5B8F22"/>
      </a:accent3>
      <a:accent4>
        <a:srgbClr val="E98300"/>
      </a:accent4>
      <a:accent5>
        <a:srgbClr val="CD202C"/>
      </a:accent5>
      <a:accent6>
        <a:srgbClr val="7D0063"/>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philips_internal_documentation_template_nov13.pptx" id="{DE36B277-C83F-4A85-9819-A77CE0CA1F6F}" vid="{FCDF7755-76C1-4ABB-A274-22B823C3C8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philips_internal_documentation_template_nov13</Template>
  <TotalTime>1449</TotalTime>
  <Words>1125</Words>
  <Application>Microsoft Office PowerPoint</Application>
  <PresentationFormat>On-screen Show (4:3)</PresentationFormat>
  <Paragraphs>133</Paragraphs>
  <Slides>14</Slides>
  <Notes>7</Notes>
  <HiddenSlides>2</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philips_internal_documentation_template_nov13</vt:lpstr>
      <vt:lpstr>PowerPoint Presentation</vt:lpstr>
      <vt:lpstr>PowerPoint Presentation</vt:lpstr>
      <vt:lpstr>Introduction</vt:lpstr>
      <vt:lpstr>Smartphone monitoring and training approaches</vt:lpstr>
      <vt:lpstr>Smartphone monitoring and training approaches (cont’d)</vt:lpstr>
      <vt:lpstr>New insights in COPD</vt:lpstr>
      <vt:lpstr>New insights in COPD (cont’d)</vt:lpstr>
      <vt:lpstr>New insights in COPD (cont’d)</vt:lpstr>
      <vt:lpstr>New insights in COPD (cont’d)</vt:lpstr>
      <vt:lpstr>New insights in COPD (cont’d) </vt:lpstr>
      <vt:lpstr>New monitoring solutions</vt:lpstr>
      <vt:lpstr>PowerPoint Presentation</vt:lpstr>
      <vt:lpstr>PowerPoint Presentation</vt:lpstr>
      <vt:lpstr>PowerPoint Presentation</vt:lpstr>
    </vt:vector>
  </TitlesOfParts>
  <Company>Philips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Brinker, Bert den</dc:creator>
  <dc:description>Version 6.4 - 1.0</dc:description>
  <cp:lastModifiedBy>Philips</cp:lastModifiedBy>
  <cp:revision>164</cp:revision>
  <dcterms:created xsi:type="dcterms:W3CDTF">2013-12-17T10:24:36Z</dcterms:created>
  <dcterms:modified xsi:type="dcterms:W3CDTF">2015-06-30T15:13:36Z</dcterms:modified>
</cp:coreProperties>
</file>